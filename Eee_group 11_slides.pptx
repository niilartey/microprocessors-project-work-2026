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7" r:id="rId4"/>
    <p:sldMasterId id="2147484011" r:id="rId5"/>
  </p:sldMasterIdLst>
  <p:notesMasterIdLst>
    <p:notesMasterId r:id="rId19"/>
  </p:notesMasterIdLst>
  <p:handoutMasterIdLst>
    <p:handoutMasterId r:id="rId20"/>
  </p:handoutMasterIdLst>
  <p:sldIdLst>
    <p:sldId id="260" r:id="rId6"/>
    <p:sldId id="261" r:id="rId7"/>
    <p:sldId id="262" r:id="rId8"/>
    <p:sldId id="278" r:id="rId9"/>
    <p:sldId id="264" r:id="rId10"/>
    <p:sldId id="277" r:id="rId11"/>
    <p:sldId id="276" r:id="rId12"/>
    <p:sldId id="282" r:id="rId13"/>
    <p:sldId id="266" r:id="rId14"/>
    <p:sldId id="280" r:id="rId15"/>
    <p:sldId id="281" r:id="rId16"/>
    <p:sldId id="283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10C789D-5BD5-2D85-82A3-70A0027CBC9B}" name="Beatrice Antwi" initials="BA" userId="8951436984bf3dc0" providerId="Windows Live"/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C1213F-DFD4-4CEA-B873-461A83572098}" v="14" dt="2026-03-29T13:53:17.010"/>
    <p1510:client id="{2F49FB45-24CB-430C-ADC8-784E2D2E42A6}" v="4" dt="2026-03-29T18:01:30.027"/>
    <p1510:client id="{4CB3DD6B-2CDC-EA75-8DCB-6760E8ACDC5F}" v="26" dt="2026-03-28T03:26:43.394"/>
    <p1510:client id="{9205C6D9-ED89-4979-B8F3-914AC7AAE7EC}" v="17" dt="2026-03-28T03:59:34.566"/>
    <p1510:client id="{C44A7C67-2561-4466-AAA5-0A7D64574B46}" v="123" dt="2026-03-28T03:34:46.277"/>
    <p1510:client id="{D4A78989-16D9-4238-B1FB-32184490C9B9}" v="104" dt="2026-03-28T04:30:49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5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3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9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5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0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2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5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19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0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6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68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143031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3/29/2026</a:t>
            </a:fld>
            <a:endParaRPr lang="en-US" sz="10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605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226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4" r:id="rId10"/>
    <p:sldLayoutId id="2147484222" r:id="rId11"/>
    <p:sldLayoutId id="214748422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D7050A3-B1DE-4865-BAE7-B35015408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0401EF1-C054-4118-87E7-1621168AD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90" y="-5554"/>
            <a:ext cx="12183412" cy="685150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sz="2200" b="1" u="sng" cap="all" spc="6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400" b="1" u="sng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GROUP 11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endParaRPr lang="en-US" sz="2400" b="1" u="sng" cap="all" spc="6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4000" b="1" i="1" u="sng" cap="all" spc="600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AUTOMATIC STREET LIGHT SYSTEM</a:t>
            </a:r>
            <a:endParaRPr lang="en-US" sz="4000" b="1" u="sng" cap="all" spc="600">
              <a:solidFill>
                <a:schemeClr val="accent2">
                  <a:lumMod val="76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endParaRPr lang="en-US" sz="3000" b="1" cap="all" spc="6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400" b="1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PRESENTED BY</a:t>
            </a:r>
            <a:r>
              <a:rPr lang="en-US" sz="30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endParaRPr lang="en-US" sz="2800" b="1" i="1" u="sng" cap="all" spc="600">
              <a:solidFill>
                <a:srgbClr val="7D0041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AZU</a:t>
            </a:r>
            <a:r>
              <a:rPr lang="en-US" sz="2400" cap="all" spc="600">
                <a:latin typeface="Times New Roman"/>
                <a:ea typeface="Calibri"/>
                <a:cs typeface="Times New Roman"/>
              </a:rPr>
              <a:t> </a:t>
            </a: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SOLOMON BOATENG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URSULA AMIBASE AKELENZEA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ASANTE  JUDITH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AMAMOO KOFI NYAMEDOW ADENTWI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BEATRICE ANTWI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JACOB MANTE ADUAMOYAW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ADDEY-BOTCHIE SENANU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r>
              <a:rPr lang="en-US" sz="2400" cap="all" spc="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MIKDAD MOHAMMED-KAMIL</a:t>
            </a:r>
          </a:p>
          <a:p>
            <a:pPr marL="457200" indent="-457200">
              <a:buClr>
                <a:srgbClr val="B1005E"/>
              </a:buClr>
              <a:buAutoNum type="arabicPeriod"/>
            </a:pPr>
            <a:endParaRPr lang="en-US" sz="2400" b="1" cap="all" spc="6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grpSp>
        <p:nvGrpSpPr>
          <p:cNvPr id="49" name="decorative circles">
            <a:extLst>
              <a:ext uri="{FF2B5EF4-FFF2-40B4-BE49-F238E27FC236}">
                <a16:creationId xmlns:a16="http://schemas.microsoft.com/office/drawing/2014/main" id="{499E7689-E646-4066-9AD0-62F46B462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8531" y="62233"/>
            <a:ext cx="3260119" cy="6433146"/>
            <a:chOff x="4238531" y="62233"/>
            <a:chExt cx="3260119" cy="643314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AFEBC98-1CAB-474C-8458-BEB70D8FB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2889" y="62233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C1741FF-E9EA-44E7-90AD-0009B23D9A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4543619" y="239067"/>
              <a:ext cx="124740" cy="12546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41A188E-5A43-4269-BD7A-89A6C8F391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32209" y="6028938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>
                <a:ea typeface="Calibri"/>
                <a:cs typeface="Calibri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D6BB9FB-66A8-4DC7-BE6D-04F08DFF13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38531" y="435452"/>
              <a:ext cx="466441" cy="46644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9D76882-E899-4E4C-8818-FDEA473A7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168323" y="5737487"/>
              <a:ext cx="125468" cy="15885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car parked in a parking lot at night&#10;&#10;AI-generated content may be incorrect.">
            <a:extLst>
              <a:ext uri="{FF2B5EF4-FFF2-40B4-BE49-F238E27FC236}">
                <a16:creationId xmlns:a16="http://schemas.microsoft.com/office/drawing/2014/main" id="{F55FA868-1C65-655F-ADAE-EC2DA47C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843" y="1714500"/>
            <a:ext cx="3905250" cy="51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CB58-FB07-080C-902D-24C4475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6" y="3838"/>
            <a:ext cx="12173825" cy="527891"/>
          </a:xfrm>
        </p:spPr>
        <p:txBody>
          <a:bodyPr/>
          <a:lstStyle/>
          <a:p>
            <a:r>
              <a:rPr lang="en-US" sz="4000" b="1" u="sng">
                <a:latin typeface="Times New Roman"/>
                <a:cs typeface="Times New Roman"/>
              </a:rPr>
              <a:t>TABLE OF CONTENTS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5EA10-9E0C-AC4C-A792-86D199CDDB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" y="508604"/>
            <a:ext cx="12177022" cy="63521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US" sz="43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I</a:t>
            </a:r>
            <a:r>
              <a:rPr lang="en-US" sz="2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NTRODUCTION</a:t>
            </a:r>
          </a:p>
          <a:p>
            <a:pPr marL="3429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30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43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</a:t>
            </a:r>
            <a:r>
              <a:rPr lang="en-US" sz="2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ROBLEM</a:t>
            </a:r>
            <a:r>
              <a:rPr lang="en-US" sz="30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43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S</a:t>
            </a:r>
            <a:r>
              <a:rPr lang="en-US" sz="2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TATEMENT</a:t>
            </a:r>
          </a:p>
          <a:p>
            <a:pPr marL="457200" indent="-4572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43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M</a:t>
            </a:r>
            <a:r>
              <a:rPr lang="en-US" sz="2600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ETHODOLOGY</a:t>
            </a:r>
          </a:p>
          <a:p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APPROACH </a:t>
            </a:r>
          </a:p>
          <a:p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CODE OVERVIEW</a:t>
            </a:r>
          </a:p>
          <a:p>
            <a:pPr>
              <a:buClr>
                <a:srgbClr val="B1005E"/>
              </a:buClr>
            </a:pPr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SCHEMATICS</a:t>
            </a:r>
            <a:r>
              <a:rPr lang="en-US" sz="24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   </a:t>
            </a:r>
            <a:endParaRPr lang="en-US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457200" indent="-4572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43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D</a:t>
            </a:r>
            <a:r>
              <a:rPr lang="en-US" sz="2600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EMONSTRATION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/</a:t>
            </a:r>
            <a:r>
              <a:rPr lang="en-US" sz="43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S</a:t>
            </a:r>
            <a:r>
              <a:rPr lang="en-US" sz="2600">
                <a:solidFill>
                  <a:schemeClr val="accent2">
                    <a:lumMod val="76000"/>
                  </a:schemeClr>
                </a:solidFill>
                <a:latin typeface="Times New Roman"/>
                <a:ea typeface="Calibri"/>
                <a:cs typeface="Times New Roman"/>
              </a:rPr>
              <a:t>IMULATION</a:t>
            </a:r>
          </a:p>
          <a:p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PROJECT RUN</a:t>
            </a:r>
          </a:p>
          <a:p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OUTPUTS &amp; KEY TAKEAWAYS</a:t>
            </a:r>
          </a:p>
          <a:p>
            <a:pPr marL="3429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43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</a:t>
            </a:r>
            <a:r>
              <a:rPr lang="en-US" sz="26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ONCLUSION</a:t>
            </a:r>
          </a:p>
          <a:p>
            <a:pPr>
              <a:buClr>
                <a:srgbClr val="B1005E"/>
              </a:buClr>
            </a:pPr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FINDINGS</a:t>
            </a:r>
            <a:endParaRPr lang="en-US" sz="26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>
              <a:buClr>
                <a:srgbClr val="B1005E"/>
              </a:buClr>
            </a:pPr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CHALLENGES</a:t>
            </a:r>
          </a:p>
          <a:p>
            <a:pPr>
              <a:buClr>
                <a:srgbClr val="B1005E"/>
              </a:buClr>
            </a:pPr>
            <a:r>
              <a:rPr lang="en-US" sz="2600" b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         IMPROVEMENTS</a:t>
            </a:r>
          </a:p>
          <a:p>
            <a:pPr marL="3429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8805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9B5B3C5-A599-465B-B2B9-866E8B20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C84982-7DD0-43B1-8A2D-BFA4DF1B4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43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596E531-7430-4087-BC87-6EBBD9F5B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61DBE9-7FE6-4545-A3E3-3CB13BEFB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217BC-592A-8D4F-8855-30A7D481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08" y="-7505"/>
            <a:ext cx="7174458" cy="7310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u="sng" kern="1200"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FEC09-F8E6-1753-DA65-B272906EED9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7" y="722195"/>
            <a:ext cx="8596100" cy="60120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Why are streetlights still on at noon?</a:t>
            </a:r>
          </a:p>
          <a:p>
            <a:pPr marL="342900" indent="-228600">
              <a:buClr>
                <a:srgbClr val="B1005E"/>
              </a:buClr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Traditional streetlights are known for remaining switched on during daylight hours, leading to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energy consumed</a:t>
            </a:r>
            <a:r>
              <a:rPr lang="en-US" sz="2400" b="1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unnecessarily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Relying on manual operation is very inefficient and prone to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human error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This calls for the need of a smart solution that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automatically controls</a:t>
            </a:r>
            <a:r>
              <a:rPr lang="en-US" sz="2400" b="1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streetlights based on ambient light levels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sz="2400">
              <a:latin typeface="Times New Roman"/>
              <a:cs typeface="Times New Roman"/>
            </a:endParaRP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/>
                <a:cs typeface="Times New Roman"/>
              </a:rPr>
              <a:t>AIM</a:t>
            </a:r>
            <a:r>
              <a:rPr lang="en-US" sz="2400">
                <a:latin typeface="Times New Roman"/>
                <a:cs typeface="Times New Roman"/>
              </a:rPr>
              <a:t>: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cs typeface="Times New Roman"/>
              </a:rPr>
              <a:t>To develop and simulate an automatic streetlight system that improves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energy </a:t>
            </a:r>
            <a:r>
              <a:rPr lang="en-US" sz="2400" b="1" err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efficie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cs typeface="Times New Roman"/>
              </a:rPr>
              <a:t>ncy</a:t>
            </a:r>
            <a:r>
              <a:rPr lang="en-US" sz="2400">
                <a:latin typeface="Times New Roman"/>
                <a:cs typeface="Times New Roman"/>
              </a:rPr>
              <a:t> and reliability</a:t>
            </a:r>
          </a:p>
        </p:txBody>
      </p:sp>
      <p:grpSp>
        <p:nvGrpSpPr>
          <p:cNvPr id="46" name="decorative circles">
            <a:extLst>
              <a:ext uri="{FF2B5EF4-FFF2-40B4-BE49-F238E27FC236}">
                <a16:creationId xmlns:a16="http://schemas.microsoft.com/office/drawing/2014/main" id="{090D15CC-A235-4941-B59D-649F70CD1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37008" y="433142"/>
            <a:ext cx="1122760" cy="6178301"/>
            <a:chOff x="8437008" y="433142"/>
            <a:chExt cx="1122760" cy="617830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87532C7-1215-4178-A923-EF573EC9B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75160" y="825175"/>
              <a:ext cx="466441" cy="46644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0FD62D6-D98A-489D-A5FC-24518D6F9A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28229" y="433142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617A8E1-0887-4BEB-AF88-4C490056D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37008" y="5719481"/>
              <a:ext cx="226735" cy="22673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5DF5A22-9D25-46A9-8FC0-ED95CF464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093327" y="6145002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D8CCD3-5B43-4E89-B609-74BE058F7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96963" y="5817067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group of people walking on a street&#10;&#10;AI-generated content may be incorrect.">
            <a:extLst>
              <a:ext uri="{FF2B5EF4-FFF2-40B4-BE49-F238E27FC236}">
                <a16:creationId xmlns:a16="http://schemas.microsoft.com/office/drawing/2014/main" id="{2BFC4204-61C5-FC71-84D4-CAEA8AC5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523" b="2"/>
          <a:stretch>
            <a:fillRect/>
          </a:stretch>
        </p:blipFill>
        <p:spPr>
          <a:xfrm>
            <a:off x="8597365" y="391560"/>
            <a:ext cx="3591587" cy="5960185"/>
          </a:xfrm>
          <a:custGeom>
            <a:avLst/>
            <a:gdLst/>
            <a:ahLst/>
            <a:cxnLst/>
            <a:rect l="l" t="t" r="r" b="b"/>
            <a:pathLst>
              <a:path w="3735324" h="6254002">
                <a:moveTo>
                  <a:pt x="3127001" y="0"/>
                </a:moveTo>
                <a:cubicBezTo>
                  <a:pt x="3288907" y="0"/>
                  <a:pt x="3447939" y="12305"/>
                  <a:pt x="3603212" y="36030"/>
                </a:cubicBezTo>
                <a:lnTo>
                  <a:pt x="3735324" y="59623"/>
                </a:lnTo>
                <a:lnTo>
                  <a:pt x="3735324" y="6194380"/>
                </a:lnTo>
                <a:lnTo>
                  <a:pt x="3603212" y="6217972"/>
                </a:lnTo>
                <a:cubicBezTo>
                  <a:pt x="3447939" y="6241698"/>
                  <a:pt x="3288907" y="6254002"/>
                  <a:pt x="3127001" y="6254002"/>
                </a:cubicBezTo>
                <a:cubicBezTo>
                  <a:pt x="1400006" y="6254002"/>
                  <a:pt x="0" y="4853996"/>
                  <a:pt x="0" y="3127001"/>
                </a:cubicBezTo>
                <a:cubicBezTo>
                  <a:pt x="0" y="1400006"/>
                  <a:pt x="1400006" y="0"/>
                  <a:pt x="312700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3537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5786-5F83-5578-C05C-D5628017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" y="1815"/>
            <a:ext cx="7046242" cy="950624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METHODOLOGY</a:t>
            </a:r>
            <a:endParaRPr lang="en-US" sz="4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3F54-2BB6-1975-DB79-E61BF6BBB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37" y="473171"/>
            <a:ext cx="12193334" cy="6379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>
              <a:buFont typeface="Wingdings" panose="020B0604020202020204" pitchFamily="34" charset="0"/>
              <a:buChar char="ü"/>
            </a:pPr>
            <a:r>
              <a:rPr lang="en-US" sz="4000" b="1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</a:t>
            </a:r>
            <a:r>
              <a:rPr lang="en-US" sz="2400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PPROACH</a:t>
            </a:r>
            <a:endParaRPr lang="en-US" sz="2400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We used a</a:t>
            </a:r>
            <a:r>
              <a:rPr lang="en-US" sz="2400"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Light Dependent Resistor (LDR)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to detect ambient brightness. As light intensity increases, the LDR’s resistance decreases, producing a variable voltage across a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voltage divider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circuit.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This voltage is fed into the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Arduino Uno’s Analog-to-Digital Converter (ADC)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, which converts the analog signal into a digital value between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0 and 1023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. This value represents the light level.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571500" indent="-571500">
              <a:buClr>
                <a:srgbClr val="420023">
                  <a:lumMod val="75000"/>
                  <a:lumOff val="25000"/>
                </a:srgbClr>
              </a:buClr>
              <a:buFont typeface="Wingdings" panose="020B0604020202020204" pitchFamily="34" charset="0"/>
              <a:buChar char="ü"/>
            </a:pPr>
            <a:r>
              <a:rPr lang="en-US" sz="2400" b="1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SIGNAL PROCESSING</a:t>
            </a:r>
            <a:endParaRPr lang="en-US" sz="2400" b="1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The Arduino compares the ADC value to a set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threshold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(say, 500).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If the value is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below 500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-US" sz="24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→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  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it’s dark →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LEDs switch ON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If the value is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above 500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 </a:t>
            </a:r>
            <a:r>
              <a:rPr lang="en-US" sz="24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→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 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 it’s bright →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LEDs switch OFF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This logic ensures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automatic control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of streetlights based on real-time light conditions.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6203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61713-906C-747F-DBA5-2232A6D7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0" y="-2014"/>
            <a:ext cx="6964608" cy="1423281"/>
          </a:xfrm>
        </p:spPr>
        <p:txBody>
          <a:bodyPr/>
          <a:lstStyle/>
          <a:p>
            <a:pPr marL="285750" indent="-285750">
              <a:spcBef>
                <a:spcPts val="1000"/>
              </a:spcBef>
            </a:pPr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COMPONENTS:</a:t>
            </a:r>
            <a:br>
              <a:rPr lang="en-US" sz="4000" b="1" u="sng">
                <a:latin typeface="Times New Roman"/>
                <a:cs typeface="Times New Roman"/>
              </a:rPr>
            </a:b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These are the main components we will need</a:t>
            </a:r>
            <a:endParaRPr lang="en-US">
              <a:solidFill>
                <a:schemeClr val="tx1"/>
              </a:solidFill>
              <a:latin typeface="Gill Sans Nova"/>
              <a:cs typeface="Times New Roman"/>
            </a:endParaRPr>
          </a:p>
          <a:p>
            <a:endParaRPr lang="en-US">
              <a:solidFill>
                <a:srgbClr val="420023"/>
              </a:solidFill>
              <a:latin typeface="Gill Sans Nova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32A538-531F-DB79-C887-BE81F83FD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007520"/>
              </p:ext>
            </p:extLst>
          </p:nvPr>
        </p:nvGraphicFramePr>
        <p:xfrm>
          <a:off x="64576" y="1033220"/>
          <a:ext cx="11952908" cy="579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0790">
                  <a:extLst>
                    <a:ext uri="{9D8B030D-6E8A-4147-A177-3AD203B41FA5}">
                      <a16:colId xmlns:a16="http://schemas.microsoft.com/office/drawing/2014/main" val="279735843"/>
                    </a:ext>
                  </a:extLst>
                </a:gridCol>
                <a:gridCol w="2047164">
                  <a:extLst>
                    <a:ext uri="{9D8B030D-6E8A-4147-A177-3AD203B41FA5}">
                      <a16:colId xmlns:a16="http://schemas.microsoft.com/office/drawing/2014/main" val="3397721952"/>
                    </a:ext>
                  </a:extLst>
                </a:gridCol>
                <a:gridCol w="5964954">
                  <a:extLst>
                    <a:ext uri="{9D8B030D-6E8A-4147-A177-3AD203B41FA5}">
                      <a16:colId xmlns:a16="http://schemas.microsoft.com/office/drawing/2014/main" val="2160883745"/>
                    </a:ext>
                  </a:extLst>
                </a:gridCol>
              </a:tblGrid>
              <a:tr h="53037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065316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U1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Arduino Uno 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785952"/>
                  </a:ext>
                </a:extLst>
              </a:tr>
              <a:tr h="90163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Light Dependent Resistor</a:t>
                      </a:r>
                    </a:p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(Photoresistor)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597691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>
                        <a:buClr>
                          <a:srgbClr val="000000"/>
                        </a:buCl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White LED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288516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Yellow 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128438"/>
                  </a:ext>
                </a:extLst>
              </a:tr>
              <a:tr h="90163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                             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10 kΩ Resistor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923753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R3,R7,R8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1 kΩ Resistor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317677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  <a:cs typeface="Times New Roman"/>
                        </a:rPr>
                        <a:t>R4,R5,R6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220 Ω Resistor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112837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T2N2222,T1,T2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NPN Transistor (BJT)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280813"/>
                  </a:ext>
                </a:extLst>
              </a:tr>
              <a:tr h="4950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Red LED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121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23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2662-B7B1-CB09-99E9-E77C8586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1171"/>
            <a:ext cx="6370507" cy="829812"/>
          </a:xfrm>
        </p:spPr>
        <p:txBody>
          <a:bodyPr/>
          <a:lstStyle/>
          <a:p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F7375-FAE7-B0EA-5B5C-B9F294B93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57" y="17600"/>
            <a:ext cx="12057073" cy="68406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METHODOLOGY</a:t>
            </a:r>
            <a:endParaRPr lang="en-US" sz="2400">
              <a:solidFill>
                <a:srgbClr val="420023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en-US" sz="2400" b="1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CIRCUIT STABILITY</a:t>
            </a:r>
            <a:endParaRPr lang="en-US" sz="2400" b="1" u="sng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latin typeface="Times New Roman"/>
                <a:ea typeface="+mn-lt"/>
                <a:cs typeface="Times New Roman"/>
              </a:rPr>
              <a:t>We used resistors to stabilize current and prevent erratic switching and transistor for the reliable switching.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Future upgrades may include exploring solar-powered options for energy efficiency.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en-US" sz="2400" b="1" u="sng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SIMULATION &amp; PROTOTYPE</a:t>
            </a:r>
            <a:endParaRPr lang="en-US" sz="2400" u="sng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latin typeface="Times New Roman"/>
                <a:ea typeface="+mn-lt"/>
                <a:cs typeface="Times New Roman"/>
              </a:rPr>
              <a:t>The system was first tested in </a:t>
            </a:r>
            <a:r>
              <a:rPr lang="en-US" sz="2400" b="1" u="sng" err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Tinkercad</a:t>
            </a:r>
            <a:r>
              <a:rPr lang="en-US" sz="2400">
                <a:latin typeface="Times New Roman"/>
                <a:ea typeface="+mn-lt"/>
                <a:cs typeface="Times New Roman"/>
              </a:rPr>
              <a:t>, where the LDR and LED behavior were simulated.</a:t>
            </a:r>
            <a:endParaRPr lang="en-US" sz="2400">
              <a:latin typeface="Times New Roman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latin typeface="Times New Roman"/>
                <a:ea typeface="+mn-lt"/>
                <a:cs typeface="Times New Roman"/>
              </a:rPr>
              <a:t>We then built a </a:t>
            </a:r>
            <a:r>
              <a:rPr lang="en-US" sz="2400" b="1" u="sng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physical prototype</a:t>
            </a:r>
            <a:r>
              <a:rPr lang="en-US" sz="2400">
                <a:latin typeface="Times New Roman"/>
                <a:ea typeface="+mn-lt"/>
                <a:cs typeface="Times New Roman"/>
              </a:rPr>
              <a:t> on a breadboard using the same logic, confirming that the system responds accurately to ambient light levels.</a:t>
            </a:r>
            <a:endParaRPr lang="en-US" sz="240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5" name="Picture 4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213CDDE2-5E77-796B-FE8E-8D5B2391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" y="4038844"/>
            <a:ext cx="12173166" cy="2809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134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33CC-3180-AAE0-EADD-8313A15AF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8882"/>
            <a:ext cx="6215524" cy="834630"/>
          </a:xfrm>
        </p:spPr>
        <p:txBody>
          <a:bodyPr/>
          <a:lstStyle/>
          <a:p>
            <a:br>
              <a:rPr lang="en-US"/>
            </a:br>
            <a:endParaRPr lang="en-US"/>
          </a:p>
        </p:txBody>
      </p:sp>
      <p:pic>
        <p:nvPicPr>
          <p:cNvPr id="5" name="Picture 4" descr="A close-up of a led&#10;&#10;AI-generated content may be incorrect.">
            <a:extLst>
              <a:ext uri="{FF2B5EF4-FFF2-40B4-BE49-F238E27FC236}">
                <a16:creationId xmlns:a16="http://schemas.microsoft.com/office/drawing/2014/main" id="{9A287E98-A4CF-3EFB-CC13-94941D98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379" y="211041"/>
            <a:ext cx="2460679" cy="1855438"/>
          </a:xfrm>
          <a:prstGeom prst="rect">
            <a:avLst/>
          </a:prstGeom>
        </p:spPr>
      </p:pic>
      <p:pic>
        <p:nvPicPr>
          <p:cNvPr id="8" name="Picture 7" descr="A close-up of a transistor&#10;&#10;AI-generated content may be incorrect.">
            <a:extLst>
              <a:ext uri="{FF2B5EF4-FFF2-40B4-BE49-F238E27FC236}">
                <a16:creationId xmlns:a16="http://schemas.microsoft.com/office/drawing/2014/main" id="{F68E451A-710E-2C97-8954-C14F60E0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112" y="3877079"/>
            <a:ext cx="2122624" cy="2423063"/>
          </a:xfrm>
          <a:prstGeom prst="rect">
            <a:avLst/>
          </a:prstGeom>
        </p:spPr>
      </p:pic>
      <p:pic>
        <p:nvPicPr>
          <p:cNvPr id="9" name="Picture 8" descr="A close up of a object&#10;&#10;AI-generated content may be incorrect.">
            <a:extLst>
              <a:ext uri="{FF2B5EF4-FFF2-40B4-BE49-F238E27FC236}">
                <a16:creationId xmlns:a16="http://schemas.microsoft.com/office/drawing/2014/main" id="{5B230401-8765-106E-D9C2-751505174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967" y="3880468"/>
            <a:ext cx="2713658" cy="2300046"/>
          </a:xfrm>
          <a:prstGeom prst="rect">
            <a:avLst/>
          </a:prstGeom>
        </p:spPr>
      </p:pic>
      <p:pic>
        <p:nvPicPr>
          <p:cNvPr id="10" name="Picture 9" descr="A close up of a resistor&#10;&#10;AI-generated content may be incorrect.">
            <a:extLst>
              <a:ext uri="{FF2B5EF4-FFF2-40B4-BE49-F238E27FC236}">
                <a16:creationId xmlns:a16="http://schemas.microsoft.com/office/drawing/2014/main" id="{22D9D792-DC50-2AB0-B195-91870EBA9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4503" y="1003758"/>
            <a:ext cx="2490384" cy="2551570"/>
          </a:xfrm>
          <a:prstGeom prst="rect">
            <a:avLst/>
          </a:prstGeom>
        </p:spPr>
      </p:pic>
      <p:pic>
        <p:nvPicPr>
          <p:cNvPr id="11" name="Picture 10" descr="A close-up of a resistor&#10;&#10;AI-generated content may be incorrect.">
            <a:extLst>
              <a:ext uri="{FF2B5EF4-FFF2-40B4-BE49-F238E27FC236}">
                <a16:creationId xmlns:a16="http://schemas.microsoft.com/office/drawing/2014/main" id="{F188C068-C903-68C4-0765-654BCC86B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38" y="3892012"/>
            <a:ext cx="2377537" cy="2406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E2908C-7DF5-75A8-FAAA-961CA0A2B2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574" y="1002329"/>
            <a:ext cx="2525689" cy="2408120"/>
          </a:xfrm>
          <a:prstGeom prst="rect">
            <a:avLst/>
          </a:prstGeom>
        </p:spPr>
      </p:pic>
      <p:pic>
        <p:nvPicPr>
          <p:cNvPr id="15" name="Content Placeholder 14" descr="A blue electronic board with text&#10;&#10;AI-generated content may be incorrect.">
            <a:extLst>
              <a:ext uri="{FF2B5EF4-FFF2-40B4-BE49-F238E27FC236}">
                <a16:creationId xmlns:a16="http://schemas.microsoft.com/office/drawing/2014/main" id="{47B682AB-F801-7B4D-2F1B-004D60D6FF2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8"/>
          <a:stretch>
            <a:fillRect/>
          </a:stretch>
        </p:blipFill>
        <p:spPr>
          <a:xfrm>
            <a:off x="401137" y="427033"/>
            <a:ext cx="2285736" cy="232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0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B0AC-4C47-CE7A-9523-C7806225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" y="3837"/>
            <a:ext cx="12192661" cy="1020489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METHODOLOGY</a:t>
            </a:r>
            <a:b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2400" b="1" u="sng">
                <a:solidFill>
                  <a:schemeClr val="tx1"/>
                </a:solidFill>
                <a:latin typeface="Times New Roman"/>
                <a:cs typeface="Times New Roman"/>
              </a:rPr>
              <a:t>FUNCTIONS OF COMPONENTS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B64A-2B02-7684-F430-78E75586B70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5" y="1177660"/>
            <a:ext cx="12192662" cy="56831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buFont typeface="Wingdings" panose="020B0604020202020204" pitchFamily="34" charset="0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Arduino Uno R3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Central microcontroller that reads sensor input and controls outputs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Light Dependent Resistor (Photoresistor)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Detects ambient light levels and changes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resistance accordingly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White LEDs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Represent streetlights; turn ON/OFF based on light conditions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10 kΩ Resistor</a:t>
            </a:r>
            <a:r>
              <a:rPr lang="en-US" sz="2400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Forms part of the voltage divider with the LDR for stable signal input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1 kΩ Resistor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Limits current to protect transistor base or LED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220 Ω Resistor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Protects LEDs by limiting current flow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NPN Transistor (BJT)</a:t>
            </a:r>
            <a:r>
              <a:rPr lang="en-US" sz="2400">
                <a:solidFill>
                  <a:srgbClr val="420023"/>
                </a:solidFill>
                <a:latin typeface="Times New Roman"/>
                <a:ea typeface="+mn-lt"/>
                <a:cs typeface="Times New Roman"/>
              </a:rPr>
              <a:t> –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Acts as a switch to control LED power using Arduino signals</a:t>
            </a: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331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89F9-1C7D-5237-DA25-4555C39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59" y="-8069"/>
            <a:ext cx="6775319" cy="901426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CODE OVERVIEW</a:t>
            </a:r>
            <a:endParaRPr lang="en-US" sz="4000" b="1" u="sng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1CC1-2F7A-9C81-0927-65B36D101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6" y="903816"/>
            <a:ext cx="12180755" cy="595643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Wingdings" panose="020B0604020202020204" pitchFamily="34" charset="0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Arduino reads values from the LDR (pin A0)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Compares sensor values with a threshold (500)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If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dark</a:t>
            </a:r>
            <a:r>
              <a:rPr lang="en-US" sz="24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→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LEDs on pins 4, 7, 10 switch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ON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 b="1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If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bright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→ </a:t>
            </a: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LEDs switch </a:t>
            </a: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OFF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"/>
              <a:buChar char="ü"/>
            </a:pPr>
            <a:endParaRPr lang="en-US" sz="2400" b="1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Serial monitor prints sensor values for testing</a:t>
            </a:r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534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561E-ACA3-815B-075F-029A6B13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58" y="1171"/>
            <a:ext cx="6745820" cy="670587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SCHEMATICS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3113C-DB15-281C-FCEC-D379D6A4E1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230" y="677243"/>
            <a:ext cx="12159431" cy="60218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latin typeface="Times New Roman"/>
                <a:ea typeface="Calibri"/>
                <a:cs typeface="Times New Roman"/>
              </a:rPr>
              <a:t>Circuit designed and simulated in 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Tinkercad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latin typeface="Times New Roman"/>
                <a:ea typeface="Calibri"/>
                <a:cs typeface="Times New Roman"/>
              </a:rPr>
              <a:t>Arduino Uno controls LED switching based on light input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latin typeface="Times New Roman"/>
                <a:ea typeface="Calibri"/>
                <a:cs typeface="Times New Roman"/>
              </a:rPr>
              <a:t>Transistors used to amplify control signals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latin typeface="Times New Roman"/>
                <a:ea typeface="Calibri"/>
                <a:cs typeface="Times New Roman"/>
              </a:rPr>
              <a:t>Resistors stabilize current and protect components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endParaRPr lang="en-US" sz="2400">
              <a:latin typeface="Times New Roman"/>
              <a:ea typeface="Calibri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latin typeface="Times New Roman"/>
                <a:ea typeface="Calibri"/>
                <a:cs typeface="Times New Roman"/>
              </a:rPr>
              <a:t>LEDs represent streetlights in the system</a:t>
            </a: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 sz="24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2700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6291-0E3D-41BD-2DF9-54650953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80" y="1171"/>
            <a:ext cx="6882298" cy="659214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SCHEMATICS</a:t>
            </a:r>
            <a:endParaRPr lang="en-US"/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FD820042-F69B-8823-D190-3CFC6C1892D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264" y="945186"/>
            <a:ext cx="11957754" cy="570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0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C439-FD95-EE08-F796-2744D642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3" y="-692590"/>
            <a:ext cx="11511163" cy="1830648"/>
          </a:xfrm>
        </p:spPr>
        <p:txBody>
          <a:bodyPr/>
          <a:lstStyle/>
          <a:p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DEMONSTRATION / SIMULATION</a:t>
            </a:r>
            <a:b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</a:br>
            <a:endParaRPr lang="en-US" sz="4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8BA6-D96E-145F-F118-2402B43AF9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-3517" y="552138"/>
            <a:ext cx="12170804" cy="6317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Testing Platforms: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lvl="1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Circuit simulated on </a:t>
            </a:r>
            <a:r>
              <a:rPr lang="en-US" sz="2400" err="1">
                <a:solidFill>
                  <a:schemeClr val="tx1"/>
                </a:solidFill>
                <a:latin typeface="Times New Roman"/>
                <a:cs typeface="Times New Roman"/>
              </a:rPr>
              <a:t>Tinkercad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</a:p>
          <a:p>
            <a:pPr marL="514350" lvl="1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Prototype built on breadboard.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Operation: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lvl="1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Dark → LEDs switch ON (streetlight effect).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514350" lvl="1" indent="-285750">
              <a:buClr>
                <a:srgbClr val="B1005E"/>
              </a:buClr>
              <a:buFont typeface="Arial,Sans-Serif"/>
              <a:buChar char="•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Bright → LEDs switch OFF (daytime effect).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Results: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Lights respond automatically to sensor input.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Saves energy and reduces manual control.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Reliable performance in both simulation and prototype.</a:t>
            </a:r>
            <a:endParaRPr lang="en-US" sz="24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Clr>
                <a:srgbClr val="B1005E"/>
              </a:buClr>
              <a:buFont typeface="Wingdings,Sans-Serif"/>
              <a:buChar char="ü"/>
            </a:pPr>
            <a:endParaRPr lang="en-US" sz="24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07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65BC8-1130-73BE-E4E9-82D5ED41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716-73CC-87F1-994D-177D7D71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442" y="1171"/>
            <a:ext cx="12949415" cy="1175029"/>
          </a:xfrm>
        </p:spPr>
        <p:txBody>
          <a:bodyPr/>
          <a:lstStyle/>
          <a:p>
            <a:pPr algn="ctr"/>
            <a:r>
              <a:rPr lang="en-US" sz="4000" b="1" u="sng">
                <a:solidFill>
                  <a:schemeClr val="tx1"/>
                </a:solidFill>
                <a:latin typeface="Times New Roman"/>
                <a:cs typeface="Times New Roman"/>
              </a:rPr>
              <a:t>CONCLUSION</a:t>
            </a:r>
            <a:endParaRPr lang="en-US" sz="4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endParaRPr lang="en-US" sz="4000" b="1" u="sng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A23EF-05CF-693F-A280-5454935C4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20" y="592358"/>
            <a:ext cx="12179372" cy="62680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2400" b="1" u="sng">
                <a:latin typeface="Times New Roman"/>
                <a:ea typeface="Calibri"/>
                <a:cs typeface="Times New Roman"/>
              </a:rPr>
              <a:t>FINDINGS</a:t>
            </a:r>
            <a:r>
              <a:rPr lang="en-US" sz="2400" u="sng">
                <a:latin typeface="Times New Roman"/>
                <a:ea typeface="Calibri"/>
                <a:cs typeface="Times New Roman"/>
              </a:rPr>
              <a:t>:</a:t>
            </a:r>
            <a:endParaRPr lang="en-US">
              <a:ea typeface="Calibri"/>
              <a:cs typeface="Calibri"/>
            </a:endParaRPr>
          </a:p>
          <a:p>
            <a:pPr marL="4572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System switches LEDs ON at night and OFF during day automatically.</a:t>
            </a:r>
          </a:p>
          <a:p>
            <a:pPr marL="457200" indent="-342900">
              <a:buClr>
                <a:srgbClr val="B1005E"/>
              </a:buClr>
              <a:buFont typeface="Wingdings" panose="020B0604020202020204" pitchFamily="34" charset="0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Saves energy and reduces manual effort</a:t>
            </a:r>
            <a:r>
              <a:rPr lang="en-US" sz="2400" dirty="0">
                <a:latin typeface="Times New Roman"/>
                <a:ea typeface="Calibri"/>
                <a:cs typeface="Times New Roman"/>
              </a:rPr>
              <a:t>.</a:t>
            </a:r>
            <a:endParaRPr lang="en-US" sz="24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514350" lvl="1" indent="-228600">
              <a:buClr>
                <a:srgbClr val="B1005E"/>
              </a:buClr>
              <a:buFont typeface="Wingdings"/>
              <a:buChar char="ü"/>
            </a:pPr>
            <a:endParaRPr lang="en-U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 b="1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CHALLENGES</a:t>
            </a:r>
            <a:r>
              <a:rPr lang="en-US" sz="2400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:</a:t>
            </a: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Sensor calib</a:t>
            </a: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ration for accurate detection.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Circuit stability during testing.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Difficulty in Transistor-LED connection on breadboard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Issues in voltage divider building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endParaRPr lang="en-US" sz="24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 b="1" u="sng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FUTURE IMPROVEMENTS</a:t>
            </a:r>
            <a:endParaRPr lang="en-US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Integrate solar panels for sustainable power.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Expand to multiple streetlights.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28600">
              <a:buClr>
                <a:srgbClr val="B1005E"/>
              </a:buClr>
              <a:buFont typeface="Wingdings"/>
              <a:buChar char="ü"/>
            </a:pPr>
            <a:r>
              <a:rPr lang="en-US" sz="24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Add motion sensors for smarter control.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4662143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win32_LW_v8" id="{3A4E34A6-668B-44CB-918B-D16B4D66424F}" vid="{9B1B68C5-1665-4FCB-8595-B203B3662C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9ED26-B189-4BA1-99D0-1112D8C2F106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766CE19-BB35-48A2-AFDA-766E83330032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ConfettiVTI</vt:lpstr>
      <vt:lpstr>Northern lights</vt:lpstr>
      <vt:lpstr>PowerPoint Presentation</vt:lpstr>
      <vt:lpstr>TABLE OF CONTENTS</vt:lpstr>
      <vt:lpstr>PROBLEM STATEMENT</vt:lpstr>
      <vt:lpstr>METHODOLOGY </vt:lpstr>
      <vt:lpstr>COMPONENTS: These are the main components we will need </vt:lpstr>
      <vt:lpstr> </vt:lpstr>
      <vt:lpstr> </vt:lpstr>
      <vt:lpstr>METHODOLOGY FUNCTIONS OF COMPONENTS</vt:lpstr>
      <vt:lpstr>CODE OVERVIEW</vt:lpstr>
      <vt:lpstr>SCHEMATICS</vt:lpstr>
      <vt:lpstr>SCHEMATICS</vt:lpstr>
      <vt:lpstr>DEMONSTRATION / SIMULATION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57</cp:revision>
  <dcterms:created xsi:type="dcterms:W3CDTF">2026-03-21T15:01:14Z</dcterms:created>
  <dcterms:modified xsi:type="dcterms:W3CDTF">2026-03-30T00:52:59Z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