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58" r:id="rId4"/>
    <p:sldId id="259" r:id="rId5"/>
    <p:sldId id="260" r:id="rId6"/>
    <p:sldId id="263" r:id="rId7"/>
    <p:sldId id="264" r:id="rId8"/>
    <p:sldId id="265" r:id="rId9"/>
    <p:sldId id="266" r:id="rId10"/>
    <p:sldId id="261" r:id="rId11"/>
    <p:sldId id="267" r:id="rId12"/>
    <p:sldId id="262"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8"/>
    <p:restoredTop sz="94650"/>
  </p:normalViewPr>
  <p:slideViewPr>
    <p:cSldViewPr snapToGrid="0">
      <p:cViewPr varScale="1">
        <p:scale>
          <a:sx n="120" d="100"/>
          <a:sy n="120" d="100"/>
        </p:scale>
        <p:origin x="8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FF757-6EBC-A144-8249-C427C8121446}" type="datetimeFigureOut">
              <a:rPr lang="en-GH" smtClean="0"/>
              <a:t>29/03/2026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933A6D-62E8-664A-BA21-88AA9020AF95}" type="slidenum">
              <a:rPr lang="en-GH" smtClean="0"/>
              <a:t>‹#›</a:t>
            </a:fld>
            <a:endParaRPr lang="en-GH"/>
          </a:p>
        </p:txBody>
      </p:sp>
    </p:spTree>
    <p:extLst>
      <p:ext uri="{BB962C8B-B14F-4D97-AF65-F5344CB8AC3E}">
        <p14:creationId xmlns:p14="http://schemas.microsoft.com/office/powerpoint/2010/main" val="1266925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a:p>
        </p:txBody>
      </p:sp>
      <p:sp>
        <p:nvSpPr>
          <p:cNvPr id="4" name="Slide Number Placeholder 3"/>
          <p:cNvSpPr>
            <a:spLocks noGrp="1"/>
          </p:cNvSpPr>
          <p:nvPr>
            <p:ph type="sldNum" sz="quarter" idx="5"/>
          </p:nvPr>
        </p:nvSpPr>
        <p:spPr/>
        <p:txBody>
          <a:bodyPr/>
          <a:lstStyle/>
          <a:p>
            <a:fld id="{61933A6D-62E8-664A-BA21-88AA9020AF95}" type="slidenum">
              <a:rPr lang="en-GH" smtClean="0"/>
              <a:t>4</a:t>
            </a:fld>
            <a:endParaRPr lang="en-GH"/>
          </a:p>
        </p:txBody>
      </p:sp>
    </p:spTree>
    <p:extLst>
      <p:ext uri="{BB962C8B-B14F-4D97-AF65-F5344CB8AC3E}">
        <p14:creationId xmlns:p14="http://schemas.microsoft.com/office/powerpoint/2010/main" val="1479322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61933A6D-62E8-664A-BA21-88AA9020AF95}" type="slidenum">
              <a:rPr lang="en-GH" smtClean="0"/>
              <a:t>10</a:t>
            </a:fld>
            <a:endParaRPr lang="en-GH"/>
          </a:p>
        </p:txBody>
      </p:sp>
    </p:spTree>
    <p:extLst>
      <p:ext uri="{BB962C8B-B14F-4D97-AF65-F5344CB8AC3E}">
        <p14:creationId xmlns:p14="http://schemas.microsoft.com/office/powerpoint/2010/main" val="1151322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3/29/26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3/29/26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3/29/26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3/29/26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3/29/26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B0C4-9088-1091-3B06-A109EE61F31C}"/>
              </a:ext>
            </a:extLst>
          </p:cNvPr>
          <p:cNvSpPr>
            <a:spLocks noGrp="1"/>
          </p:cNvSpPr>
          <p:nvPr>
            <p:ph type="ctrTitle"/>
          </p:nvPr>
        </p:nvSpPr>
        <p:spPr/>
        <p:txBody>
          <a:bodyPr/>
          <a:lstStyle/>
          <a:p>
            <a:r>
              <a:rPr lang="en-GH" dirty="0"/>
              <a:t>MICROPROCESSORS</a:t>
            </a:r>
          </a:p>
        </p:txBody>
      </p:sp>
      <p:sp>
        <p:nvSpPr>
          <p:cNvPr id="3" name="Subtitle 2">
            <a:extLst>
              <a:ext uri="{FF2B5EF4-FFF2-40B4-BE49-F238E27FC236}">
                <a16:creationId xmlns:a16="http://schemas.microsoft.com/office/drawing/2014/main" id="{ABC0CA38-2B6D-FFED-2DAB-842348D61511}"/>
              </a:ext>
            </a:extLst>
          </p:cNvPr>
          <p:cNvSpPr>
            <a:spLocks noGrp="1"/>
          </p:cNvSpPr>
          <p:nvPr>
            <p:ph type="subTitle" idx="1"/>
          </p:nvPr>
        </p:nvSpPr>
        <p:spPr>
          <a:xfrm>
            <a:off x="2417779" y="3762852"/>
            <a:ext cx="8637072" cy="977621"/>
          </a:xfrm>
        </p:spPr>
        <p:txBody>
          <a:bodyPr/>
          <a:lstStyle/>
          <a:p>
            <a:r>
              <a:rPr lang="en-GH" dirty="0"/>
              <a:t>GROUP 2</a:t>
            </a:r>
          </a:p>
        </p:txBody>
      </p:sp>
    </p:spTree>
    <p:extLst>
      <p:ext uri="{BB962C8B-B14F-4D97-AF65-F5344CB8AC3E}">
        <p14:creationId xmlns:p14="http://schemas.microsoft.com/office/powerpoint/2010/main" val="3919554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68AC5-4BBA-28C3-FB79-6B0B3C5AF24A}"/>
              </a:ext>
            </a:extLst>
          </p:cNvPr>
          <p:cNvSpPr>
            <a:spLocks noGrp="1"/>
          </p:cNvSpPr>
          <p:nvPr>
            <p:ph type="title"/>
          </p:nvPr>
        </p:nvSpPr>
        <p:spPr/>
        <p:txBody>
          <a:bodyPr/>
          <a:lstStyle/>
          <a:p>
            <a:r>
              <a:rPr lang="en-GH" dirty="0"/>
              <a:t>GROUP MEMBERS</a:t>
            </a:r>
            <a:br>
              <a:rPr lang="en-GH" dirty="0"/>
            </a:br>
            <a:endParaRPr lang="en-GH" dirty="0"/>
          </a:p>
        </p:txBody>
      </p:sp>
      <p:sp>
        <p:nvSpPr>
          <p:cNvPr id="3" name="Content Placeholder 2">
            <a:extLst>
              <a:ext uri="{FF2B5EF4-FFF2-40B4-BE49-F238E27FC236}">
                <a16:creationId xmlns:a16="http://schemas.microsoft.com/office/drawing/2014/main" id="{5CBFA3E1-6918-5A14-7615-AFCAC1D76785}"/>
              </a:ext>
            </a:extLst>
          </p:cNvPr>
          <p:cNvSpPr>
            <a:spLocks noGrp="1"/>
          </p:cNvSpPr>
          <p:nvPr>
            <p:ph idx="1"/>
          </p:nvPr>
        </p:nvSpPr>
        <p:spPr/>
        <p:txBody>
          <a:bodyPr/>
          <a:lstStyle/>
          <a:p>
            <a:endParaRPr lang="en-GH" dirty="0"/>
          </a:p>
          <a:p>
            <a:endParaRPr lang="en-GH" dirty="0"/>
          </a:p>
          <a:p>
            <a:endParaRPr lang="en-GH" dirty="0"/>
          </a:p>
        </p:txBody>
      </p:sp>
      <p:sp>
        <p:nvSpPr>
          <p:cNvPr id="4" name="TextBox 3">
            <a:extLst>
              <a:ext uri="{FF2B5EF4-FFF2-40B4-BE49-F238E27FC236}">
                <a16:creationId xmlns:a16="http://schemas.microsoft.com/office/drawing/2014/main" id="{60ECE69D-0F24-436B-2D26-5D082EFEC428}"/>
              </a:ext>
            </a:extLst>
          </p:cNvPr>
          <p:cNvSpPr txBox="1"/>
          <p:nvPr/>
        </p:nvSpPr>
        <p:spPr>
          <a:xfrm>
            <a:off x="1451579" y="2015731"/>
            <a:ext cx="9603275" cy="37830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H" dirty="0"/>
              <a:t>Adolta Andrews Junior, 7310123</a:t>
            </a:r>
          </a:p>
          <a:p>
            <a:pPr marL="285750" indent="-285750">
              <a:lnSpc>
                <a:spcPct val="150000"/>
              </a:lnSpc>
              <a:buFont typeface="Arial" panose="020B0604020202020204" pitchFamily="34" charset="0"/>
              <a:buChar char="•"/>
            </a:pPr>
            <a:r>
              <a:rPr lang="en-GH" dirty="0"/>
              <a:t>Adwapa Rolly Afia Boakye, 7310923</a:t>
            </a:r>
          </a:p>
          <a:p>
            <a:pPr marL="285750" indent="-285750">
              <a:lnSpc>
                <a:spcPct val="150000"/>
              </a:lnSpc>
              <a:buFont typeface="Arial" panose="020B0604020202020204" pitchFamily="34" charset="0"/>
              <a:buChar char="•"/>
            </a:pPr>
            <a:r>
              <a:rPr lang="en-GH" dirty="0"/>
              <a:t>Adomah Chrisford, 7310223</a:t>
            </a:r>
          </a:p>
          <a:p>
            <a:pPr marL="285750" indent="-285750">
              <a:lnSpc>
                <a:spcPct val="150000"/>
              </a:lnSpc>
              <a:buFont typeface="Arial" panose="020B0604020202020204" pitchFamily="34" charset="0"/>
              <a:buChar char="•"/>
            </a:pPr>
            <a:r>
              <a:rPr lang="en-GH" dirty="0"/>
              <a:t>Afful Kelvin Kwaw, 7311123</a:t>
            </a:r>
          </a:p>
          <a:p>
            <a:pPr marL="285750" indent="-285750">
              <a:lnSpc>
                <a:spcPct val="150000"/>
              </a:lnSpc>
              <a:buFont typeface="Arial" panose="020B0604020202020204" pitchFamily="34" charset="0"/>
              <a:buChar char="•"/>
            </a:pPr>
            <a:r>
              <a:rPr lang="en-GH" dirty="0"/>
              <a:t>Adiase Noelle Selorm, 7310023</a:t>
            </a:r>
          </a:p>
          <a:p>
            <a:pPr marL="285750" indent="-285750">
              <a:lnSpc>
                <a:spcPct val="150000"/>
              </a:lnSpc>
              <a:buFont typeface="Arial" panose="020B0604020202020204" pitchFamily="34" charset="0"/>
              <a:buChar char="•"/>
            </a:pPr>
            <a:r>
              <a:rPr lang="en-GH" dirty="0"/>
              <a:t>Akowuah Christian Sarpong, 7312523</a:t>
            </a:r>
          </a:p>
          <a:p>
            <a:pPr marL="285750" indent="-285750">
              <a:lnSpc>
                <a:spcPct val="150000"/>
              </a:lnSpc>
              <a:buFont typeface="Arial" panose="020B0604020202020204" pitchFamily="34" charset="0"/>
              <a:buChar char="•"/>
            </a:pPr>
            <a:r>
              <a:rPr lang="en-GH" dirty="0"/>
              <a:t>Agyemang Rennie Yeboaa, 7311823</a:t>
            </a:r>
          </a:p>
          <a:p>
            <a:pPr marL="285750" indent="-285750">
              <a:lnSpc>
                <a:spcPct val="150000"/>
              </a:lnSpc>
              <a:buFont typeface="Arial" panose="020B0604020202020204" pitchFamily="34" charset="0"/>
              <a:buChar char="•"/>
            </a:pPr>
            <a:r>
              <a:rPr lang="en-GH" dirty="0"/>
              <a:t>Baffour Adu Kwadwo, 7310523</a:t>
            </a:r>
          </a:p>
          <a:p>
            <a:pPr marL="285750" indent="-285750">
              <a:lnSpc>
                <a:spcPct val="150000"/>
              </a:lnSpc>
              <a:buFont typeface="Arial" panose="020B0604020202020204" pitchFamily="34" charset="0"/>
              <a:buChar char="•"/>
            </a:pPr>
            <a:r>
              <a:rPr lang="en-GH" dirty="0"/>
              <a:t>Boadu Darius Sefa, 1786122</a:t>
            </a:r>
          </a:p>
        </p:txBody>
      </p:sp>
    </p:spTree>
    <p:extLst>
      <p:ext uri="{BB962C8B-B14F-4D97-AF65-F5344CB8AC3E}">
        <p14:creationId xmlns:p14="http://schemas.microsoft.com/office/powerpoint/2010/main" val="2590330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10036-EFF0-1A0C-370C-AF56A8CF4D8B}"/>
              </a:ext>
            </a:extLst>
          </p:cNvPr>
          <p:cNvSpPr>
            <a:spLocks noGrp="1"/>
          </p:cNvSpPr>
          <p:nvPr>
            <p:ph type="title"/>
          </p:nvPr>
        </p:nvSpPr>
        <p:spPr/>
        <p:txBody>
          <a:bodyPr/>
          <a:lstStyle/>
          <a:p>
            <a:r>
              <a:rPr lang="en-GH" dirty="0"/>
              <a:t>TABLE OF CONTENTS</a:t>
            </a:r>
          </a:p>
        </p:txBody>
      </p:sp>
      <p:sp>
        <p:nvSpPr>
          <p:cNvPr id="3" name="Content Placeholder 2">
            <a:extLst>
              <a:ext uri="{FF2B5EF4-FFF2-40B4-BE49-F238E27FC236}">
                <a16:creationId xmlns:a16="http://schemas.microsoft.com/office/drawing/2014/main" id="{EB7CF716-1147-EA5D-7D3C-D1305CC0E3E8}"/>
              </a:ext>
            </a:extLst>
          </p:cNvPr>
          <p:cNvSpPr>
            <a:spLocks noGrp="1"/>
          </p:cNvSpPr>
          <p:nvPr>
            <p:ph idx="1"/>
          </p:nvPr>
        </p:nvSpPr>
        <p:spPr/>
        <p:txBody>
          <a:bodyPr/>
          <a:lstStyle/>
          <a:p>
            <a:pPr marL="457200" indent="-457200">
              <a:buFont typeface="+mj-lt"/>
              <a:buAutoNum type="arabicPeriod"/>
            </a:pPr>
            <a:r>
              <a:rPr lang="en-GH" dirty="0"/>
              <a:t>Problem Statement</a:t>
            </a:r>
          </a:p>
          <a:p>
            <a:pPr marL="457200" indent="-457200">
              <a:buFont typeface="+mj-lt"/>
              <a:buAutoNum type="arabicPeriod"/>
            </a:pPr>
            <a:r>
              <a:rPr lang="en-GH" dirty="0"/>
              <a:t>Methodology</a:t>
            </a:r>
          </a:p>
          <a:p>
            <a:pPr marL="457200" indent="-457200">
              <a:buFont typeface="+mj-lt"/>
              <a:buAutoNum type="arabicPeriod"/>
            </a:pPr>
            <a:r>
              <a:rPr lang="en-GH" dirty="0"/>
              <a:t>Demonstration</a:t>
            </a:r>
          </a:p>
          <a:p>
            <a:pPr marL="457200" indent="-457200">
              <a:buFont typeface="+mj-lt"/>
              <a:buAutoNum type="arabicPeriod"/>
            </a:pPr>
            <a:r>
              <a:rPr lang="en-GH" dirty="0"/>
              <a:t>Conclusion</a:t>
            </a:r>
          </a:p>
        </p:txBody>
      </p:sp>
    </p:spTree>
    <p:extLst>
      <p:ext uri="{BB962C8B-B14F-4D97-AF65-F5344CB8AC3E}">
        <p14:creationId xmlns:p14="http://schemas.microsoft.com/office/powerpoint/2010/main" val="1336089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329C4-C3FF-BB82-AA73-B42B6A96268E}"/>
              </a:ext>
            </a:extLst>
          </p:cNvPr>
          <p:cNvSpPr>
            <a:spLocks noGrp="1"/>
          </p:cNvSpPr>
          <p:nvPr>
            <p:ph type="title"/>
          </p:nvPr>
        </p:nvSpPr>
        <p:spPr/>
        <p:txBody>
          <a:bodyPr/>
          <a:lstStyle/>
          <a:p>
            <a:r>
              <a:rPr lang="en-GH" dirty="0"/>
              <a:t>PROBLEM STATEMENT</a:t>
            </a:r>
          </a:p>
        </p:txBody>
      </p:sp>
      <p:sp>
        <p:nvSpPr>
          <p:cNvPr id="3" name="Content Placeholder 2">
            <a:extLst>
              <a:ext uri="{FF2B5EF4-FFF2-40B4-BE49-F238E27FC236}">
                <a16:creationId xmlns:a16="http://schemas.microsoft.com/office/drawing/2014/main" id="{34D386CD-9080-FAEC-8B87-3CA6491364C8}"/>
              </a:ext>
            </a:extLst>
          </p:cNvPr>
          <p:cNvSpPr>
            <a:spLocks noGrp="1"/>
          </p:cNvSpPr>
          <p:nvPr>
            <p:ph idx="1"/>
          </p:nvPr>
        </p:nvSpPr>
        <p:spPr/>
        <p:txBody>
          <a:bodyPr/>
          <a:lstStyle/>
          <a:p>
            <a:r>
              <a:rPr lang="en-GH" dirty="0"/>
              <a:t>PIPE LEAKAGE:</a:t>
            </a:r>
          </a:p>
          <a:p>
            <a:pPr marL="0" indent="0">
              <a:buNone/>
            </a:pPr>
            <a:r>
              <a:rPr lang="en-GH" dirty="0"/>
              <a:t>Pipe leakage has to do with the escape of water from pipes, joints or fixtures due to corrosion, high pressure or freezing.</a:t>
            </a:r>
          </a:p>
          <a:p>
            <a:pPr marL="0" indent="0">
              <a:buNone/>
            </a:pPr>
            <a:endParaRPr lang="en-GH" dirty="0"/>
          </a:p>
          <a:p>
            <a:pPr marL="0" indent="0">
              <a:buNone/>
            </a:pPr>
            <a:r>
              <a:rPr lang="en-GH" dirty="0"/>
              <a:t>The effects of pipe leakage include mold and fungus growth, pest </a:t>
            </a:r>
            <a:r>
              <a:rPr lang="en-GB" dirty="0"/>
              <a:t>attraction,</a:t>
            </a:r>
            <a:r>
              <a:rPr lang="en-GH" dirty="0"/>
              <a:t> and if left untreated, high financial cost from increased water bill and pipe fixing system.</a:t>
            </a:r>
          </a:p>
        </p:txBody>
      </p:sp>
    </p:spTree>
    <p:extLst>
      <p:ext uri="{BB962C8B-B14F-4D97-AF65-F5344CB8AC3E}">
        <p14:creationId xmlns:p14="http://schemas.microsoft.com/office/powerpoint/2010/main" val="401374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992E2-A288-9ED8-36F2-C3D3FF79DD9C}"/>
              </a:ext>
            </a:extLst>
          </p:cNvPr>
          <p:cNvSpPr>
            <a:spLocks noGrp="1"/>
          </p:cNvSpPr>
          <p:nvPr>
            <p:ph type="title"/>
          </p:nvPr>
        </p:nvSpPr>
        <p:spPr/>
        <p:txBody>
          <a:bodyPr/>
          <a:lstStyle/>
          <a:p>
            <a:r>
              <a:rPr lang="en-GH" dirty="0"/>
              <a:t>METHODOLOGY</a:t>
            </a:r>
          </a:p>
        </p:txBody>
      </p:sp>
      <p:sp>
        <p:nvSpPr>
          <p:cNvPr id="3" name="Content Placeholder 2">
            <a:extLst>
              <a:ext uri="{FF2B5EF4-FFF2-40B4-BE49-F238E27FC236}">
                <a16:creationId xmlns:a16="http://schemas.microsoft.com/office/drawing/2014/main" id="{2675597F-023B-3C3C-81B3-AC2B4C61B01D}"/>
              </a:ext>
            </a:extLst>
          </p:cNvPr>
          <p:cNvSpPr>
            <a:spLocks noGrp="1"/>
          </p:cNvSpPr>
          <p:nvPr>
            <p:ph idx="1"/>
          </p:nvPr>
        </p:nvSpPr>
        <p:spPr/>
        <p:txBody>
          <a:bodyPr/>
          <a:lstStyle/>
          <a:p>
            <a:r>
              <a:rPr lang="en-GH" dirty="0"/>
              <a:t>The system </a:t>
            </a:r>
            <a:r>
              <a:rPr lang="en-GB" dirty="0"/>
              <a:t>adopts</a:t>
            </a:r>
            <a:r>
              <a:rPr lang="en-GH" dirty="0"/>
              <a:t> t</a:t>
            </a:r>
            <a:r>
              <a:rPr lang="en-GB" dirty="0"/>
              <a:t>he</a:t>
            </a:r>
            <a:r>
              <a:rPr lang="en-GH" dirty="0"/>
              <a:t> </a:t>
            </a:r>
            <a:r>
              <a:rPr lang="en-GB" dirty="0"/>
              <a:t>function</a:t>
            </a:r>
            <a:r>
              <a:rPr lang="en-GH" dirty="0"/>
              <a:t> of a flow sensor, microcontroller, buzzer and LED.</a:t>
            </a:r>
          </a:p>
          <a:p>
            <a:r>
              <a:rPr lang="en-GH" dirty="0"/>
              <a:t>The flow sensor detects water movement,  it generates electrical pulses proportional to the flow rate.</a:t>
            </a:r>
          </a:p>
          <a:p>
            <a:r>
              <a:rPr lang="en-GH" dirty="0"/>
              <a:t>The microcontroller processes the </a:t>
            </a:r>
            <a:r>
              <a:rPr lang="en-GB" dirty="0"/>
              <a:t>signal. If</a:t>
            </a:r>
            <a:r>
              <a:rPr lang="en-GH" dirty="0"/>
              <a:t> the flow is normal as detected by the sensor the system runs as expected. However, if the flow detected is not normal an LED installed will </a:t>
            </a:r>
            <a:r>
              <a:rPr lang="en-GB" dirty="0"/>
              <a:t>light</a:t>
            </a:r>
            <a:r>
              <a:rPr lang="en-GH" dirty="0"/>
              <a:t> up and a buzzer will blare.</a:t>
            </a:r>
          </a:p>
        </p:txBody>
      </p:sp>
    </p:spTree>
    <p:extLst>
      <p:ext uri="{BB962C8B-B14F-4D97-AF65-F5344CB8AC3E}">
        <p14:creationId xmlns:p14="http://schemas.microsoft.com/office/powerpoint/2010/main" val="3394665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905CFAD9-EABE-4F83-B098-604752164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H"/>
          </a:p>
        </p:txBody>
      </p:sp>
      <p:pic>
        <p:nvPicPr>
          <p:cNvPr id="43" name="Picture 42">
            <a:extLst>
              <a:ext uri="{FF2B5EF4-FFF2-40B4-BE49-F238E27FC236}">
                <a16:creationId xmlns:a16="http://schemas.microsoft.com/office/drawing/2014/main" id="{C99610E4-6194-4817-B152-498995E771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5" name="Straight Connector 44">
            <a:extLst>
              <a:ext uri="{FF2B5EF4-FFF2-40B4-BE49-F238E27FC236}">
                <a16:creationId xmlns:a16="http://schemas.microsoft.com/office/drawing/2014/main" id="{D885E9F4-7DB6-4B77-B1FF-80BFCE8127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B639A2B-C30C-4F6F-B847-6960F3CF8A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49" name="Rectangle 48">
            <a:extLst>
              <a:ext uri="{FF2B5EF4-FFF2-40B4-BE49-F238E27FC236}">
                <a16:creationId xmlns:a16="http://schemas.microsoft.com/office/drawing/2014/main" id="{D9926FA0-8ED1-4F3A-B23B-FD94D82C7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3A102CD9-C25A-4A86-B9D3-D7280D9142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1FCBF357-B535-D845-1F53-207630128E8B}"/>
              </a:ext>
            </a:extLst>
          </p:cNvPr>
          <p:cNvSpPr>
            <a:spLocks noGrp="1"/>
          </p:cNvSpPr>
          <p:nvPr>
            <p:ph type="title"/>
          </p:nvPr>
        </p:nvSpPr>
        <p:spPr>
          <a:xfrm>
            <a:off x="855413" y="1644002"/>
            <a:ext cx="2823919" cy="1868760"/>
          </a:xfrm>
        </p:spPr>
        <p:txBody>
          <a:bodyPr vert="horz" lIns="91440" tIns="45720" rIns="91440" bIns="0" rtlCol="0" anchor="b">
            <a:normAutofit/>
          </a:bodyPr>
          <a:lstStyle/>
          <a:p>
            <a:r>
              <a:rPr lang="en-US" sz="3600" dirty="0"/>
              <a:t>CODE </a:t>
            </a:r>
            <a:br>
              <a:rPr lang="en-US" sz="3600" dirty="0"/>
            </a:br>
            <a:endParaRPr lang="en-US" sz="3600" dirty="0"/>
          </a:p>
        </p:txBody>
      </p:sp>
      <p:pic>
        <p:nvPicPr>
          <p:cNvPr id="5" name="Content Placeholder 4" descr="A screenshot of a computer screen&#10;&#10;Description automatically generated">
            <a:extLst>
              <a:ext uri="{FF2B5EF4-FFF2-40B4-BE49-F238E27FC236}">
                <a16:creationId xmlns:a16="http://schemas.microsoft.com/office/drawing/2014/main" id="{76CD8D5E-5F83-0C4E-E81A-A5B030B45136}"/>
              </a:ext>
            </a:extLst>
          </p:cNvPr>
          <p:cNvPicPr>
            <a:picLocks noGrp="1" noChangeAspect="1"/>
          </p:cNvPicPr>
          <p:nvPr>
            <p:ph idx="1"/>
          </p:nvPr>
        </p:nvPicPr>
        <p:blipFill>
          <a:blip r:embed="rId3"/>
          <a:srcRect r="3"/>
          <a:stretch>
            <a:fillRect/>
          </a:stretch>
        </p:blipFill>
        <p:spPr>
          <a:xfrm>
            <a:off x="7345276" y="3205017"/>
            <a:ext cx="4857887" cy="3271617"/>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CEE3650A-EDE7-477F-0241-FC01BB7532E7}"/>
              </a:ext>
            </a:extLst>
          </p:cNvPr>
          <p:cNvPicPr>
            <a:picLocks noChangeAspect="1"/>
          </p:cNvPicPr>
          <p:nvPr/>
        </p:nvPicPr>
        <p:blipFill>
          <a:blip r:embed="rId4"/>
          <a:stretch>
            <a:fillRect/>
          </a:stretch>
        </p:blipFill>
        <p:spPr>
          <a:xfrm>
            <a:off x="7682932" y="-22860"/>
            <a:ext cx="4509068" cy="3351620"/>
          </a:xfrm>
          <a:prstGeom prst="rect">
            <a:avLst/>
          </a:prstGeom>
        </p:spPr>
      </p:pic>
      <p:cxnSp>
        <p:nvCxnSpPr>
          <p:cNvPr id="53" name="Straight Connector 52">
            <a:extLst>
              <a:ext uri="{FF2B5EF4-FFF2-40B4-BE49-F238E27FC236}">
                <a16:creationId xmlns:a16="http://schemas.microsoft.com/office/drawing/2014/main" id="{90676B93-40FB-4FA7-8E89-C24B7B1F8F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9301" y="3528543"/>
            <a:ext cx="282391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7" name="Picture 6" descr="A screenshot of a computer&#10;&#10;Description automatically generated">
            <a:extLst>
              <a:ext uri="{FF2B5EF4-FFF2-40B4-BE49-F238E27FC236}">
                <a16:creationId xmlns:a16="http://schemas.microsoft.com/office/drawing/2014/main" id="{BBC0BC95-B559-AA73-02EA-5C9F9B1C7B23}"/>
              </a:ext>
            </a:extLst>
          </p:cNvPr>
          <p:cNvPicPr>
            <a:picLocks noChangeAspect="1"/>
          </p:cNvPicPr>
          <p:nvPr/>
        </p:nvPicPr>
        <p:blipFill>
          <a:blip r:embed="rId5"/>
          <a:stretch>
            <a:fillRect/>
          </a:stretch>
        </p:blipFill>
        <p:spPr>
          <a:xfrm>
            <a:off x="2824742" y="3344539"/>
            <a:ext cx="4857887" cy="2889995"/>
          </a:xfrm>
          <a:prstGeom prst="rect">
            <a:avLst/>
          </a:prstGeom>
        </p:spPr>
      </p:pic>
      <p:pic>
        <p:nvPicPr>
          <p:cNvPr id="15" name="Picture 14" descr="A screenshot of a computer&#10;&#10;Description automatically generated">
            <a:extLst>
              <a:ext uri="{FF2B5EF4-FFF2-40B4-BE49-F238E27FC236}">
                <a16:creationId xmlns:a16="http://schemas.microsoft.com/office/drawing/2014/main" id="{866792AE-2EC6-6F96-07B2-492CBD96C456}"/>
              </a:ext>
            </a:extLst>
          </p:cNvPr>
          <p:cNvPicPr>
            <a:picLocks noChangeAspect="1"/>
          </p:cNvPicPr>
          <p:nvPr/>
        </p:nvPicPr>
        <p:blipFill>
          <a:blip r:embed="rId6"/>
          <a:stretch>
            <a:fillRect/>
          </a:stretch>
        </p:blipFill>
        <p:spPr>
          <a:xfrm>
            <a:off x="2824742" y="-22861"/>
            <a:ext cx="4857887" cy="3351620"/>
          </a:xfrm>
          <a:prstGeom prst="rect">
            <a:avLst/>
          </a:prstGeom>
        </p:spPr>
      </p:pic>
      <p:pic>
        <p:nvPicPr>
          <p:cNvPr id="55" name="Picture 54">
            <a:extLst>
              <a:ext uri="{FF2B5EF4-FFF2-40B4-BE49-F238E27FC236}">
                <a16:creationId xmlns:a16="http://schemas.microsoft.com/office/drawing/2014/main" id="{3509D85C-1896-4695-A144-B562AFC58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57" name="Straight Connector 56">
            <a:extLst>
              <a:ext uri="{FF2B5EF4-FFF2-40B4-BE49-F238E27FC236}">
                <a16:creationId xmlns:a16="http://schemas.microsoft.com/office/drawing/2014/main" id="{6D9F55CD-CB1D-4CB9-98D3-2BC602BC43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1537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46BB8-9E48-9557-FD43-E2B6075196D8}"/>
              </a:ext>
            </a:extLst>
          </p:cNvPr>
          <p:cNvSpPr>
            <a:spLocks noGrp="1"/>
          </p:cNvSpPr>
          <p:nvPr>
            <p:ph type="title"/>
          </p:nvPr>
        </p:nvSpPr>
        <p:spPr/>
        <p:txBody>
          <a:bodyPr/>
          <a:lstStyle/>
          <a:p>
            <a:r>
              <a:rPr lang="en-GH" dirty="0"/>
              <a:t>CODE</a:t>
            </a:r>
          </a:p>
        </p:txBody>
      </p:sp>
      <p:sp>
        <p:nvSpPr>
          <p:cNvPr id="3" name="Content Placeholder 2">
            <a:extLst>
              <a:ext uri="{FF2B5EF4-FFF2-40B4-BE49-F238E27FC236}">
                <a16:creationId xmlns:a16="http://schemas.microsoft.com/office/drawing/2014/main" id="{C075EB64-3AA3-FD83-2231-60731CAF057E}"/>
              </a:ext>
            </a:extLst>
          </p:cNvPr>
          <p:cNvSpPr>
            <a:spLocks noGrp="1"/>
          </p:cNvSpPr>
          <p:nvPr>
            <p:ph idx="1"/>
          </p:nvPr>
        </p:nvSpPr>
        <p:spPr/>
        <p:txBody>
          <a:bodyPr/>
          <a:lstStyle/>
          <a:p>
            <a:r>
              <a:rPr lang="en-GH" dirty="0"/>
              <a:t>In the code above, the sysem pumps water from a source through the flow sensors and the pipe.</a:t>
            </a:r>
          </a:p>
          <a:p>
            <a:r>
              <a:rPr lang="en-GH" dirty="0"/>
              <a:t>The system compares the inlet and oule water flow rates and if a difference of more or less than 0.3 is detected which is the threshold, a leak is identified and an alarm is activated, a Light Emitting Diode lights up and the system is shut down automatically.</a:t>
            </a:r>
          </a:p>
        </p:txBody>
      </p:sp>
    </p:spTree>
    <p:extLst>
      <p:ext uri="{BB962C8B-B14F-4D97-AF65-F5344CB8AC3E}">
        <p14:creationId xmlns:p14="http://schemas.microsoft.com/office/powerpoint/2010/main" val="3102437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D31FD-DBEB-D1B8-B950-8D40A59521D3}"/>
              </a:ext>
            </a:extLst>
          </p:cNvPr>
          <p:cNvSpPr>
            <a:spLocks noGrp="1"/>
          </p:cNvSpPr>
          <p:nvPr>
            <p:ph type="title"/>
          </p:nvPr>
        </p:nvSpPr>
        <p:spPr>
          <a:xfrm>
            <a:off x="1451579" y="804519"/>
            <a:ext cx="9603275" cy="682905"/>
          </a:xfrm>
        </p:spPr>
        <p:txBody>
          <a:bodyPr/>
          <a:lstStyle/>
          <a:p>
            <a:r>
              <a:rPr lang="en-GH" dirty="0"/>
              <a:t>SCHEMATIC</a:t>
            </a:r>
          </a:p>
        </p:txBody>
      </p:sp>
      <p:pic>
        <p:nvPicPr>
          <p:cNvPr id="5" name="Content Placeholder 4">
            <a:extLst>
              <a:ext uri="{FF2B5EF4-FFF2-40B4-BE49-F238E27FC236}">
                <a16:creationId xmlns:a16="http://schemas.microsoft.com/office/drawing/2014/main" id="{851D78A9-1ABE-FF27-27C5-25E7DA29A22E}"/>
              </a:ext>
            </a:extLst>
          </p:cNvPr>
          <p:cNvPicPr>
            <a:picLocks noGrp="1" noChangeAspect="1"/>
          </p:cNvPicPr>
          <p:nvPr>
            <p:ph idx="1"/>
          </p:nvPr>
        </p:nvPicPr>
        <p:blipFill>
          <a:blip r:embed="rId2"/>
          <a:stretch>
            <a:fillRect/>
          </a:stretch>
        </p:blipFill>
        <p:spPr>
          <a:xfrm>
            <a:off x="0" y="1487425"/>
            <a:ext cx="6973824" cy="4908552"/>
          </a:xfrm>
        </p:spPr>
      </p:pic>
      <p:pic>
        <p:nvPicPr>
          <p:cNvPr id="4" name="Picture 3" descr="A diagram of a machine&#10;&#10;Description automatically generated">
            <a:extLst>
              <a:ext uri="{FF2B5EF4-FFF2-40B4-BE49-F238E27FC236}">
                <a16:creationId xmlns:a16="http://schemas.microsoft.com/office/drawing/2014/main" id="{C3689706-8C8F-C647-A57E-15AC2C939407}"/>
              </a:ext>
            </a:extLst>
          </p:cNvPr>
          <p:cNvPicPr>
            <a:picLocks noChangeAspect="1"/>
          </p:cNvPicPr>
          <p:nvPr/>
        </p:nvPicPr>
        <p:blipFill>
          <a:blip r:embed="rId3"/>
          <a:stretch>
            <a:fillRect/>
          </a:stretch>
        </p:blipFill>
        <p:spPr>
          <a:xfrm>
            <a:off x="6973824" y="1487424"/>
            <a:ext cx="5218176" cy="4908553"/>
          </a:xfrm>
          <a:prstGeom prst="rect">
            <a:avLst/>
          </a:prstGeom>
        </p:spPr>
      </p:pic>
    </p:spTree>
    <p:extLst>
      <p:ext uri="{BB962C8B-B14F-4D97-AF65-F5344CB8AC3E}">
        <p14:creationId xmlns:p14="http://schemas.microsoft.com/office/powerpoint/2010/main" val="31777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0A3B2-7752-02ED-A0EA-00486ACE26D8}"/>
              </a:ext>
            </a:extLst>
          </p:cNvPr>
          <p:cNvSpPr>
            <a:spLocks noGrp="1"/>
          </p:cNvSpPr>
          <p:nvPr>
            <p:ph type="title"/>
          </p:nvPr>
        </p:nvSpPr>
        <p:spPr/>
        <p:txBody>
          <a:bodyPr/>
          <a:lstStyle/>
          <a:p>
            <a:r>
              <a:rPr lang="en-GH" dirty="0"/>
              <a:t>SCHEMATIC</a:t>
            </a:r>
          </a:p>
        </p:txBody>
      </p:sp>
      <p:sp>
        <p:nvSpPr>
          <p:cNvPr id="3" name="Content Placeholder 2">
            <a:extLst>
              <a:ext uri="{FF2B5EF4-FFF2-40B4-BE49-F238E27FC236}">
                <a16:creationId xmlns:a16="http://schemas.microsoft.com/office/drawing/2014/main" id="{EE412ADA-E45F-4EC0-7FCD-BD4EA5ED0A1C}"/>
              </a:ext>
            </a:extLst>
          </p:cNvPr>
          <p:cNvSpPr>
            <a:spLocks noGrp="1"/>
          </p:cNvSpPr>
          <p:nvPr>
            <p:ph idx="1"/>
          </p:nvPr>
        </p:nvSpPr>
        <p:spPr/>
        <p:txBody>
          <a:bodyPr/>
          <a:lstStyle/>
          <a:p>
            <a:r>
              <a:rPr lang="en-GH" dirty="0"/>
              <a:t>The schematic displays a visual representation of t</a:t>
            </a:r>
            <a:r>
              <a:rPr lang="en-GB" dirty="0"/>
              <a:t>he</a:t>
            </a:r>
            <a:r>
              <a:rPr lang="en-GH" dirty="0"/>
              <a:t> physical project showing clearly the flow sensors and how they are to be connected, the pump, the relay, the microprocessor connection and the expected output.</a:t>
            </a:r>
          </a:p>
          <a:p>
            <a:r>
              <a:rPr lang="en-GH" dirty="0"/>
              <a:t>It illustrates how the buzzer and LED function in the detection of a leakage in the system.</a:t>
            </a:r>
          </a:p>
        </p:txBody>
      </p:sp>
    </p:spTree>
    <p:extLst>
      <p:ext uri="{BB962C8B-B14F-4D97-AF65-F5344CB8AC3E}">
        <p14:creationId xmlns:p14="http://schemas.microsoft.com/office/powerpoint/2010/main" val="643925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B79D3-EFBC-1428-B763-E1A5E9740ABD}"/>
              </a:ext>
            </a:extLst>
          </p:cNvPr>
          <p:cNvSpPr>
            <a:spLocks noGrp="1"/>
          </p:cNvSpPr>
          <p:nvPr>
            <p:ph type="title"/>
          </p:nvPr>
        </p:nvSpPr>
        <p:spPr/>
        <p:txBody>
          <a:bodyPr/>
          <a:lstStyle/>
          <a:p>
            <a:r>
              <a:rPr lang="en-GH" dirty="0"/>
              <a:t>DEMONSTRATION</a:t>
            </a:r>
          </a:p>
        </p:txBody>
      </p:sp>
      <p:pic>
        <p:nvPicPr>
          <p:cNvPr id="4" name="VIDEO-2026-03-29-10-41-06.mp4">
            <a:hlinkClick r:id="" action="ppaction://media"/>
            <a:extLst>
              <a:ext uri="{FF2B5EF4-FFF2-40B4-BE49-F238E27FC236}">
                <a16:creationId xmlns:a16="http://schemas.microsoft.com/office/drawing/2014/main" id="{71FE3B8F-B44A-2BF1-6C4E-03EAB6BCA132}"/>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3186113" y="2016125"/>
            <a:ext cx="6132512" cy="3449638"/>
          </a:xfrm>
        </p:spPr>
      </p:pic>
    </p:spTree>
    <p:extLst>
      <p:ext uri="{BB962C8B-B14F-4D97-AF65-F5344CB8AC3E}">
        <p14:creationId xmlns:p14="http://schemas.microsoft.com/office/powerpoint/2010/main" val="2768711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39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AB9A6-5716-7B8B-69E8-F7872BF11C42}"/>
              </a:ext>
            </a:extLst>
          </p:cNvPr>
          <p:cNvSpPr>
            <a:spLocks noGrp="1"/>
          </p:cNvSpPr>
          <p:nvPr>
            <p:ph type="title"/>
          </p:nvPr>
        </p:nvSpPr>
        <p:spPr/>
        <p:txBody>
          <a:bodyPr/>
          <a:lstStyle/>
          <a:p>
            <a:r>
              <a:rPr lang="en-GH" dirty="0"/>
              <a:t>DEMONSTRATION</a:t>
            </a:r>
          </a:p>
        </p:txBody>
      </p:sp>
      <p:sp>
        <p:nvSpPr>
          <p:cNvPr id="3" name="Content Placeholder 2">
            <a:extLst>
              <a:ext uri="{FF2B5EF4-FFF2-40B4-BE49-F238E27FC236}">
                <a16:creationId xmlns:a16="http://schemas.microsoft.com/office/drawing/2014/main" id="{262246E7-1B87-157D-F93E-4946ED4FFDE2}"/>
              </a:ext>
            </a:extLst>
          </p:cNvPr>
          <p:cNvSpPr>
            <a:spLocks noGrp="1"/>
          </p:cNvSpPr>
          <p:nvPr>
            <p:ph idx="1"/>
          </p:nvPr>
        </p:nvSpPr>
        <p:spPr/>
        <p:txBody>
          <a:bodyPr/>
          <a:lstStyle/>
          <a:p>
            <a:r>
              <a:rPr lang="en-GH" dirty="0"/>
              <a:t>After the simulation has been run it is observed that the LED turns on when a leak is detected.</a:t>
            </a:r>
          </a:p>
          <a:p>
            <a:r>
              <a:rPr lang="en-GH" dirty="0"/>
              <a:t>Key takeaways from the system is, the system reliably detects sustained flow differences, minimizes false alarm as it is activated only after constant leakage detection and automatically responds to leakage conditions</a:t>
            </a:r>
          </a:p>
        </p:txBody>
      </p:sp>
    </p:spTree>
    <p:extLst>
      <p:ext uri="{BB962C8B-B14F-4D97-AF65-F5344CB8AC3E}">
        <p14:creationId xmlns:p14="http://schemas.microsoft.com/office/powerpoint/2010/main" val="3501096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5CB9B-8BD5-84A8-3323-D0A8DE50F390}"/>
              </a:ext>
            </a:extLst>
          </p:cNvPr>
          <p:cNvSpPr>
            <a:spLocks noGrp="1"/>
          </p:cNvSpPr>
          <p:nvPr>
            <p:ph type="title"/>
          </p:nvPr>
        </p:nvSpPr>
        <p:spPr/>
        <p:txBody>
          <a:bodyPr/>
          <a:lstStyle/>
          <a:p>
            <a:r>
              <a:rPr lang="en-GH" dirty="0"/>
              <a:t>CONCLUSION</a:t>
            </a:r>
          </a:p>
        </p:txBody>
      </p:sp>
      <p:sp>
        <p:nvSpPr>
          <p:cNvPr id="3" name="Content Placeholder 2">
            <a:extLst>
              <a:ext uri="{FF2B5EF4-FFF2-40B4-BE49-F238E27FC236}">
                <a16:creationId xmlns:a16="http://schemas.microsoft.com/office/drawing/2014/main" id="{90132C4B-C2C9-4D62-6E7B-D0FF979B887D}"/>
              </a:ext>
            </a:extLst>
          </p:cNvPr>
          <p:cNvSpPr>
            <a:spLocks noGrp="1"/>
          </p:cNvSpPr>
          <p:nvPr>
            <p:ph idx="1"/>
          </p:nvPr>
        </p:nvSpPr>
        <p:spPr/>
        <p:txBody>
          <a:bodyPr/>
          <a:lstStyle/>
          <a:p>
            <a:r>
              <a:rPr lang="en-GH" dirty="0"/>
              <a:t>After </a:t>
            </a:r>
            <a:r>
              <a:rPr lang="en-GB" dirty="0"/>
              <a:t>running</a:t>
            </a:r>
            <a:r>
              <a:rPr lang="en-GH" dirty="0"/>
              <a:t> the </a:t>
            </a:r>
            <a:r>
              <a:rPr lang="en-GB" dirty="0"/>
              <a:t>code,</a:t>
            </a:r>
            <a:r>
              <a:rPr lang="en-GH" dirty="0"/>
              <a:t> </a:t>
            </a:r>
            <a:r>
              <a:rPr lang="en-GB" dirty="0"/>
              <a:t>the leakage was successfully detected making the alarm go off and the LED light up.</a:t>
            </a:r>
          </a:p>
          <a:p>
            <a:r>
              <a:rPr lang="en-GB" dirty="0"/>
              <a:t>A challenge encountered is that the flow sensor became unresponsive during the execution of the code. An improvement we made to the system to counter this challenge was to check jumper cable connections and strengthen them.</a:t>
            </a:r>
            <a:endParaRPr lang="en-GH" dirty="0"/>
          </a:p>
        </p:txBody>
      </p:sp>
    </p:spTree>
    <p:extLst>
      <p:ext uri="{BB962C8B-B14F-4D97-AF65-F5344CB8AC3E}">
        <p14:creationId xmlns:p14="http://schemas.microsoft.com/office/powerpoint/2010/main" val="4265145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39CAD-B7D3-6531-4557-0A8E1EF75792}"/>
              </a:ext>
            </a:extLst>
          </p:cNvPr>
          <p:cNvSpPr>
            <a:spLocks noGrp="1"/>
          </p:cNvSpPr>
          <p:nvPr>
            <p:ph type="title"/>
          </p:nvPr>
        </p:nvSpPr>
        <p:spPr/>
        <p:txBody>
          <a:bodyPr/>
          <a:lstStyle/>
          <a:p>
            <a:endParaRPr lang="en-GH"/>
          </a:p>
        </p:txBody>
      </p:sp>
      <p:sp>
        <p:nvSpPr>
          <p:cNvPr id="3" name="Content Placeholder 2">
            <a:extLst>
              <a:ext uri="{FF2B5EF4-FFF2-40B4-BE49-F238E27FC236}">
                <a16:creationId xmlns:a16="http://schemas.microsoft.com/office/drawing/2014/main" id="{19C8F7F9-26C3-FFDE-D41C-0A0A1BDB6EA4}"/>
              </a:ext>
            </a:extLst>
          </p:cNvPr>
          <p:cNvSpPr>
            <a:spLocks noGrp="1"/>
          </p:cNvSpPr>
          <p:nvPr>
            <p:ph idx="1"/>
          </p:nvPr>
        </p:nvSpPr>
        <p:spPr/>
        <p:txBody>
          <a:bodyPr/>
          <a:lstStyle/>
          <a:p>
            <a:endParaRPr lang="en-GH"/>
          </a:p>
        </p:txBody>
      </p:sp>
    </p:spTree>
    <p:extLst>
      <p:ext uri="{BB962C8B-B14F-4D97-AF65-F5344CB8AC3E}">
        <p14:creationId xmlns:p14="http://schemas.microsoft.com/office/powerpoint/2010/main" val="3410577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42B8D9-9171-4F9E-CA2C-47620AE0D52E}"/>
              </a:ext>
            </a:extLst>
          </p:cNvPr>
          <p:cNvSpPr txBox="1"/>
          <p:nvPr/>
        </p:nvSpPr>
        <p:spPr>
          <a:xfrm>
            <a:off x="1967345" y="1939636"/>
            <a:ext cx="7841673" cy="1569660"/>
          </a:xfrm>
          <a:prstGeom prst="rect">
            <a:avLst/>
          </a:prstGeom>
          <a:noFill/>
        </p:spPr>
        <p:txBody>
          <a:bodyPr wrap="square" rtlCol="0">
            <a:spAutoFit/>
          </a:bodyPr>
          <a:lstStyle/>
          <a:p>
            <a:r>
              <a:rPr lang="en-GH" sz="9600" dirty="0"/>
              <a:t>THANK YOU.</a:t>
            </a:r>
          </a:p>
        </p:txBody>
      </p:sp>
    </p:spTree>
    <p:extLst>
      <p:ext uri="{BB962C8B-B14F-4D97-AF65-F5344CB8AC3E}">
        <p14:creationId xmlns:p14="http://schemas.microsoft.com/office/powerpoint/2010/main" val="353118063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1071</TotalTime>
  <Words>450</Words>
  <Application>Microsoft Macintosh PowerPoint</Application>
  <PresentationFormat>Widescreen</PresentationFormat>
  <Paragraphs>45</Paragraphs>
  <Slides>14</Slides>
  <Notes>2</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Gill Sans MT</vt:lpstr>
      <vt:lpstr>Gallery</vt:lpstr>
      <vt:lpstr>MICROPROCESSORS</vt:lpstr>
      <vt:lpstr>GROUP MEMBERS </vt:lpstr>
      <vt:lpstr>TABLE OF CONTENTS</vt:lpstr>
      <vt:lpstr>PROBLEM STATEMENT</vt:lpstr>
      <vt:lpstr>METHODOLOGY</vt:lpstr>
      <vt:lpstr>CODE  </vt:lpstr>
      <vt:lpstr>CODE</vt:lpstr>
      <vt:lpstr>SCHEMATIC</vt:lpstr>
      <vt:lpstr>SCHEMATIC</vt:lpstr>
      <vt:lpstr>DEMONSTRATION</vt:lpstr>
      <vt:lpstr>DEMONSTRATION</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owen Adiase</dc:creator>
  <cp:lastModifiedBy>owen Adiase</cp:lastModifiedBy>
  <cp:revision>3</cp:revision>
  <dcterms:created xsi:type="dcterms:W3CDTF">2026-03-28T16:15:50Z</dcterms:created>
  <dcterms:modified xsi:type="dcterms:W3CDTF">2026-03-29T14:17:03Z</dcterms:modified>
</cp:coreProperties>
</file>