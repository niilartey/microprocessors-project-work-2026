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539" r:id="rId3"/>
    <p:sldId id="537" r:id="rId4"/>
    <p:sldId id="550" r:id="rId5"/>
    <p:sldId id="542" r:id="rId6"/>
    <p:sldId id="540" r:id="rId7"/>
    <p:sldId id="543" r:id="rId8"/>
    <p:sldId id="553" r:id="rId9"/>
    <p:sldId id="552" r:id="rId10"/>
    <p:sldId id="545" r:id="rId11"/>
    <p:sldId id="546" r:id="rId12"/>
    <p:sldId id="548" r:id="rId13"/>
    <p:sldId id="549" r:id="rId14"/>
    <p:sldId id="547" r:id="rId15"/>
    <p:sldId id="53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71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8" autoAdjust="0"/>
    <p:restoredTop sz="94660"/>
  </p:normalViewPr>
  <p:slideViewPr>
    <p:cSldViewPr snapToGrid="0" showGuides="1">
      <p:cViewPr varScale="1">
        <p:scale>
          <a:sx n="106" d="100"/>
          <a:sy n="106" d="100"/>
        </p:scale>
        <p:origin x="558" y="114"/>
      </p:cViewPr>
      <p:guideLst>
        <p:guide orient="horz" pos="2182"/>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FFA59539-6AA4-4B20-8277-ACCA791514E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FA59539-6AA4-4B20-8277-ACCA791514E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02440" y="307011"/>
            <a:ext cx="6787025" cy="2986087"/>
          </a:xfrm>
        </p:spPr>
        <p:txBody>
          <a:bodyPr anchor="b"/>
          <a:lstStyle>
            <a:lvl1pPr algn="ctr">
              <a:defRPr sz="6000"/>
            </a:lvl1pPr>
          </a:lstStyle>
          <a:p>
            <a:r>
              <a:rPr lang="en-US"/>
              <a:t>Click to edit Master title style</a:t>
            </a:r>
            <a:endParaRPr lang="en-US" dirty="0"/>
          </a:p>
        </p:txBody>
      </p:sp>
      <p:sp>
        <p:nvSpPr>
          <p:cNvPr id="3" name="Text Placeholder 2"/>
          <p:cNvSpPr>
            <a:spLocks noGrp="1"/>
          </p:cNvSpPr>
          <p:nvPr>
            <p:ph type="body" idx="1"/>
          </p:nvPr>
        </p:nvSpPr>
        <p:spPr>
          <a:xfrm>
            <a:off x="4902440" y="3883454"/>
            <a:ext cx="6787025" cy="792283"/>
          </a:xfrm>
        </p:spPr>
        <p:txBody>
          <a:bodyPr/>
          <a:lstStyle>
            <a:lvl1pPr marL="0" indent="0" algn="ctr">
              <a:buNone/>
              <a:defRPr sz="2400">
                <a:solidFill>
                  <a:schemeClr val="bg2">
                    <a:lumMod val="1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4" name="Date Placeholder 3"/>
          <p:cNvSpPr>
            <a:spLocks noGrp="1"/>
          </p:cNvSpPr>
          <p:nvPr>
            <p:ph type="dt" sz="half" idx="10"/>
          </p:nvPr>
        </p:nvSpPr>
        <p:spPr>
          <a:xfrm>
            <a:off x="5023411" y="5266097"/>
            <a:ext cx="1482526" cy="365125"/>
          </a:xfrm>
        </p:spPr>
        <p:txBody>
          <a:bodyPr/>
          <a:lstStyle/>
          <a:p>
            <a:fld id="{FFA59539-6AA4-4B20-8277-ACCA791514EF}" type="datetimeFigureOut">
              <a:rPr lang="en-US" smtClean="0"/>
            </a:fld>
            <a:endParaRPr lang="en-US"/>
          </a:p>
        </p:txBody>
      </p:sp>
      <p:sp>
        <p:nvSpPr>
          <p:cNvPr id="5" name="Footer Placeholder 4"/>
          <p:cNvSpPr>
            <a:spLocks noGrp="1"/>
          </p:cNvSpPr>
          <p:nvPr>
            <p:ph type="ftr" sz="quarter" idx="11"/>
          </p:nvPr>
        </p:nvSpPr>
        <p:spPr>
          <a:xfrm>
            <a:off x="7071167" y="5266096"/>
            <a:ext cx="2026534" cy="365125"/>
          </a:xfrm>
        </p:spPr>
        <p:txBody>
          <a:bodyPr/>
          <a:lstStyle/>
          <a:p>
            <a:endParaRPr lang="en-US" dirty="0"/>
          </a:p>
        </p:txBody>
      </p:sp>
      <p:sp>
        <p:nvSpPr>
          <p:cNvPr id="6" name="Slide Number Placeholder 5"/>
          <p:cNvSpPr>
            <a:spLocks noGrp="1"/>
          </p:cNvSpPr>
          <p:nvPr>
            <p:ph type="sldNum" sz="quarter" idx="12"/>
          </p:nvPr>
        </p:nvSpPr>
        <p:spPr>
          <a:xfrm>
            <a:off x="9662931" y="5266095"/>
            <a:ext cx="2026534" cy="365125"/>
          </a:xfrm>
        </p:spPr>
        <p:txBody>
          <a:bodyPr/>
          <a:lstStyle/>
          <a:p>
            <a:fld id="{C52AFD5A-4082-4BE4-96FC-4C4C6076294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FFA59539-6AA4-4B20-8277-ACCA791514E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FA59539-6AA4-4B20-8277-ACCA791514EF}"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FA59539-6AA4-4B20-8277-ACCA791514EF}"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A59539-6AA4-4B20-8277-ACCA791514E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FA59539-6AA4-4B20-8277-ACCA791514E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FA59539-6AA4-4B20-8277-ACCA791514E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FA59539-6AA4-4B20-8277-ACCA791514E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FA59539-6AA4-4B20-8277-ACCA791514E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FA59539-6AA4-4B20-8277-ACCA791514E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2AFD5A-4082-4BE4-96FC-4C4C6076294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608924"/>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971081"/>
            <a:ext cx="10515600" cy="4277995"/>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A59539-6AA4-4B20-8277-ACCA791514EF}"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2AFD5A-4082-4BE4-96FC-4C4C6076294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b="1" kern="1200">
          <a:solidFill>
            <a:schemeClr val="accent6">
              <a:lumMod val="50000"/>
            </a:schemeClr>
          </a:solidFill>
          <a:latin typeface="+mn-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08965"/>
            <a:ext cx="10515600" cy="2128520"/>
          </a:xfrm>
        </p:spPr>
        <p:txBody>
          <a:bodyPr>
            <a:normAutofit/>
          </a:bodyPr>
          <a:p>
            <a:pPr algn="ctr"/>
            <a:r>
              <a:rPr lang="en-GB" altLang="en-US" sz="3200">
                <a:latin typeface="Times New Roman" panose="02020603050405020304" charset="0"/>
                <a:cs typeface="Times New Roman" panose="02020603050405020304" charset="0"/>
              </a:rPr>
              <a:t>MICROPROCESSORS PRESENTATION (GROUP 14)</a:t>
            </a:r>
            <a:br>
              <a:rPr lang="en-GB" altLang="en-US" sz="3200">
                <a:latin typeface="Times New Roman" panose="02020603050405020304" charset="0"/>
                <a:cs typeface="Times New Roman" panose="02020603050405020304" charset="0"/>
              </a:rPr>
            </a:br>
            <a:br>
              <a:rPr lang="en-GB" altLang="en-US" sz="3200">
                <a:latin typeface="Times New Roman" panose="02020603050405020304" charset="0"/>
                <a:cs typeface="Times New Roman" panose="02020603050405020304" charset="0"/>
              </a:rPr>
            </a:br>
            <a:r>
              <a:rPr lang="en-GB" altLang="en-US" sz="3200">
                <a:latin typeface="Times New Roman" panose="02020603050405020304" charset="0"/>
                <a:cs typeface="Times New Roman" panose="02020603050405020304" charset="0"/>
              </a:rPr>
              <a:t>TOPIC: Emergency Alert System for Patients</a:t>
            </a:r>
            <a:endParaRPr lang="en-GB" altLang="en-US" sz="32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2383790"/>
            <a:ext cx="10515600" cy="3865245"/>
          </a:xfrm>
        </p:spPr>
        <p:txBody>
          <a:bodyPr>
            <a:normAutofit fontScale="60000"/>
          </a:bodyPr>
          <a:p>
            <a:pPr marL="0" indent="0">
              <a:buNone/>
            </a:pPr>
            <a:r>
              <a:rPr lang="en-GB" altLang="en-US" b="1">
                <a:latin typeface="Times New Roman" panose="02020603050405020304" charset="0"/>
                <a:cs typeface="Times New Roman" panose="02020603050405020304" charset="0"/>
              </a:rPr>
              <a:t>GROUP MEMBERS</a:t>
            </a:r>
            <a:endParaRPr lang="en-GB" altLang="en-US" b="1">
              <a:latin typeface="Times New Roman" panose="02020603050405020304" charset="0"/>
              <a:cs typeface="Times New Roman" panose="02020603050405020304" charset="0"/>
            </a:endParaRPr>
          </a:p>
          <a:p>
            <a:pPr>
              <a:buFont typeface="Arial" panose="020B0604020202020204" pitchFamily="34" charset="0"/>
              <a:buChar char="•"/>
            </a:pPr>
            <a:r>
              <a:rPr lang="en-GB" altLang="en-US"/>
              <a:t>Deveer Benedict Nii - 7322323</a:t>
            </a:r>
            <a:endParaRPr lang="en-GB" altLang="en-US"/>
          </a:p>
          <a:p>
            <a:pPr>
              <a:buFont typeface="Arial" panose="020B0604020202020204" pitchFamily="34" charset="0"/>
              <a:buChar char="•"/>
            </a:pPr>
            <a:r>
              <a:rPr lang="en-GB" altLang="en-US"/>
              <a:t>Cornan John - 7321223</a:t>
            </a:r>
            <a:endParaRPr lang="en-GB" altLang="en-US"/>
          </a:p>
          <a:p>
            <a:pPr>
              <a:buFont typeface="Arial" panose="020B0604020202020204" pitchFamily="34" charset="0"/>
              <a:buChar char="•"/>
            </a:pPr>
            <a:r>
              <a:rPr lang="en-GB" altLang="en-US"/>
              <a:t>Boateng Lord Nkansah - 7320823</a:t>
            </a:r>
            <a:endParaRPr lang="en-GB" altLang="en-US"/>
          </a:p>
          <a:p>
            <a:pPr>
              <a:buFont typeface="Arial" panose="020B0604020202020204" pitchFamily="34" charset="0"/>
              <a:buChar char="•"/>
            </a:pPr>
            <a:r>
              <a:rPr lang="en-GB" altLang="en-US"/>
              <a:t>Manteaw Emmanuel - 7328823</a:t>
            </a:r>
            <a:endParaRPr lang="en-GB" altLang="en-US"/>
          </a:p>
          <a:p>
            <a:pPr>
              <a:buFont typeface="Arial" panose="020B0604020202020204" pitchFamily="34" charset="0"/>
              <a:buChar char="•"/>
            </a:pPr>
            <a:r>
              <a:rPr lang="en-GB" altLang="en-US"/>
              <a:t>Ofosu Maame Akua Henewaa - 7332023</a:t>
            </a:r>
            <a:endParaRPr lang="en-GB" altLang="en-US"/>
          </a:p>
          <a:p>
            <a:pPr>
              <a:buFont typeface="Arial" panose="020B0604020202020204" pitchFamily="34" charset="0"/>
              <a:buChar char="•"/>
            </a:pPr>
            <a:r>
              <a:rPr lang="en-GB" altLang="en-US"/>
              <a:t>Cudjoe Hermone - 7321423</a:t>
            </a:r>
            <a:endParaRPr lang="en-GB" altLang="en-US"/>
          </a:p>
          <a:p>
            <a:pPr>
              <a:buFont typeface="Arial" panose="020B0604020202020204" pitchFamily="34" charset="0"/>
              <a:buChar char="•"/>
            </a:pPr>
            <a:r>
              <a:rPr lang="en-GB" altLang="en-US"/>
              <a:t>Buabin Michael - 7321023</a:t>
            </a:r>
            <a:endParaRPr lang="en-GB" altLang="en-US"/>
          </a:p>
          <a:p>
            <a:pPr>
              <a:buFont typeface="Arial" panose="020B0604020202020204" pitchFamily="34" charset="0"/>
              <a:buChar char="•"/>
            </a:pPr>
            <a:r>
              <a:rPr lang="en-GB" altLang="en-US"/>
              <a:t>Issah Touffic - 7326223</a:t>
            </a:r>
            <a:endParaRPr lang="en-GB" altLang="en-US"/>
          </a:p>
          <a:p>
            <a:pPr>
              <a:buFont typeface="Arial" panose="020B0604020202020204" pitchFamily="34" charset="0"/>
              <a:buChar char="•"/>
            </a:pPr>
            <a:r>
              <a:rPr lang="en-GB" altLang="en-US"/>
              <a:t>Maisie Pius Kweku Emmanuel - 7328723</a:t>
            </a:r>
            <a:endParaRPr lang="en-GB" altLang="en-US"/>
          </a:p>
          <a:p>
            <a:endParaRPr lang="en-GB" altLang="en-US"/>
          </a:p>
          <a:p>
            <a:endParaRPr lang="en-GB"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2950" y="664210"/>
            <a:ext cx="10776585" cy="1010285"/>
          </a:xfrm>
          <a:prstGeom prst="rect">
            <a:avLst/>
          </a:prstGeom>
          <a:noFill/>
        </p:spPr>
        <p:txBody>
          <a:bodyPr wrap="square" rtlCol="0">
            <a:noAutofit/>
          </a:bodyPr>
          <a:p>
            <a:r>
              <a:rPr lang="en-GB" altLang="en-US" sz="4800">
                <a:latin typeface="Times New Roman" panose="02020603050405020304" charset="0"/>
                <a:cs typeface="Times New Roman" panose="02020603050405020304" charset="0"/>
              </a:rPr>
              <a:t>TABLE OF CONTENT</a:t>
            </a:r>
            <a:endParaRPr lang="en-GB" altLang="en-US" sz="4800">
              <a:latin typeface="Times New Roman" panose="02020603050405020304" charset="0"/>
              <a:cs typeface="Times New Roman" panose="02020603050405020304" charset="0"/>
            </a:endParaRPr>
          </a:p>
        </p:txBody>
      </p:sp>
      <p:sp>
        <p:nvSpPr>
          <p:cNvPr id="3" name="Text Box 2"/>
          <p:cNvSpPr txBox="1"/>
          <p:nvPr/>
        </p:nvSpPr>
        <p:spPr>
          <a:xfrm>
            <a:off x="742950" y="1417955"/>
            <a:ext cx="10776585" cy="4839335"/>
          </a:xfrm>
          <a:prstGeom prst="rect">
            <a:avLst/>
          </a:prstGeom>
          <a:noFill/>
        </p:spPr>
        <p:txBody>
          <a:bodyPr wrap="square" rtlCol="0">
            <a:noAutofit/>
          </a:bodyPr>
          <a:p>
            <a:pPr marL="285750" indent="-285750">
              <a:buFont typeface="Arial" panose="020B0604020202020204" pitchFamily="34" charset="0"/>
              <a:buChar char="•"/>
            </a:pPr>
            <a:r>
              <a:rPr lang="en-GB" altLang="en-US">
                <a:latin typeface="Times New Roman" panose="02020603050405020304" charset="0"/>
                <a:cs typeface="Times New Roman" panose="02020603050405020304" charset="0"/>
              </a:rPr>
              <a:t>Introduction</a:t>
            </a: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GB" altLang="en-US">
                <a:latin typeface="Times New Roman" panose="02020603050405020304" charset="0"/>
                <a:cs typeface="Times New Roman" panose="02020603050405020304" charset="0"/>
              </a:rPr>
              <a:t>Problem Statement</a:t>
            </a: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GB" altLang="en-US">
                <a:latin typeface="Times New Roman" panose="02020603050405020304" charset="0"/>
                <a:cs typeface="Times New Roman" panose="02020603050405020304" charset="0"/>
              </a:rPr>
              <a:t>Methodology </a:t>
            </a: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GB" altLang="en-US">
                <a:latin typeface="Times New Roman" panose="02020603050405020304" charset="0"/>
                <a:cs typeface="Times New Roman" panose="02020603050405020304" charset="0"/>
              </a:rPr>
              <a:t>Components used and their Functions</a:t>
            </a: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GB" altLang="en-US">
                <a:latin typeface="Times New Roman" panose="02020603050405020304" charset="0"/>
                <a:cs typeface="Times New Roman" panose="02020603050405020304" charset="0"/>
              </a:rPr>
              <a:t>Code Overview</a:t>
            </a: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GB" altLang="en-US">
                <a:latin typeface="Times New Roman" panose="02020603050405020304" charset="0"/>
                <a:cs typeface="Times New Roman" panose="02020603050405020304" charset="0"/>
              </a:rPr>
              <a:t>Circuit Schematic</a:t>
            </a: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GB" altLang="en-US">
                <a:latin typeface="Times New Roman" panose="02020603050405020304" charset="0"/>
                <a:cs typeface="Times New Roman" panose="02020603050405020304" charset="0"/>
              </a:rPr>
              <a:t>Demonstration</a:t>
            </a: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a:latin typeface="Times New Roman" panose="02020603050405020304" charset="0"/>
                <a:cs typeface="Times New Roman" panose="02020603050405020304" charset="0"/>
                <a:sym typeface="+mn-ea"/>
              </a:rPr>
              <a:t>Future Roadmap: Scalability &amp; Innovation</a:t>
            </a:r>
            <a:endParaRPr 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GB" altLang="en-US">
                <a:latin typeface="Times New Roman" panose="02020603050405020304" charset="0"/>
                <a:cs typeface="Times New Roman" panose="02020603050405020304" charset="0"/>
              </a:rPr>
              <a:t>Conclusion</a:t>
            </a: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GB" altLang="en-US">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INTRODUCTION</a:t>
            </a:r>
            <a:endParaRPr lang="en-GB" altLang="en-US"/>
          </a:p>
        </p:txBody>
      </p:sp>
      <p:sp>
        <p:nvSpPr>
          <p:cNvPr id="5" name="Content Placeholder 4"/>
          <p:cNvSpPr>
            <a:spLocks noGrp="1"/>
          </p:cNvSpPr>
          <p:nvPr>
            <p:ph idx="1"/>
          </p:nvPr>
        </p:nvSpPr>
        <p:spPr/>
        <p:txBody>
          <a:bodyPr/>
          <a:p>
            <a:pPr algn="just"/>
            <a:r>
              <a:rPr lang="en-US" altLang="en-US" sz="3200">
                <a:latin typeface="Times New Roman" panose="02020603050405020304" charset="0"/>
                <a:cs typeface="Times New Roman" panose="02020603050405020304" charset="0"/>
              </a:rPr>
              <a:t>In critical clinical environments, every second counts. Our project replaces outdated alert protocols with a high-reliability, priority-based Emergency System. By utilizing optimized C++ programming on an Arduino-based architecture, we’ve engineered a solution that captures, buffers, and displays multiple patient needs in a real-time status queue ensuring no distress signal is ever overlooked.</a:t>
            </a:r>
            <a:endParaRPr lang="en-US" altLang="en-US" sz="32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PROBLEM STATEMENT</a:t>
            </a:r>
            <a:endParaRPr lang="en-GB" altLang="en-US"/>
          </a:p>
        </p:txBody>
      </p:sp>
      <p:sp>
        <p:nvSpPr>
          <p:cNvPr id="5" name="Content Placeholder 4"/>
          <p:cNvSpPr>
            <a:spLocks noGrp="1"/>
          </p:cNvSpPr>
          <p:nvPr>
            <p:ph idx="1"/>
          </p:nvPr>
        </p:nvSpPr>
        <p:spPr/>
        <p:txBody>
          <a:bodyPr>
            <a:normAutofit fontScale="90000"/>
          </a:bodyPr>
          <a:p>
            <a:pPr marL="0" indent="0" algn="just">
              <a:buNone/>
            </a:pPr>
            <a:r>
              <a:rPr lang="en-US" altLang="en-US">
                <a:latin typeface="Times New Roman" panose="02020603050405020304" charset="0"/>
                <a:cs typeface="Times New Roman" panose="02020603050405020304" charset="0"/>
              </a:rPr>
              <a:t>The Critical Gap: Conventional patient-response protocols are often cost-prohibitive or lack a structured prioritization matrix for concurrent emergencies.</a:t>
            </a:r>
            <a:endParaRPr lang="en-US" altLang="en-US">
              <a:latin typeface="Times New Roman" panose="02020603050405020304" charset="0"/>
              <a:cs typeface="Times New Roman" panose="02020603050405020304" charset="0"/>
            </a:endParaRPr>
          </a:p>
          <a:p>
            <a:pPr marL="0" indent="0" algn="just">
              <a:buNone/>
            </a:pPr>
            <a:r>
              <a:rPr lang="en-US" altLang="en-US">
                <a:latin typeface="Times New Roman" panose="02020603050405020304" charset="0"/>
                <a:cs typeface="Times New Roman" panose="02020603050405020304" charset="0"/>
              </a:rPr>
              <a:t>The Risk: Delayed response times for immobile patients in distress can lead to preventable complications.</a:t>
            </a:r>
            <a:endParaRPr lang="en-US" altLang="en-US">
              <a:latin typeface="Times New Roman" panose="02020603050405020304" charset="0"/>
              <a:cs typeface="Times New Roman" panose="02020603050405020304" charset="0"/>
            </a:endParaRPr>
          </a:p>
          <a:p>
            <a:pPr marL="0" indent="0" algn="just">
              <a:buNone/>
            </a:pPr>
            <a:r>
              <a:rPr lang="en-US" altLang="en-US">
                <a:latin typeface="Times New Roman" panose="02020603050405020304" charset="0"/>
                <a:cs typeface="Times New Roman" panose="02020603050405020304" charset="0"/>
              </a:rPr>
              <a:t>Our Objective: To </a:t>
            </a:r>
            <a:r>
              <a:rPr lang="en-GB" altLang="en-US">
                <a:latin typeface="Times New Roman" panose="02020603050405020304" charset="0"/>
                <a:cs typeface="Times New Roman" panose="02020603050405020304" charset="0"/>
              </a:rPr>
              <a:t>design and build</a:t>
            </a:r>
            <a:r>
              <a:rPr lang="en-US" altLang="en-US">
                <a:latin typeface="Times New Roman" panose="02020603050405020304" charset="0"/>
                <a:cs typeface="Times New Roman" panose="02020603050405020304" charset="0"/>
              </a:rPr>
              <a:t> a low-cost, high-reliability Arduino-based system that:</a:t>
            </a:r>
            <a:endParaRPr lang="en-US" altLang="en-US">
              <a:latin typeface="Times New Roman" panose="02020603050405020304" charset="0"/>
              <a:cs typeface="Times New Roman" panose="02020603050405020304" charset="0"/>
            </a:endParaRPr>
          </a:p>
          <a:p>
            <a:pPr algn="just">
              <a:buFont typeface="Wingdings" panose="05000000000000000000" charset="0"/>
              <a:buChar char="v"/>
            </a:pPr>
            <a:r>
              <a:rPr lang="en-US" altLang="en-US">
                <a:latin typeface="Times New Roman" panose="02020603050405020304" charset="0"/>
                <a:cs typeface="Times New Roman" panose="02020603050405020304" charset="0"/>
              </a:rPr>
              <a:t>	Identifies specific patient locations instantly.</a:t>
            </a:r>
            <a:endParaRPr lang="en-US" altLang="en-US">
              <a:latin typeface="Times New Roman" panose="02020603050405020304" charset="0"/>
              <a:cs typeface="Times New Roman" panose="02020603050405020304" charset="0"/>
            </a:endParaRPr>
          </a:p>
          <a:p>
            <a:pPr algn="just">
              <a:buFont typeface="Wingdings" panose="05000000000000000000" charset="0"/>
              <a:buChar char="v"/>
            </a:pPr>
            <a:r>
              <a:rPr lang="en-US" altLang="en-US">
                <a:latin typeface="Times New Roman" panose="02020603050405020304" charset="0"/>
                <a:cs typeface="Times New Roman" panose="02020603050405020304" charset="0"/>
              </a:rPr>
              <a:t>	Synthesizes multiple alerts into a manageable status queue.</a:t>
            </a:r>
            <a:endParaRPr lang="en-US" altLang="en-US">
              <a:latin typeface="Times New Roman" panose="02020603050405020304" charset="0"/>
              <a:cs typeface="Times New Roman" panose="02020603050405020304" charset="0"/>
            </a:endParaRPr>
          </a:p>
          <a:p>
            <a:pPr algn="just">
              <a:buFont typeface="Wingdings" panose="05000000000000000000" charset="0"/>
              <a:buChar char="v"/>
            </a:pPr>
            <a:r>
              <a:rPr lang="en-US" altLang="en-US">
                <a:latin typeface="Times New Roman" panose="02020603050405020304" charset="0"/>
                <a:cs typeface="Times New Roman" panose="02020603050405020304" charset="0"/>
              </a:rPr>
              <a:t>	Provides multi-sensory feedback (Visual + Auditory) for medical staff.</a:t>
            </a:r>
            <a:endParaRPr lang="en-US" altLang="en-US">
              <a:latin typeface="Times New Roman" panose="02020603050405020304" charset="0"/>
              <a:cs typeface="Times New Roman" panose="02020603050405020304" charset="0"/>
            </a:endParaRPr>
          </a:p>
          <a:p>
            <a:pPr algn="just">
              <a:buFont typeface="Wingdings" panose="05000000000000000000" charset="0"/>
              <a:buChar char="v"/>
            </a:pPr>
            <a:endParaRPr lang="en-US" altLang="en-US">
              <a:latin typeface="Times New Roman" panose="02020603050405020304" charset="0"/>
              <a:cs typeface="Times New Roman" panose="02020603050405020304" charset="0"/>
            </a:endParaRPr>
          </a:p>
          <a:p>
            <a:pPr marL="0" indent="0" algn="just">
              <a:buNone/>
            </a:pPr>
            <a:endParaRPr lang="en-US" altLang="en-US"/>
          </a:p>
          <a:p>
            <a:pPr marL="0" indent="0" algn="just">
              <a:buNone/>
            </a:pP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METHODOLOGY</a:t>
            </a:r>
            <a:endParaRPr lang="en-GB" altLang="en-US"/>
          </a:p>
        </p:txBody>
      </p:sp>
      <p:sp>
        <p:nvSpPr>
          <p:cNvPr id="5" name="Content Placeholder 4"/>
          <p:cNvSpPr>
            <a:spLocks noGrp="1"/>
          </p:cNvSpPr>
          <p:nvPr>
            <p:ph idx="1"/>
          </p:nvPr>
        </p:nvSpPr>
        <p:spPr/>
        <p:txBody>
          <a:bodyPr>
            <a:normAutofit lnSpcReduction="10000"/>
          </a:bodyPr>
          <a:p>
            <a:pPr marL="514350" indent="-514350">
              <a:buFont typeface="+mj-lt"/>
              <a:buAutoNum type="arabicPeriod"/>
            </a:pPr>
            <a:r>
              <a:rPr lang="en-GB" altLang="en-US"/>
              <a:t>Identify the problem</a:t>
            </a:r>
            <a:endParaRPr lang="en-GB" altLang="en-US"/>
          </a:p>
          <a:p>
            <a:pPr marL="514350" indent="-514350">
              <a:buFont typeface="+mj-lt"/>
              <a:buAutoNum type="arabicPeriod"/>
            </a:pPr>
            <a:endParaRPr lang="en-GB" altLang="en-US"/>
          </a:p>
          <a:p>
            <a:pPr marL="514350" indent="-514350">
              <a:buFont typeface="+mj-lt"/>
              <a:buAutoNum type="arabicPeriod"/>
            </a:pPr>
            <a:r>
              <a:rPr lang="en-GB" altLang="en-US"/>
              <a:t>Design the system</a:t>
            </a:r>
            <a:endParaRPr lang="en-GB" altLang="en-US"/>
          </a:p>
          <a:p>
            <a:pPr marL="514350" indent="-514350">
              <a:buFont typeface="+mj-lt"/>
              <a:buAutoNum type="arabicPeriod"/>
            </a:pPr>
            <a:endParaRPr lang="en-GB" altLang="en-US"/>
          </a:p>
          <a:p>
            <a:pPr marL="514350" indent="-514350">
              <a:buFont typeface="+mj-lt"/>
              <a:buAutoNum type="arabicPeriod"/>
            </a:pPr>
            <a:r>
              <a:rPr lang="en-GB" altLang="en-US"/>
              <a:t>Build and wire the system</a:t>
            </a:r>
            <a:endParaRPr lang="en-GB" altLang="en-US"/>
          </a:p>
          <a:p>
            <a:pPr marL="514350" indent="-514350">
              <a:buFont typeface="+mj-lt"/>
              <a:buAutoNum type="arabicPeriod"/>
            </a:pPr>
            <a:endParaRPr lang="en-GB" altLang="en-US"/>
          </a:p>
          <a:p>
            <a:pPr marL="514350" indent="-514350">
              <a:buFont typeface="+mj-lt"/>
              <a:buAutoNum type="arabicPeriod"/>
            </a:pPr>
            <a:r>
              <a:rPr lang="en-GB" altLang="en-US"/>
              <a:t>Write the code </a:t>
            </a:r>
            <a:endParaRPr lang="en-GB" altLang="en-US"/>
          </a:p>
          <a:p>
            <a:pPr marL="514350" indent="-514350">
              <a:buFont typeface="+mj-lt"/>
              <a:buAutoNum type="arabicPeriod"/>
            </a:pPr>
            <a:endParaRPr lang="en-GB" altLang="en-US"/>
          </a:p>
          <a:p>
            <a:pPr marL="514350" indent="-514350">
              <a:buFont typeface="+mj-lt"/>
              <a:buAutoNum type="arabicPeriod"/>
            </a:pPr>
            <a:r>
              <a:rPr lang="en-GB" altLang="en-US"/>
              <a:t>Test the system</a:t>
            </a:r>
            <a:endParaRPr lang="en-GB"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latin typeface="Times New Roman" panose="02020603050405020304" charset="0"/>
                <a:cs typeface="Times New Roman" panose="02020603050405020304" charset="0"/>
                <a:sym typeface="+mn-ea"/>
              </a:rPr>
              <a:t>Components used and their Functions</a:t>
            </a:r>
            <a:endParaRPr lang="en-US"/>
          </a:p>
        </p:txBody>
      </p:sp>
      <p:sp>
        <p:nvSpPr>
          <p:cNvPr id="5" name="Content Placeholder 4"/>
          <p:cNvSpPr>
            <a:spLocks noGrp="1"/>
          </p:cNvSpPr>
          <p:nvPr>
            <p:ph idx="1"/>
          </p:nvPr>
        </p:nvSpPr>
        <p:spPr/>
        <p:txBody>
          <a:bodyPr>
            <a:normAutofit fontScale="90000" lnSpcReduction="10000"/>
          </a:bodyPr>
          <a:p>
            <a:pPr>
              <a:buFont typeface="Wingdings" panose="05000000000000000000" charset="0"/>
              <a:buChar char="Ø"/>
            </a:pPr>
            <a:r>
              <a:rPr lang="en-GB" altLang="en-US" sz="2665">
                <a:latin typeface="Times New Roman" panose="02020603050405020304" charset="0"/>
                <a:cs typeface="Times New Roman" panose="02020603050405020304" charset="0"/>
              </a:rPr>
              <a:t>Adruino Uno Mini</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Push button</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Potentiometer</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Piezo buzzer</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LCD 16x2 (12c) display</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Reset button</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Light Emitting Diode(LED)</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Resistor (220</a:t>
            </a:r>
            <a:r>
              <a:rPr lang="en-US" altLang="en-US" sz="2665">
                <a:latin typeface="Times New Roman" panose="02020603050405020304" charset="0"/>
                <a:cs typeface="Times New Roman" panose="02020603050405020304" charset="0"/>
              </a:rPr>
              <a:t>Ω</a:t>
            </a:r>
            <a:r>
              <a:rPr lang="en-GB" sz="2665">
                <a:latin typeface="Times New Roman" panose="02020603050405020304" charset="0"/>
                <a:cs typeface="Times New Roman" panose="02020603050405020304" charset="0"/>
              </a:rPr>
              <a:t>)</a:t>
            </a:r>
            <a:endParaRPr lang="en-US"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Breadboard</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r>
              <a:rPr lang="en-GB" altLang="en-US" sz="2665">
                <a:latin typeface="Times New Roman" panose="02020603050405020304" charset="0"/>
                <a:cs typeface="Times New Roman" panose="02020603050405020304" charset="0"/>
              </a:rPr>
              <a:t>Male and Female jumpers</a:t>
            </a:r>
            <a:endParaRPr lang="en-GB" altLang="en-US" sz="2665">
              <a:latin typeface="Times New Roman" panose="02020603050405020304" charset="0"/>
              <a:cs typeface="Times New Roman" panose="02020603050405020304" charset="0"/>
            </a:endParaRPr>
          </a:p>
          <a:p>
            <a:pPr>
              <a:buFont typeface="Wingdings" panose="05000000000000000000" charset="0"/>
              <a:buChar char="Ø"/>
            </a:pPr>
            <a:endParaRPr lang="en-GB" altLang="en-US"/>
          </a:p>
          <a:p>
            <a:pPr>
              <a:buFont typeface="Wingdings" panose="05000000000000000000" charset="0"/>
              <a:buChar char="Ø"/>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t>CODE OVERVIEW</a:t>
            </a:r>
            <a:endParaRPr lang="en-GB" altLang="en-US"/>
          </a:p>
        </p:txBody>
      </p:sp>
      <p:sp>
        <p:nvSpPr>
          <p:cNvPr id="5" name="Content Placeholder 4"/>
          <p:cNvSpPr>
            <a:spLocks noGrp="1"/>
          </p:cNvSpPr>
          <p:nvPr>
            <p:ph idx="1"/>
          </p:nvPr>
        </p:nvSpPr>
        <p:spPr/>
        <p:txBody>
          <a:bodyPr/>
          <a:p>
            <a:pPr algn="just"/>
            <a:r>
              <a:rPr lang="en-US" altLang="en-US" sz="1600">
                <a:latin typeface="Times New Roman" panose="02020603050405020304" charset="0"/>
                <a:cs typeface="Times New Roman" panose="02020603050405020304" charset="0"/>
              </a:rPr>
              <a:t>This Arduino-based system manages patient calls in a hospital using a digital queue displayed on a two-row LCD. The addAlert() function will be called whenever a button connected to pin 12 or 13 is pressed, which will register the patient and sound a buzzer connected to pin 2 for 3 seconds and light an LED connected to pin A0. The promoteFromQueue() function will hold extra patient information in a waiting list and move them to the display as soon as a slot is available, as the LCD display will only show two patients at a time.</a:t>
            </a:r>
            <a:endParaRPr lang="en-US" altLang="en-US" sz="1600">
              <a:latin typeface="Times New Roman" panose="02020603050405020304" charset="0"/>
              <a:cs typeface="Times New Roman" panose="02020603050405020304" charset="0"/>
            </a:endParaRPr>
          </a:p>
          <a:p>
            <a:pPr algn="just"/>
            <a:endParaRPr lang="en-US" altLang="en-US" sz="1600">
              <a:latin typeface="Times New Roman" panose="02020603050405020304" charset="0"/>
              <a:cs typeface="Times New Roman" panose="02020603050405020304" charset="0"/>
            </a:endParaRPr>
          </a:p>
        </p:txBody>
      </p:sp>
      <p:pic>
        <p:nvPicPr>
          <p:cNvPr id="1957689821" name="Picture 1"/>
          <p:cNvPicPr/>
          <p:nvPr/>
        </p:nvPicPr>
        <p:blipFill>
          <a:blip r:embed="rId1"/>
          <a:stretch>
            <a:fillRect/>
          </a:stretch>
        </p:blipFill>
        <p:spPr>
          <a:xfrm>
            <a:off x="3456940" y="3166428"/>
            <a:ext cx="4103370" cy="1886585"/>
          </a:xfrm>
          <a:prstGeom prst="rect">
            <a:avLst/>
          </a:prstGeom>
        </p:spPr>
      </p:pic>
      <p:sp>
        <p:nvSpPr>
          <p:cNvPr id="6" name="Text Box 5"/>
          <p:cNvSpPr txBox="1"/>
          <p:nvPr/>
        </p:nvSpPr>
        <p:spPr>
          <a:xfrm>
            <a:off x="1041400" y="5053330"/>
            <a:ext cx="10407650" cy="1127760"/>
          </a:xfrm>
          <a:prstGeom prst="rect">
            <a:avLst/>
          </a:prstGeom>
          <a:noFill/>
        </p:spPr>
        <p:txBody>
          <a:bodyPr wrap="square" rtlCol="0">
            <a:noAutofit/>
          </a:bodyPr>
          <a:p>
            <a:r>
              <a:rPr lang="en-GB" altLang="en-US" sz="1600">
                <a:latin typeface="Times New Roman" panose="02020603050405020304" charset="0"/>
                <a:cs typeface="Times New Roman" panose="02020603050405020304" charset="0"/>
              </a:rPr>
              <a:t>P</a:t>
            </a:r>
            <a:r>
              <a:rPr lang="en-US" altLang="en-US" sz="1600">
                <a:latin typeface="Times New Roman" panose="02020603050405020304" charset="0"/>
                <a:cs typeface="Times New Roman" panose="02020603050405020304" charset="0"/>
              </a:rPr>
              <a:t>ressing the reset button connected to pin 5 will invoke the dismissAlert() function, clearing the top priority alert and shifting all the remaining queue upwards. To decongest the system, the checkExpiry() function will automatically remove the alert that has not been acknowledged in more than two minutes. The LED will stay on as long as the alert is active and will switch off only when the queue is empty.</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18328477" name="Picture 1"/>
          <p:cNvPicPr>
            <a:picLocks noChangeAspect="1"/>
          </p:cNvPicPr>
          <p:nvPr>
            <p:ph idx="1"/>
          </p:nvPr>
        </p:nvPicPr>
        <p:blipFill>
          <a:blip r:embed="rId1"/>
          <a:stretch>
            <a:fillRect/>
          </a:stretch>
        </p:blipFill>
        <p:spPr>
          <a:xfrm>
            <a:off x="815975" y="760730"/>
            <a:ext cx="4636770" cy="2301875"/>
          </a:xfrm>
          <a:prstGeom prst="rect">
            <a:avLst/>
          </a:prstGeom>
        </p:spPr>
      </p:pic>
      <p:sp>
        <p:nvSpPr>
          <p:cNvPr id="6" name="Text Box 5"/>
          <p:cNvSpPr txBox="1"/>
          <p:nvPr/>
        </p:nvSpPr>
        <p:spPr>
          <a:xfrm>
            <a:off x="760730" y="2523490"/>
            <a:ext cx="10513695" cy="863600"/>
          </a:xfrm>
          <a:prstGeom prst="rect">
            <a:avLst/>
          </a:prstGeom>
          <a:noFill/>
        </p:spPr>
        <p:txBody>
          <a:bodyPr wrap="square" rtlCol="0">
            <a:noAutofit/>
          </a:bodyPr>
          <a:p>
            <a:endParaRPr lang="en-US"/>
          </a:p>
        </p:txBody>
      </p:sp>
      <p:sp>
        <p:nvSpPr>
          <p:cNvPr id="7" name="Text Box 6"/>
          <p:cNvSpPr txBox="1"/>
          <p:nvPr/>
        </p:nvSpPr>
        <p:spPr>
          <a:xfrm>
            <a:off x="760730" y="3207385"/>
            <a:ext cx="10386060" cy="678180"/>
          </a:xfrm>
          <a:prstGeom prst="rect">
            <a:avLst/>
          </a:prstGeom>
          <a:noFill/>
        </p:spPr>
        <p:txBody>
          <a:bodyPr wrap="square" rtlCol="0">
            <a:noAutofit/>
          </a:bodyPr>
          <a:p>
            <a:r>
              <a:rPr lang="en-US" altLang="en-US" sz="1600">
                <a:latin typeface="Times New Roman" panose="02020603050405020304" charset="0"/>
                <a:cs typeface="Times New Roman" panose="02020603050405020304" charset="0"/>
              </a:rPr>
              <a:t>All of this runs inside the loop() function which acts as the heartbeat of the program, constantly checking buttons, managing alerts and keeping the display up to date, making sure the system is always ready to respond the moment a patient needs help</a:t>
            </a:r>
            <a:endParaRPr lang="en-US" sz="1600">
              <a:latin typeface="Times New Roman" panose="02020603050405020304" charset="0"/>
              <a:cs typeface="Times New Roman" panose="02020603050405020304" charset="0"/>
            </a:endParaRPr>
          </a:p>
        </p:txBody>
      </p:sp>
      <p:pic>
        <p:nvPicPr>
          <p:cNvPr id="402577785" name="Picture 1"/>
          <p:cNvPicPr/>
          <p:nvPr/>
        </p:nvPicPr>
        <p:blipFill>
          <a:blip r:embed="rId2"/>
          <a:stretch>
            <a:fillRect/>
          </a:stretch>
        </p:blipFill>
        <p:spPr>
          <a:xfrm>
            <a:off x="3238500" y="3947795"/>
            <a:ext cx="4271645" cy="2146300"/>
          </a:xfrm>
          <a:prstGeom prst="rect">
            <a:avLst/>
          </a:prstGeom>
        </p:spPr>
      </p:pic>
      <p:pic>
        <p:nvPicPr>
          <p:cNvPr id="722555069" name="Picture 1"/>
          <p:cNvPicPr/>
          <p:nvPr/>
        </p:nvPicPr>
        <p:blipFill>
          <a:blip r:embed="rId3"/>
          <a:stretch>
            <a:fillRect/>
          </a:stretch>
        </p:blipFill>
        <p:spPr>
          <a:xfrm>
            <a:off x="6207125" y="760730"/>
            <a:ext cx="4794250" cy="23018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latin typeface="Times New Roman" panose="02020603050405020304" charset="0"/>
                <a:cs typeface="Times New Roman" panose="02020603050405020304" charset="0"/>
                <a:sym typeface="+mn-ea"/>
              </a:rPr>
              <a:t>Circuit Schematic</a:t>
            </a:r>
            <a:endParaRPr lang="en-US"/>
          </a:p>
        </p:txBody>
      </p:sp>
      <p:pic>
        <p:nvPicPr>
          <p:cNvPr id="6" name="Content Placeholder 5"/>
          <p:cNvPicPr>
            <a:picLocks noChangeAspect="1"/>
          </p:cNvPicPr>
          <p:nvPr>
            <p:ph idx="1"/>
          </p:nvPr>
        </p:nvPicPr>
        <p:blipFill>
          <a:blip r:embed="rId1"/>
          <a:stretch>
            <a:fillRect/>
          </a:stretch>
        </p:blipFill>
        <p:spPr>
          <a:xfrm>
            <a:off x="765810" y="1703705"/>
            <a:ext cx="5217160" cy="4455795"/>
          </a:xfrm>
          <a:prstGeom prst="rect">
            <a:avLst/>
          </a:prstGeom>
        </p:spPr>
      </p:pic>
      <p:pic>
        <p:nvPicPr>
          <p:cNvPr id="2" name="Picture 1"/>
          <p:cNvPicPr>
            <a:picLocks noChangeAspect="1"/>
          </p:cNvPicPr>
          <p:nvPr/>
        </p:nvPicPr>
        <p:blipFill>
          <a:blip r:embed="rId2"/>
          <a:stretch>
            <a:fillRect/>
          </a:stretch>
        </p:blipFill>
        <p:spPr>
          <a:xfrm>
            <a:off x="5982335" y="1703070"/>
            <a:ext cx="5371465" cy="44119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608965"/>
            <a:ext cx="10515600" cy="998855"/>
          </a:xfrm>
        </p:spPr>
        <p:txBody>
          <a:bodyPr/>
          <a:p>
            <a:r>
              <a:rPr lang="en-GB" altLang="en-US">
                <a:latin typeface="Times New Roman" panose="02020603050405020304" charset="0"/>
                <a:cs typeface="Times New Roman" panose="02020603050405020304" charset="0"/>
                <a:sym typeface="+mn-ea"/>
              </a:rPr>
              <a:t>Demonstration</a:t>
            </a:r>
            <a:endParaRPr lang="en-US"/>
          </a:p>
        </p:txBody>
      </p:sp>
      <p:sp>
        <p:nvSpPr>
          <p:cNvPr id="5" name="Content Placeholder 4"/>
          <p:cNvSpPr>
            <a:spLocks noGrp="1"/>
          </p:cNvSpPr>
          <p:nvPr>
            <p:ph idx="1"/>
          </p:nvPr>
        </p:nvSpPr>
        <p:spPr>
          <a:xfrm>
            <a:off x="838200" y="1396365"/>
            <a:ext cx="10515600" cy="4852670"/>
          </a:xfrm>
        </p:spPr>
        <p:txBody>
          <a:bodyPr>
            <a:noAutofit/>
          </a:bodyPr>
          <a:p>
            <a:pPr marL="0" indent="0" algn="just">
              <a:buNone/>
            </a:pPr>
            <a:r>
              <a:rPr lang="en-GB"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The System Demonstration </a:t>
            </a:r>
            <a:r>
              <a:rPr lang="en-GB" altLang="en-US" sz="2000">
                <a:latin typeface="Times New Roman" panose="02020603050405020304" charset="0"/>
                <a:cs typeface="Times New Roman" panose="02020603050405020304" charset="0"/>
              </a:rPr>
              <a:t>and</a:t>
            </a:r>
            <a:r>
              <a:rPr lang="en-US" altLang="en-US" sz="2000">
                <a:latin typeface="Times New Roman" panose="02020603050405020304" charset="0"/>
                <a:cs typeface="Times New Roman" panose="02020603050405020304" charset="0"/>
              </a:rPr>
              <a:t> Hardware Integration project entails creating a patient alert system, which has various states and hardware. The states in the patient alert system are System Ready, Single Patient Alert, Stacked Alerts, and System Reset.</a:t>
            </a:r>
            <a:endParaRPr lang="en-US" altLang="en-US" sz="2000">
              <a:latin typeface="Times New Roman" panose="02020603050405020304" charset="0"/>
              <a:cs typeface="Times New Roman" panose="02020603050405020304" charset="0"/>
            </a:endParaRPr>
          </a:p>
          <a:p>
            <a:pPr marL="0" indent="0" algn="just">
              <a:buNone/>
            </a:pPr>
            <a:r>
              <a:rPr lang="en-GB"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In the System Ready state, the system is initialized, and the LCD shows "System Ready." The LED and buzzer are not activated. However, when a patient sends an alert, for example, "Patient 1," the system moves to the Single Patient Alert state, where the LCD shows an emergency message, the LED is activated, and the buzzer beeps for </a:t>
            </a:r>
            <a:r>
              <a:rPr lang="en-GB" altLang="en-US" sz="2000">
                <a:latin typeface="Times New Roman" panose="02020603050405020304" charset="0"/>
                <a:cs typeface="Times New Roman" panose="02020603050405020304" charset="0"/>
              </a:rPr>
              <a:t>5</a:t>
            </a:r>
            <a:r>
              <a:rPr lang="en-US" altLang="en-US" sz="2000">
                <a:latin typeface="Times New Roman" panose="02020603050405020304" charset="0"/>
                <a:cs typeface="Times New Roman" panose="02020603050405020304" charset="0"/>
              </a:rPr>
              <a:t> seconds. When another patient, for example, "Patient 2," sends an alert, the system moves to the Stacked Alerts state, where priority is managed on the LCD and the buzzer is re-triggered.</a:t>
            </a:r>
            <a:endParaRPr lang="en-US" altLang="en-US" sz="2000">
              <a:latin typeface="Times New Roman" panose="02020603050405020304" charset="0"/>
              <a:cs typeface="Times New Roman" panose="02020603050405020304" charset="0"/>
            </a:endParaRPr>
          </a:p>
          <a:p>
            <a:pPr marL="0" indent="0" algn="just">
              <a:buNone/>
            </a:pPr>
            <a:r>
              <a:rPr lang="en-GB"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In terms of hardware, the patient alert system has an Arduino Uno microcontroller, a 16x2 LCD display, a potentiometer for LCD contrast, a piezo buzzer, and a status LED. Three tactile switches are used for user input for "Patient 1 Call," "Patient 2 Call," and "System Reset." The patient alert system has pull-down resistors for logic transition stability and current-limiting resistors for the LED.</a:t>
            </a:r>
            <a:endParaRPr lang="en-US" altLang="en-US" sz="2000">
              <a:latin typeface="Times New Roman" panose="02020603050405020304" charset="0"/>
              <a:cs typeface="Times New Roman" panose="02020603050405020304" charset="0"/>
            </a:endParaRPr>
          </a:p>
          <a:p>
            <a:pPr marL="0" indent="0" algn="just">
              <a:buNone/>
            </a:pPr>
            <a:r>
              <a:rPr lang="en-GB" altLang="en-US" sz="2000">
                <a:latin typeface="Times New Roman" panose="02020603050405020304" charset="0"/>
                <a:cs typeface="Times New Roman" panose="02020603050405020304" charset="0"/>
              </a:rPr>
              <a:t>      </a:t>
            </a:r>
            <a:r>
              <a:rPr lang="en-US" altLang="en-US" sz="2000">
                <a:latin typeface="Times New Roman" panose="02020603050405020304" charset="0"/>
                <a:cs typeface="Times New Roman" panose="02020603050405020304" charset="0"/>
              </a:rPr>
              <a:t>In terms of programming, the patient alert system is programmed in C</a:t>
            </a:r>
            <a:r>
              <a:rPr lang="en-GB" altLang="en-US" sz="2000">
                <a:latin typeface="Times New Roman" panose="02020603050405020304" charset="0"/>
                <a:cs typeface="Times New Roman" panose="02020603050405020304" charset="0"/>
              </a:rPr>
              <a:t>++</a:t>
            </a:r>
            <a:r>
              <a:rPr lang="en-US" altLang="en-US" sz="2000">
                <a:latin typeface="Times New Roman" panose="02020603050405020304" charset="0"/>
                <a:cs typeface="Times New Roman" panose="02020603050405020304" charset="0"/>
              </a:rPr>
              <a:t> and is implemented in the Arduino Framework, using the LiquidCrystal library. The patient alert system is validated through two stages: Tinkercad digital simulation and prototyping.</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840105" y="845185"/>
            <a:ext cx="3271520" cy="4899025"/>
          </a:xfrm>
          <a:prstGeom prst="rect">
            <a:avLst/>
          </a:prstGeom>
        </p:spPr>
      </p:pic>
      <p:pic>
        <p:nvPicPr>
          <p:cNvPr id="5" name="Picture 4"/>
          <p:cNvPicPr>
            <a:picLocks noChangeAspect="1"/>
          </p:cNvPicPr>
          <p:nvPr/>
        </p:nvPicPr>
        <p:blipFill>
          <a:blip r:embed="rId2"/>
          <a:stretch>
            <a:fillRect/>
          </a:stretch>
        </p:blipFill>
        <p:spPr>
          <a:xfrm>
            <a:off x="4349115" y="845185"/>
            <a:ext cx="3778250" cy="4898390"/>
          </a:xfrm>
          <a:prstGeom prst="rect">
            <a:avLst/>
          </a:prstGeom>
        </p:spPr>
      </p:pic>
      <p:pic>
        <p:nvPicPr>
          <p:cNvPr id="6" name="Picture 5"/>
          <p:cNvPicPr>
            <a:picLocks noChangeAspect="1"/>
          </p:cNvPicPr>
          <p:nvPr/>
        </p:nvPicPr>
        <p:blipFill>
          <a:blip r:embed="rId3"/>
          <a:stretch>
            <a:fillRect/>
          </a:stretch>
        </p:blipFill>
        <p:spPr>
          <a:xfrm>
            <a:off x="8427085" y="845185"/>
            <a:ext cx="3012440" cy="48990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sym typeface="+mn-ea"/>
              </a:rPr>
              <a:t>Future Roadmap: Scalability &amp; Innovation</a:t>
            </a:r>
            <a:endParaRPr lang="en-US"/>
          </a:p>
        </p:txBody>
      </p:sp>
      <p:sp>
        <p:nvSpPr>
          <p:cNvPr id="5" name="Content Placeholder 4"/>
          <p:cNvSpPr>
            <a:spLocks noGrp="1"/>
          </p:cNvSpPr>
          <p:nvPr>
            <p:ph idx="1"/>
          </p:nvPr>
        </p:nvSpPr>
        <p:spPr>
          <a:xfrm>
            <a:off x="838200" y="1697355"/>
            <a:ext cx="10515600" cy="4551680"/>
          </a:xfrm>
        </p:spPr>
        <p:txBody>
          <a:bodyPr>
            <a:noAutofit/>
          </a:bodyPr>
          <a:p>
            <a:pPr marL="0" indent="0">
              <a:buNone/>
            </a:pPr>
            <a:r>
              <a:rPr lang="en-US" altLang="en-US" sz="1700">
                <a:latin typeface="Times New Roman" panose="02020603050405020304" charset="0"/>
                <a:cs typeface="Times New Roman" panose="02020603050405020304" charset="0"/>
              </a:rPr>
              <a:t>1. </a:t>
            </a:r>
            <a:r>
              <a:rPr lang="en-US" altLang="en-US" sz="1700" b="1">
                <a:latin typeface="Times New Roman" panose="02020603050405020304" charset="0"/>
                <a:cs typeface="Times New Roman" panose="02020603050405020304" charset="0"/>
              </a:rPr>
              <a:t>Hybrid Wireless Connectivity</a:t>
            </a:r>
            <a:endParaRPr lang="en-US" altLang="en-US" sz="1700" b="1">
              <a:latin typeface="Times New Roman" panose="02020603050405020304" charset="0"/>
              <a:cs typeface="Times New Roman" panose="02020603050405020304" charset="0"/>
            </a:endParaRPr>
          </a:p>
          <a:p>
            <a:pPr marL="0" indent="0">
              <a:buNone/>
            </a:pPr>
            <a:r>
              <a:rPr lang="en-US" altLang="en-US" sz="1700">
                <a:latin typeface="Times New Roman" panose="02020603050405020304" charset="0"/>
                <a:cs typeface="Times New Roman" panose="02020603050405020304" charset="0"/>
              </a:rPr>
              <a:t>IoT (Wi-Fi): This will allow campus-wide monitoring, where the server can monitor alerts from different wards or buildings without distance constraints.</a:t>
            </a:r>
            <a:endParaRPr lang="en-US" altLang="en-US" sz="1700">
              <a:latin typeface="Times New Roman" panose="02020603050405020304" charset="0"/>
              <a:cs typeface="Times New Roman" panose="02020603050405020304" charset="0"/>
            </a:endParaRPr>
          </a:p>
          <a:p>
            <a:pPr marL="0" indent="0">
              <a:buNone/>
            </a:pPr>
            <a:r>
              <a:rPr lang="en-US" altLang="en-US" sz="1700">
                <a:latin typeface="Times New Roman" panose="02020603050405020304" charset="0"/>
                <a:cs typeface="Times New Roman" panose="02020603050405020304" charset="0"/>
              </a:rPr>
              <a:t>Bluetooth (BLE): This will allow for low power, high-speed communication for instant "Room-to-Reception" alerts over shorter distances.</a:t>
            </a:r>
            <a:endParaRPr lang="en-US" altLang="en-US" sz="1700">
              <a:latin typeface="Times New Roman" panose="02020603050405020304" charset="0"/>
              <a:cs typeface="Times New Roman" panose="02020603050405020304" charset="0"/>
            </a:endParaRPr>
          </a:p>
          <a:p>
            <a:pPr marL="0" indent="0">
              <a:lnSpc>
                <a:spcPct val="80000"/>
              </a:lnSpc>
              <a:buNone/>
            </a:pPr>
            <a:r>
              <a:rPr lang="en-US" altLang="en-US" sz="1700">
                <a:latin typeface="Times New Roman" panose="02020603050405020304" charset="0"/>
                <a:cs typeface="Times New Roman" panose="02020603050405020304" charset="0"/>
              </a:rPr>
              <a:t>2. </a:t>
            </a:r>
            <a:r>
              <a:rPr lang="en-US" altLang="en-US" sz="1700" b="1">
                <a:latin typeface="Times New Roman" panose="02020603050405020304" charset="0"/>
                <a:cs typeface="Times New Roman" panose="02020603050405020304" charset="0"/>
              </a:rPr>
              <a:t>Infrastructure Optimization</a:t>
            </a:r>
            <a:endParaRPr lang="en-US" altLang="en-US" sz="1700">
              <a:latin typeface="Times New Roman" panose="02020603050405020304" charset="0"/>
              <a:cs typeface="Times New Roman" panose="02020603050405020304" charset="0"/>
            </a:endParaRPr>
          </a:p>
          <a:p>
            <a:pPr marL="0" indent="0">
              <a:lnSpc>
                <a:spcPct val="80000"/>
              </a:lnSpc>
              <a:buNone/>
            </a:pPr>
            <a:r>
              <a:rPr lang="en-US" altLang="en-US" sz="1700">
                <a:latin typeface="Times New Roman" panose="02020603050405020304" charset="0"/>
                <a:cs typeface="Times New Roman" panose="02020603050405020304" charset="0"/>
              </a:rPr>
              <a:t>Cost Reduction: This will eliminate the need for costly cabling, which would have meant significant labor costs for routing the wires through the hospital walls.</a:t>
            </a:r>
            <a:endParaRPr lang="en-US" altLang="en-US" sz="1700">
              <a:latin typeface="Times New Roman" panose="02020603050405020304" charset="0"/>
              <a:cs typeface="Times New Roman" panose="02020603050405020304" charset="0"/>
            </a:endParaRPr>
          </a:p>
          <a:p>
            <a:pPr marL="0" indent="0">
              <a:buNone/>
            </a:pPr>
            <a:r>
              <a:rPr lang="en-US" altLang="en-US" sz="1700">
                <a:latin typeface="Times New Roman" panose="02020603050405020304" charset="0"/>
                <a:cs typeface="Times New Roman" panose="02020603050405020304" charset="0"/>
              </a:rPr>
              <a:t>Seamless Maintenance: Moving over to "Plug-and-Play" wireless nodes will reduce system down time during maintenance or upgrade activities.</a:t>
            </a:r>
            <a:endParaRPr lang="en-US" altLang="en-US" sz="1700">
              <a:latin typeface="Times New Roman" panose="02020603050405020304" charset="0"/>
              <a:cs typeface="Times New Roman" panose="02020603050405020304" charset="0"/>
            </a:endParaRPr>
          </a:p>
          <a:p>
            <a:pPr marL="0" indent="0">
              <a:buNone/>
            </a:pPr>
            <a:r>
              <a:rPr lang="en-US" altLang="en-US" sz="1700">
                <a:latin typeface="Times New Roman" panose="02020603050405020304" charset="0"/>
                <a:cs typeface="Times New Roman" panose="02020603050405020304" charset="0"/>
              </a:rPr>
              <a:t>3.</a:t>
            </a:r>
            <a:r>
              <a:rPr lang="en-US" altLang="en-US" sz="1700" b="1">
                <a:latin typeface="Times New Roman" panose="02020603050405020304" charset="0"/>
                <a:cs typeface="Times New Roman" panose="02020603050405020304" charset="0"/>
              </a:rPr>
              <a:t> Human Machine Interface (HMI) Evolution</a:t>
            </a:r>
            <a:endParaRPr lang="en-US" altLang="en-US" sz="1700" b="1">
              <a:latin typeface="Times New Roman" panose="02020603050405020304" charset="0"/>
              <a:cs typeface="Times New Roman" panose="02020603050405020304" charset="0"/>
            </a:endParaRPr>
          </a:p>
          <a:p>
            <a:pPr marL="0" indent="0">
              <a:buNone/>
            </a:pPr>
            <a:r>
              <a:rPr lang="en-US" altLang="en-US" sz="1700">
                <a:latin typeface="Times New Roman" panose="02020603050405020304" charset="0"/>
                <a:cs typeface="Times New Roman" panose="02020603050405020304" charset="0"/>
              </a:rPr>
              <a:t>Capacitive Touch: This will replace traditional buttons with touch-sensitive pads, which will reduce wear and tear on the system.</a:t>
            </a:r>
            <a:endParaRPr lang="en-US" altLang="en-US" sz="1700">
              <a:latin typeface="Times New Roman" panose="02020603050405020304" charset="0"/>
              <a:cs typeface="Times New Roman" panose="02020603050405020304" charset="0"/>
            </a:endParaRPr>
          </a:p>
          <a:p>
            <a:pPr marL="0" indent="0">
              <a:buNone/>
            </a:pPr>
            <a:r>
              <a:rPr lang="en-US" altLang="en-US" sz="1700">
                <a:latin typeface="Times New Roman" panose="02020603050405020304" charset="0"/>
                <a:cs typeface="Times New Roman" panose="02020603050405020304" charset="0"/>
              </a:rPr>
              <a:t>Clinical Hygiene: Touch-sensitive surfaces are easier to sanitize, which will directly contribute to hospital hygiene, infection control, and sterilization.</a:t>
            </a:r>
            <a:endParaRPr lang="en-US" altLang="en-US" sz="17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GB" altLang="en-US">
                <a:latin typeface="Times New Roman" panose="02020603050405020304" charset="0"/>
                <a:cs typeface="Times New Roman" panose="02020603050405020304" charset="0"/>
                <a:sym typeface="+mn-ea"/>
              </a:rPr>
              <a:t>Conclusion</a:t>
            </a:r>
            <a:endParaRPr lang="en-US"/>
          </a:p>
        </p:txBody>
      </p:sp>
      <p:sp>
        <p:nvSpPr>
          <p:cNvPr id="5" name="Content Placeholder 4"/>
          <p:cNvSpPr>
            <a:spLocks noGrp="1"/>
          </p:cNvSpPr>
          <p:nvPr>
            <p:ph idx="1"/>
          </p:nvPr>
        </p:nvSpPr>
        <p:spPr/>
        <p:txBody>
          <a:bodyPr/>
          <a:p>
            <a:pPr algn="just"/>
            <a:r>
              <a:rPr lang="en-US" altLang="en-US">
                <a:latin typeface="Times New Roman" panose="02020603050405020304" charset="0"/>
                <a:cs typeface="Times New Roman" panose="02020603050405020304" charset="0"/>
              </a:rPr>
              <a:t>In conclusion, our Emergency Alert System effectively illustrates the possibilities of focused Electrical Engineering and Embedded Programming to bridge critical gaps in the field of healthcare communications. Through optimizing our code with C++ and developing a sophisticated Priority Logic, we have created a system that is both reliable and scalable. We firmly believe that with the integration of the IoT and Touch Interface enhancements we have proposed, this system has the potential to become a cost-effective, life-saving standard for modern medical wards. Thank you for your time. I’m now open to any technical questions.</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Custom 2">
      <a:dk1>
        <a:srgbClr val="382010"/>
      </a:dk1>
      <a:lt1>
        <a:sysClr val="window" lastClr="FFFFFF"/>
      </a:lt1>
      <a:dk2>
        <a:srgbClr val="44546A"/>
      </a:dk2>
      <a:lt2>
        <a:srgbClr val="E7E6E6"/>
      </a:lt2>
      <a:accent1>
        <a:srgbClr val="4472C4"/>
      </a:accent1>
      <a:accent2>
        <a:srgbClr val="E2802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KWC light</Template>
  <TotalTime>0</TotalTime>
  <Words>6126</Words>
  <Application>WPS Presentation</Application>
  <PresentationFormat>Widescreen</PresentationFormat>
  <Paragraphs>116</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Times New Roman</vt:lpstr>
      <vt:lpstr>Wingdings</vt:lpstr>
      <vt:lpstr>Calibri</vt:lpstr>
      <vt:lpstr>Microsoft YaHei</vt:lpstr>
      <vt:lpstr>Arial Unicode MS</vt:lpstr>
      <vt:lpstr>Office Theme</vt:lpstr>
      <vt:lpstr>MICROPROCESSORS PRESENTATION (GROUP 14)  TOPIC: Emergency Alert System for Patients</vt:lpstr>
      <vt:lpstr>PowerPoint 演示文稿</vt:lpstr>
      <vt:lpstr>INTRODUCTION</vt:lpstr>
      <vt:lpstr>PROBLEM STATEMENT</vt:lpstr>
      <vt:lpstr>METHODOLOGY</vt:lpstr>
      <vt:lpstr>Components used and their Functions</vt:lpstr>
      <vt:lpstr>CODE OVERVIEW</vt:lpstr>
      <vt:lpstr>PowerPoint 演示文稿</vt:lpstr>
      <vt:lpstr>Circuit Schematic</vt:lpstr>
      <vt:lpstr>Demonstration</vt:lpstr>
      <vt:lpstr>PowerPoint 演示文稿</vt:lpstr>
      <vt:lpstr>Future Roadmap: Scalability &amp; Innovation</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Hope</dc:creator>
  <cp:lastModifiedBy>Emmanuel Manteaw</cp:lastModifiedBy>
  <cp:revision>146</cp:revision>
  <dcterms:created xsi:type="dcterms:W3CDTF">2023-07-24T14:47:00Z</dcterms:created>
  <dcterms:modified xsi:type="dcterms:W3CDTF">2026-03-29T22:29:44Z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FA347B2064AE4A298FF75A44832E6800_13</vt:lpwstr>
  </property>
  <property fmtid="{D5CDD505-2E9C-101B-9397-08002B2CF9AE}" pid="3" name="KSOProductBuildVer">
    <vt:lpwstr>1033-12.1.0.25242</vt:lpwstr>
  </property>
</Properties>
</file>