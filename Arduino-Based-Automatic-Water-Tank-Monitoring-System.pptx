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pen Sans" panose="020B060603050402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8677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30436"/>
            <a:ext cx="7556421" cy="2126337"/>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Arduino-Based Automatic Water Tank Monitoring System</a:t>
            </a:r>
            <a:endParaRPr lang="en-US" sz="4450" dirty="0"/>
          </a:p>
        </p:txBody>
      </p:sp>
      <p:sp>
        <p:nvSpPr>
          <p:cNvPr id="4" name="Text 1"/>
          <p:cNvSpPr/>
          <p:nvPr/>
        </p:nvSpPr>
        <p:spPr>
          <a:xfrm>
            <a:off x="6280190" y="3096935"/>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39393C"/>
                </a:solidFill>
                <a:latin typeface="Open Sans" pitchFamily="34" charset="0"/>
                <a:ea typeface="Open Sans" pitchFamily="34" charset="-122"/>
                <a:cs typeface="Open Sans" pitchFamily="34" charset="-120"/>
              </a:rPr>
              <a:t>Group 22</a:t>
            </a:r>
            <a:endParaRPr lang="en-US" sz="1750" dirty="0"/>
          </a:p>
        </p:txBody>
      </p:sp>
      <p:sp>
        <p:nvSpPr>
          <p:cNvPr id="5" name="Text 2"/>
          <p:cNvSpPr/>
          <p:nvPr/>
        </p:nvSpPr>
        <p:spPr>
          <a:xfrm>
            <a:off x="6280190" y="3714988"/>
            <a:ext cx="7556421" cy="3266123"/>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Larbi Cyprian Asiedu – 7274723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Ofori-Boateng Kwasi Amadi – 7278723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Hanz Ofosuhene Sintim – 7279023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Larbi Michael Ankrah – 7274823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Nsiah-Peprah Mary-Ann Akosua Agyapomaa – 7277423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Nana Akosua Agyeiwaa Marfo - 7275323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Marfo Nana Kwame Sam – 7275423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Odei Franklyn Kwaku Darko – 7278423</a:t>
            </a:r>
            <a:endParaRPr lang="en-US" sz="1750" dirty="0"/>
          </a:p>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Modilim Chinemelum Jude – 7276023</a:t>
            </a:r>
            <a:endParaRPr lang="en-US" sz="1750" dirty="0"/>
          </a:p>
        </p:txBody>
      </p:sp>
      <p:sp>
        <p:nvSpPr>
          <p:cNvPr id="6" name="Text 3"/>
          <p:cNvSpPr/>
          <p:nvPr/>
        </p:nvSpPr>
        <p:spPr>
          <a:xfrm>
            <a:off x="6280190" y="7236262"/>
            <a:ext cx="7556421" cy="362903"/>
          </a:xfrm>
          <a:prstGeom prst="rect">
            <a:avLst/>
          </a:prstGeom>
          <a:noFill/>
          <a:ln/>
        </p:spPr>
        <p:txBody>
          <a:bodyPr wrap="none" lIns="0" tIns="0" rIns="0" bIns="0" rtlCol="0" anchor="t"/>
          <a:lstStyle/>
          <a:p>
            <a:pPr marL="0" indent="0" algn="r">
              <a:lnSpc>
                <a:spcPts val="2850"/>
              </a:lnSpc>
              <a:buNone/>
            </a:pPr>
            <a:r>
              <a:rPr lang="en-US" sz="1750" dirty="0">
                <a:solidFill>
                  <a:srgbClr val="39393C"/>
                </a:solidFill>
                <a:latin typeface="Open Sans" pitchFamily="34" charset="0"/>
                <a:ea typeface="Open Sans" pitchFamily="34" charset="-122"/>
                <a:cs typeface="Open Sans" pitchFamily="34" charset="-120"/>
              </a:rPr>
              <a:t>1</a:t>
            </a:r>
            <a:endParaRPr lang="en-US" sz="1750" dirty="0"/>
          </a:p>
        </p:txBody>
      </p:sp>
      <p:sp>
        <p:nvSpPr>
          <p:cNvPr id="8" name="Rectangle 7">
            <a:extLst>
              <a:ext uri="{FF2B5EF4-FFF2-40B4-BE49-F238E27FC236}">
                <a16:creationId xmlns:a16="http://schemas.microsoft.com/office/drawing/2014/main" id="{FD07EB5E-31AC-1622-9B8E-0C3B60FC098F}"/>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7987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Table of Contents</a:t>
            </a:r>
            <a:endParaRPr lang="en-US" sz="4450" dirty="0"/>
          </a:p>
        </p:txBody>
      </p:sp>
      <p:sp>
        <p:nvSpPr>
          <p:cNvPr id="3" name="Text 1"/>
          <p:cNvSpPr/>
          <p:nvPr/>
        </p:nvSpPr>
        <p:spPr>
          <a:xfrm>
            <a:off x="793790" y="204227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Problem Statement........................................ 3</a:t>
            </a:r>
            <a:endParaRPr lang="en-US" sz="1750" dirty="0">
              <a:latin typeface="Times New Roman" panose="02020603050405020304" pitchFamily="18" charset="0"/>
              <a:cs typeface="Times New Roman" panose="02020603050405020304" pitchFamily="18" charset="0"/>
            </a:endParaRPr>
          </a:p>
        </p:txBody>
      </p:sp>
      <p:sp>
        <p:nvSpPr>
          <p:cNvPr id="4" name="Text 2"/>
          <p:cNvSpPr/>
          <p:nvPr/>
        </p:nvSpPr>
        <p:spPr>
          <a:xfrm>
            <a:off x="793790" y="266033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Methodology.............................................. 4</a:t>
            </a:r>
            <a:endParaRPr lang="en-US" sz="1750" dirty="0">
              <a:latin typeface="Times New Roman" panose="02020603050405020304" pitchFamily="18" charset="0"/>
              <a:cs typeface="Times New Roman" panose="02020603050405020304" pitchFamily="18" charset="0"/>
            </a:endParaRPr>
          </a:p>
        </p:txBody>
      </p:sp>
      <p:sp>
        <p:nvSpPr>
          <p:cNvPr id="5" name="Text 3"/>
          <p:cNvSpPr/>
          <p:nvPr/>
        </p:nvSpPr>
        <p:spPr>
          <a:xfrm>
            <a:off x="793790" y="327838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Components and Materials................................. 5</a:t>
            </a:r>
            <a:endParaRPr lang="en-US" sz="1750" dirty="0">
              <a:latin typeface="Times New Roman" panose="02020603050405020304" pitchFamily="18" charset="0"/>
              <a:cs typeface="Times New Roman" panose="02020603050405020304" pitchFamily="18" charset="0"/>
            </a:endParaRPr>
          </a:p>
        </p:txBody>
      </p:sp>
      <p:sp>
        <p:nvSpPr>
          <p:cNvPr id="6" name="Text 4"/>
          <p:cNvSpPr/>
          <p:nvPr/>
        </p:nvSpPr>
        <p:spPr>
          <a:xfrm>
            <a:off x="793790" y="389643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System Design &amp; Working Principle....................... 6</a:t>
            </a:r>
            <a:endParaRPr lang="en-US" sz="1750" dirty="0">
              <a:latin typeface="Times New Roman" panose="02020603050405020304" pitchFamily="18" charset="0"/>
              <a:cs typeface="Times New Roman" panose="02020603050405020304" pitchFamily="18" charset="0"/>
            </a:endParaRPr>
          </a:p>
        </p:txBody>
      </p:sp>
      <p:sp>
        <p:nvSpPr>
          <p:cNvPr id="7" name="Text 5"/>
          <p:cNvSpPr/>
          <p:nvPr/>
        </p:nvSpPr>
        <p:spPr>
          <a:xfrm>
            <a:off x="793790" y="451449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Circuit Diagram &amp; Code Overview.......................... 7</a:t>
            </a:r>
            <a:endParaRPr lang="en-US" sz="1750" dirty="0">
              <a:latin typeface="Times New Roman" panose="02020603050405020304" pitchFamily="18" charset="0"/>
              <a:cs typeface="Times New Roman" panose="02020603050405020304" pitchFamily="18" charset="0"/>
            </a:endParaRPr>
          </a:p>
        </p:txBody>
      </p:sp>
      <p:sp>
        <p:nvSpPr>
          <p:cNvPr id="8" name="Text 6"/>
          <p:cNvSpPr/>
          <p:nvPr/>
        </p:nvSpPr>
        <p:spPr>
          <a:xfrm>
            <a:off x="793790" y="513254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Demonstration &amp; Simulation............................... 8</a:t>
            </a:r>
            <a:endParaRPr lang="en-US" sz="1750" dirty="0">
              <a:latin typeface="Times New Roman" panose="02020603050405020304" pitchFamily="18" charset="0"/>
              <a:cs typeface="Times New Roman" panose="02020603050405020304" pitchFamily="18" charset="0"/>
            </a:endParaRPr>
          </a:p>
        </p:txBody>
      </p:sp>
      <p:sp>
        <p:nvSpPr>
          <p:cNvPr id="9" name="Text 7"/>
          <p:cNvSpPr/>
          <p:nvPr/>
        </p:nvSpPr>
        <p:spPr>
          <a:xfrm>
            <a:off x="793790" y="575060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Results &amp; Key Takeaways................................. 9</a:t>
            </a:r>
            <a:endParaRPr lang="en-US" sz="1750" dirty="0">
              <a:latin typeface="Times New Roman" panose="02020603050405020304" pitchFamily="18" charset="0"/>
              <a:cs typeface="Times New Roman" panose="02020603050405020304" pitchFamily="18" charset="0"/>
            </a:endParaRPr>
          </a:p>
        </p:txBody>
      </p:sp>
      <p:sp>
        <p:nvSpPr>
          <p:cNvPr id="10" name="Text 8"/>
          <p:cNvSpPr/>
          <p:nvPr/>
        </p:nvSpPr>
        <p:spPr>
          <a:xfrm>
            <a:off x="793790" y="636865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Times New Roman" panose="02020603050405020304" pitchFamily="18" charset="0"/>
                <a:ea typeface="Open Sans" pitchFamily="34" charset="-122"/>
                <a:cs typeface="Times New Roman" panose="02020603050405020304" pitchFamily="18" charset="0"/>
              </a:rPr>
              <a:t>Conclusion &amp; Future Improvements....................... 10</a:t>
            </a:r>
            <a:endParaRPr lang="en-US" sz="1750" dirty="0">
              <a:latin typeface="Times New Roman" panose="02020603050405020304" pitchFamily="18" charset="0"/>
              <a:cs typeface="Times New Roman" panose="02020603050405020304" pitchFamily="18" charset="0"/>
            </a:endParaRPr>
          </a:p>
        </p:txBody>
      </p:sp>
      <p:sp>
        <p:nvSpPr>
          <p:cNvPr id="11" name="Text 9"/>
          <p:cNvSpPr/>
          <p:nvPr/>
        </p:nvSpPr>
        <p:spPr>
          <a:xfrm>
            <a:off x="793790" y="6986707"/>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39393C"/>
                </a:solidFill>
                <a:latin typeface="Open Sans" pitchFamily="34" charset="0"/>
                <a:ea typeface="Open Sans" pitchFamily="34" charset="-122"/>
                <a:cs typeface="Open Sans" pitchFamily="34" charset="-120"/>
              </a:rPr>
              <a:t>2</a:t>
            </a:r>
            <a:endParaRPr lang="en-US" sz="1750" dirty="0"/>
          </a:p>
        </p:txBody>
      </p:sp>
      <p:sp>
        <p:nvSpPr>
          <p:cNvPr id="14" name="Rectangle 13">
            <a:extLst>
              <a:ext uri="{FF2B5EF4-FFF2-40B4-BE49-F238E27FC236}">
                <a16:creationId xmlns:a16="http://schemas.microsoft.com/office/drawing/2014/main" id="{EEEDE2D3-7774-BBEC-9584-5B383B14A0D2}"/>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2239" y="606743"/>
            <a:ext cx="5516642" cy="689491"/>
          </a:xfrm>
          <a:prstGeom prst="rect">
            <a:avLst/>
          </a:prstGeom>
          <a:noFill/>
          <a:ln/>
        </p:spPr>
        <p:txBody>
          <a:bodyPr wrap="none" lIns="0" tIns="0" rIns="0" bIns="0" rtlCol="0" anchor="t"/>
          <a:lstStyle/>
          <a:p>
            <a:pPr marL="0" indent="0" algn="l">
              <a:lnSpc>
                <a:spcPts val="5400"/>
              </a:lnSpc>
              <a:buNone/>
            </a:pPr>
            <a:r>
              <a:rPr lang="en-US" sz="4300" b="1" dirty="0">
                <a:solidFill>
                  <a:srgbClr val="101014"/>
                </a:solidFill>
                <a:latin typeface="Playfair Display Bold" pitchFamily="34" charset="0"/>
                <a:ea typeface="Playfair Display Bold" pitchFamily="34" charset="-122"/>
                <a:cs typeface="Playfair Display Bold" pitchFamily="34" charset="-120"/>
              </a:rPr>
              <a:t>Problem Statement</a:t>
            </a:r>
            <a:endParaRPr lang="en-US" sz="4300" dirty="0"/>
          </a:p>
        </p:txBody>
      </p:sp>
      <p:sp>
        <p:nvSpPr>
          <p:cNvPr id="3" name="Text 1"/>
          <p:cNvSpPr/>
          <p:nvPr/>
        </p:nvSpPr>
        <p:spPr>
          <a:xfrm>
            <a:off x="772239" y="2164318"/>
            <a:ext cx="2758321" cy="344805"/>
          </a:xfrm>
          <a:prstGeom prst="rect">
            <a:avLst/>
          </a:prstGeom>
          <a:noFill/>
          <a:ln/>
        </p:spPr>
        <p:txBody>
          <a:bodyPr wrap="none" lIns="0" tIns="0" rIns="0" bIns="0" rtlCol="0" anchor="t"/>
          <a:lstStyle/>
          <a:p>
            <a:pPr marL="0" indent="0" algn="l">
              <a:lnSpc>
                <a:spcPts val="2700"/>
              </a:lnSpc>
              <a:buNone/>
            </a:pPr>
            <a:r>
              <a:rPr lang="en-US" sz="2150" b="1" dirty="0">
                <a:solidFill>
                  <a:srgbClr val="101014"/>
                </a:solidFill>
                <a:latin typeface="Playfair Display Bold" pitchFamily="34" charset="0"/>
                <a:ea typeface="Playfair Display Bold" pitchFamily="34" charset="-122"/>
                <a:cs typeface="Playfair Display Bold" pitchFamily="34" charset="-120"/>
              </a:rPr>
              <a:t>Current Challenges</a:t>
            </a:r>
            <a:endParaRPr lang="en-US" sz="2150" dirty="0"/>
          </a:p>
        </p:txBody>
      </p:sp>
      <p:sp>
        <p:nvSpPr>
          <p:cNvPr id="4" name="Text 2"/>
          <p:cNvSpPr/>
          <p:nvPr/>
        </p:nvSpPr>
        <p:spPr>
          <a:xfrm>
            <a:off x="772239" y="2723793"/>
            <a:ext cx="8317349" cy="1044416"/>
          </a:xfrm>
          <a:prstGeom prst="rect">
            <a:avLst/>
          </a:prstGeom>
          <a:noFill/>
          <a:ln/>
        </p:spPr>
        <p:txBody>
          <a:bodyPr wrap="square" lIns="0" tIns="0" rIns="0" bIns="0" rtlCol="0" anchor="t"/>
          <a:lstStyle/>
          <a:p>
            <a:pPr marL="0" indent="0" algn="l">
              <a:lnSpc>
                <a:spcPts val="2700"/>
              </a:lnSpc>
              <a:buNone/>
            </a:pPr>
            <a:r>
              <a:rPr lang="en-US" sz="2400" dirty="0">
                <a:solidFill>
                  <a:srgbClr val="39393C"/>
                </a:solidFill>
                <a:latin typeface="Times New Roman" panose="02020603050405020304" pitchFamily="18" charset="0"/>
                <a:ea typeface="Open Sans" pitchFamily="34" charset="-122"/>
                <a:cs typeface="Times New Roman" panose="02020603050405020304" pitchFamily="18" charset="0"/>
              </a:rPr>
              <a:t>Manual water tank monitoring presents significant operational inefficiencies. Users must physically check water levels, leading to inconvenience and potential oversight.</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772239" y="3961328"/>
            <a:ext cx="8317349" cy="696278"/>
          </a:xfrm>
          <a:prstGeom prst="rect">
            <a:avLst/>
          </a:prstGeom>
          <a:noFill/>
          <a:ln/>
        </p:spPr>
        <p:txBody>
          <a:bodyPr wrap="square" lIns="0" tIns="0" rIns="0" bIns="0" rtlCol="0" anchor="t"/>
          <a:lstStyle/>
          <a:p>
            <a:pPr marL="0" indent="0" algn="l">
              <a:lnSpc>
                <a:spcPts val="2700"/>
              </a:lnSpc>
              <a:buNone/>
            </a:pPr>
            <a:r>
              <a:rPr lang="en-US" sz="2400" dirty="0">
                <a:solidFill>
                  <a:srgbClr val="39393C"/>
                </a:solidFill>
                <a:latin typeface="Times New Roman" panose="02020603050405020304" pitchFamily="18" charset="0"/>
                <a:ea typeface="Open Sans" pitchFamily="34" charset="-122"/>
                <a:cs typeface="Times New Roman" panose="02020603050405020304" pitchFamily="18" charset="0"/>
              </a:rPr>
              <a:t>Common issues include water overflow during filling, excessive water wastage, and the inability to monitor levels remotely or during absence.</a:t>
            </a:r>
            <a:endParaRPr lang="en-US" sz="2400"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9635609" y="1859637"/>
            <a:ext cx="4230053" cy="3081099"/>
          </a:xfrm>
          <a:prstGeom prst="rect">
            <a:avLst/>
          </a:prstGeom>
        </p:spPr>
      </p:pic>
      <p:sp>
        <p:nvSpPr>
          <p:cNvPr id="7" name="Shape 4"/>
          <p:cNvSpPr/>
          <p:nvPr/>
        </p:nvSpPr>
        <p:spPr>
          <a:xfrm>
            <a:off x="772239" y="5423654"/>
            <a:ext cx="4218861" cy="1611035"/>
          </a:xfrm>
          <a:prstGeom prst="roundRect">
            <a:avLst>
              <a:gd name="adj" fmla="val 2055"/>
            </a:avLst>
          </a:prstGeom>
          <a:solidFill>
            <a:srgbClr val="E0E0EC"/>
          </a:solidFill>
          <a:ln/>
        </p:spPr>
      </p:sp>
      <p:sp>
        <p:nvSpPr>
          <p:cNvPr id="8" name="Text 5"/>
          <p:cNvSpPr/>
          <p:nvPr/>
        </p:nvSpPr>
        <p:spPr>
          <a:xfrm>
            <a:off x="992862" y="5644277"/>
            <a:ext cx="2758321" cy="344805"/>
          </a:xfrm>
          <a:prstGeom prst="rect">
            <a:avLst/>
          </a:prstGeom>
          <a:noFill/>
          <a:ln/>
        </p:spPr>
        <p:txBody>
          <a:bodyPr wrap="none" lIns="0" tIns="0" rIns="0" bIns="0" rtlCol="0" anchor="t"/>
          <a:lstStyle/>
          <a:p>
            <a:pPr marL="0" indent="0" algn="l">
              <a:lnSpc>
                <a:spcPts val="2700"/>
              </a:lnSpc>
              <a:buNone/>
            </a:pPr>
            <a:r>
              <a:rPr lang="en-US" sz="2150" b="1" dirty="0">
                <a:solidFill>
                  <a:srgbClr val="39393C"/>
                </a:solidFill>
                <a:latin typeface="Playfair Display Bold" pitchFamily="34" charset="0"/>
                <a:ea typeface="Playfair Display Bold" pitchFamily="34" charset="-122"/>
                <a:cs typeface="Playfair Display Bold" pitchFamily="34" charset="-120"/>
              </a:rPr>
              <a:t>Water Overflow</a:t>
            </a:r>
            <a:endParaRPr lang="en-US" sz="2150" dirty="0"/>
          </a:p>
        </p:txBody>
      </p:sp>
      <p:sp>
        <p:nvSpPr>
          <p:cNvPr id="9" name="Text 6"/>
          <p:cNvSpPr/>
          <p:nvPr/>
        </p:nvSpPr>
        <p:spPr>
          <a:xfrm>
            <a:off x="992862" y="6117788"/>
            <a:ext cx="3777615" cy="696278"/>
          </a:xfrm>
          <a:prstGeom prst="rect">
            <a:avLst/>
          </a:prstGeom>
          <a:noFill/>
          <a:ln/>
        </p:spPr>
        <p:txBody>
          <a:bodyPr wrap="square" lIns="0" tIns="0" rIns="0" bIns="0" rtlCol="0" anchor="t"/>
          <a:lstStyle/>
          <a:p>
            <a:pPr marL="0" indent="0" algn="l">
              <a:lnSpc>
                <a:spcPts val="2700"/>
              </a:lnSpc>
              <a:buNone/>
            </a:pPr>
            <a:r>
              <a:rPr lang="en-US" sz="1700" dirty="0">
                <a:solidFill>
                  <a:srgbClr val="39393C"/>
                </a:solidFill>
                <a:latin typeface="Open Sans" pitchFamily="34" charset="0"/>
                <a:ea typeface="Open Sans" pitchFamily="34" charset="-122"/>
                <a:cs typeface="Open Sans" pitchFamily="34" charset="-120"/>
              </a:rPr>
              <a:t>Unattended filling causes spills and property damage</a:t>
            </a:r>
            <a:endParaRPr lang="en-US" sz="1700" dirty="0"/>
          </a:p>
        </p:txBody>
      </p:sp>
      <p:sp>
        <p:nvSpPr>
          <p:cNvPr id="10" name="Shape 7"/>
          <p:cNvSpPr/>
          <p:nvPr/>
        </p:nvSpPr>
        <p:spPr>
          <a:xfrm>
            <a:off x="5205770" y="5423654"/>
            <a:ext cx="4218861" cy="1611035"/>
          </a:xfrm>
          <a:prstGeom prst="roundRect">
            <a:avLst>
              <a:gd name="adj" fmla="val 2055"/>
            </a:avLst>
          </a:prstGeom>
          <a:solidFill>
            <a:srgbClr val="E0E0EC"/>
          </a:solidFill>
          <a:ln/>
        </p:spPr>
      </p:sp>
      <p:sp>
        <p:nvSpPr>
          <p:cNvPr id="11" name="Text 8"/>
          <p:cNvSpPr/>
          <p:nvPr/>
        </p:nvSpPr>
        <p:spPr>
          <a:xfrm>
            <a:off x="5426393" y="5644277"/>
            <a:ext cx="2758321" cy="344805"/>
          </a:xfrm>
          <a:prstGeom prst="rect">
            <a:avLst/>
          </a:prstGeom>
          <a:noFill/>
          <a:ln/>
        </p:spPr>
        <p:txBody>
          <a:bodyPr wrap="none" lIns="0" tIns="0" rIns="0" bIns="0" rtlCol="0" anchor="t"/>
          <a:lstStyle/>
          <a:p>
            <a:pPr marL="0" indent="0" algn="l">
              <a:lnSpc>
                <a:spcPts val="2700"/>
              </a:lnSpc>
              <a:buNone/>
            </a:pPr>
            <a:r>
              <a:rPr lang="en-US" sz="2150" b="1" dirty="0">
                <a:solidFill>
                  <a:srgbClr val="39393C"/>
                </a:solidFill>
                <a:latin typeface="Playfair Display Bold" pitchFamily="34" charset="0"/>
                <a:ea typeface="Playfair Display Bold" pitchFamily="34" charset="-122"/>
                <a:cs typeface="Playfair Display Bold" pitchFamily="34" charset="-120"/>
              </a:rPr>
              <a:t>Water Wastage</a:t>
            </a:r>
            <a:endParaRPr lang="en-US" sz="2150" dirty="0"/>
          </a:p>
        </p:txBody>
      </p:sp>
      <p:sp>
        <p:nvSpPr>
          <p:cNvPr id="12" name="Text 9"/>
          <p:cNvSpPr/>
          <p:nvPr/>
        </p:nvSpPr>
        <p:spPr>
          <a:xfrm>
            <a:off x="5426393" y="6117788"/>
            <a:ext cx="3777615" cy="696278"/>
          </a:xfrm>
          <a:prstGeom prst="rect">
            <a:avLst/>
          </a:prstGeom>
          <a:noFill/>
          <a:ln/>
        </p:spPr>
        <p:txBody>
          <a:bodyPr wrap="square" lIns="0" tIns="0" rIns="0" bIns="0" rtlCol="0" anchor="t"/>
          <a:lstStyle/>
          <a:p>
            <a:pPr marL="0" indent="0" algn="l">
              <a:lnSpc>
                <a:spcPts val="2700"/>
              </a:lnSpc>
              <a:buNone/>
            </a:pPr>
            <a:r>
              <a:rPr lang="en-US" sz="1700" dirty="0">
                <a:solidFill>
                  <a:srgbClr val="39393C"/>
                </a:solidFill>
                <a:latin typeface="Open Sans" pitchFamily="34" charset="0"/>
                <a:ea typeface="Open Sans" pitchFamily="34" charset="-122"/>
                <a:cs typeface="Open Sans" pitchFamily="34" charset="-120"/>
              </a:rPr>
              <a:t>Excessive consumption without awareness</a:t>
            </a:r>
            <a:endParaRPr lang="en-US" sz="1700" dirty="0"/>
          </a:p>
        </p:txBody>
      </p:sp>
      <p:sp>
        <p:nvSpPr>
          <p:cNvPr id="13" name="Shape 10"/>
          <p:cNvSpPr/>
          <p:nvPr/>
        </p:nvSpPr>
        <p:spPr>
          <a:xfrm>
            <a:off x="9639300" y="5423654"/>
            <a:ext cx="4218861" cy="1611035"/>
          </a:xfrm>
          <a:prstGeom prst="roundRect">
            <a:avLst>
              <a:gd name="adj" fmla="val 2055"/>
            </a:avLst>
          </a:prstGeom>
          <a:solidFill>
            <a:srgbClr val="E0E0EC"/>
          </a:solidFill>
          <a:ln/>
        </p:spPr>
      </p:sp>
      <p:sp>
        <p:nvSpPr>
          <p:cNvPr id="14" name="Text 11"/>
          <p:cNvSpPr/>
          <p:nvPr/>
        </p:nvSpPr>
        <p:spPr>
          <a:xfrm>
            <a:off x="9859923" y="5644277"/>
            <a:ext cx="2869763" cy="344805"/>
          </a:xfrm>
          <a:prstGeom prst="rect">
            <a:avLst/>
          </a:prstGeom>
          <a:noFill/>
          <a:ln/>
        </p:spPr>
        <p:txBody>
          <a:bodyPr wrap="none" lIns="0" tIns="0" rIns="0" bIns="0" rtlCol="0" anchor="t"/>
          <a:lstStyle/>
          <a:p>
            <a:pPr marL="0" indent="0" algn="l">
              <a:lnSpc>
                <a:spcPts val="2700"/>
              </a:lnSpc>
              <a:buNone/>
            </a:pPr>
            <a:r>
              <a:rPr lang="en-US" sz="2150" b="1" dirty="0">
                <a:solidFill>
                  <a:srgbClr val="39393C"/>
                </a:solidFill>
                <a:latin typeface="Playfair Display Bold" pitchFamily="34" charset="0"/>
                <a:ea typeface="Playfair Display Bold" pitchFamily="34" charset="-122"/>
                <a:cs typeface="Playfair Display Bold" pitchFamily="34" charset="-120"/>
              </a:rPr>
              <a:t>Manual Inconvenience</a:t>
            </a:r>
            <a:endParaRPr lang="en-US" sz="2150" dirty="0"/>
          </a:p>
        </p:txBody>
      </p:sp>
      <p:sp>
        <p:nvSpPr>
          <p:cNvPr id="15" name="Text 12"/>
          <p:cNvSpPr/>
          <p:nvPr/>
        </p:nvSpPr>
        <p:spPr>
          <a:xfrm>
            <a:off x="9859923" y="6117788"/>
            <a:ext cx="3777615" cy="348139"/>
          </a:xfrm>
          <a:prstGeom prst="rect">
            <a:avLst/>
          </a:prstGeom>
          <a:noFill/>
          <a:ln/>
        </p:spPr>
        <p:txBody>
          <a:bodyPr wrap="none" lIns="0" tIns="0" rIns="0" bIns="0" rtlCol="0" anchor="t"/>
          <a:lstStyle/>
          <a:p>
            <a:pPr marL="0" indent="0" algn="l">
              <a:lnSpc>
                <a:spcPts val="2700"/>
              </a:lnSpc>
              <a:buNone/>
            </a:pPr>
            <a:r>
              <a:rPr lang="en-US" sz="1700" dirty="0">
                <a:solidFill>
                  <a:srgbClr val="39393C"/>
                </a:solidFill>
                <a:latin typeface="Open Sans" pitchFamily="34" charset="0"/>
                <a:ea typeface="Open Sans" pitchFamily="34" charset="-122"/>
                <a:cs typeface="Open Sans" pitchFamily="34" charset="-120"/>
              </a:rPr>
              <a:t>Constant physical checks required</a:t>
            </a:r>
            <a:endParaRPr lang="en-US" sz="1700" dirty="0"/>
          </a:p>
        </p:txBody>
      </p:sp>
      <p:sp>
        <p:nvSpPr>
          <p:cNvPr id="16" name="Text 13"/>
          <p:cNvSpPr/>
          <p:nvPr/>
        </p:nvSpPr>
        <p:spPr>
          <a:xfrm>
            <a:off x="772239" y="7276148"/>
            <a:ext cx="13085921" cy="348139"/>
          </a:xfrm>
          <a:prstGeom prst="rect">
            <a:avLst/>
          </a:prstGeom>
          <a:noFill/>
          <a:ln/>
        </p:spPr>
        <p:txBody>
          <a:bodyPr wrap="none" lIns="0" tIns="0" rIns="0" bIns="0" rtlCol="0" anchor="t"/>
          <a:lstStyle/>
          <a:p>
            <a:pPr marL="0" indent="0" algn="r">
              <a:lnSpc>
                <a:spcPts val="2700"/>
              </a:lnSpc>
              <a:buNone/>
            </a:pPr>
            <a:r>
              <a:rPr lang="en-US" sz="1700" dirty="0">
                <a:solidFill>
                  <a:srgbClr val="39393C"/>
                </a:solidFill>
                <a:latin typeface="Open Sans" pitchFamily="34" charset="0"/>
                <a:ea typeface="Open Sans" pitchFamily="34" charset="-122"/>
                <a:cs typeface="Open Sans" pitchFamily="34" charset="-120"/>
              </a:rPr>
              <a:t>3</a:t>
            </a:r>
            <a:endParaRPr lang="en-US" sz="1700" dirty="0"/>
          </a:p>
        </p:txBody>
      </p:sp>
      <p:sp>
        <p:nvSpPr>
          <p:cNvPr id="18" name="Rectangle 17">
            <a:extLst>
              <a:ext uri="{FF2B5EF4-FFF2-40B4-BE49-F238E27FC236}">
                <a16:creationId xmlns:a16="http://schemas.microsoft.com/office/drawing/2014/main" id="{1D8CAF07-EC99-4DD6-E4D4-587C57D134C3}"/>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27623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Methodology</a:t>
            </a:r>
            <a:endParaRPr lang="en-US" sz="4450" dirty="0"/>
          </a:p>
        </p:txBody>
      </p:sp>
      <p:pic>
        <p:nvPicPr>
          <p:cNvPr id="4" name="Image 1" descr="preencoded.png"/>
          <p:cNvPicPr>
            <a:picLocks noChangeAspect="1"/>
          </p:cNvPicPr>
          <p:nvPr/>
        </p:nvPicPr>
        <p:blipFill>
          <a:blip r:embed="rId4"/>
          <a:stretch>
            <a:fillRect/>
          </a:stretch>
        </p:blipFill>
        <p:spPr>
          <a:xfrm>
            <a:off x="6280190" y="2325172"/>
            <a:ext cx="1134070" cy="1360884"/>
          </a:xfrm>
          <a:prstGeom prst="rect">
            <a:avLst/>
          </a:prstGeom>
        </p:spPr>
      </p:pic>
      <p:sp>
        <p:nvSpPr>
          <p:cNvPr id="5" name="Text 1"/>
          <p:cNvSpPr/>
          <p:nvPr/>
        </p:nvSpPr>
        <p:spPr>
          <a:xfrm>
            <a:off x="7641074" y="255198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Sensing</a:t>
            </a:r>
            <a:endParaRPr lang="en-US" sz="2200" dirty="0"/>
          </a:p>
        </p:txBody>
      </p:sp>
      <p:sp>
        <p:nvSpPr>
          <p:cNvPr id="6" name="Text 2"/>
          <p:cNvSpPr/>
          <p:nvPr/>
        </p:nvSpPr>
        <p:spPr>
          <a:xfrm>
            <a:off x="7641074" y="3042404"/>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Ultrasonic sensor continuously measures water level</a:t>
            </a:r>
            <a:endParaRPr lang="en-US" sz="1750" dirty="0"/>
          </a:p>
        </p:txBody>
      </p:sp>
      <p:pic>
        <p:nvPicPr>
          <p:cNvPr id="7" name="Image 2" descr="preencoded.png"/>
          <p:cNvPicPr>
            <a:picLocks noChangeAspect="1"/>
          </p:cNvPicPr>
          <p:nvPr/>
        </p:nvPicPr>
        <p:blipFill>
          <a:blip r:embed="rId5"/>
          <a:stretch>
            <a:fillRect/>
          </a:stretch>
        </p:blipFill>
        <p:spPr>
          <a:xfrm>
            <a:off x="6280190" y="3686056"/>
            <a:ext cx="1134070" cy="1360884"/>
          </a:xfrm>
          <a:prstGeom prst="rect">
            <a:avLst/>
          </a:prstGeom>
        </p:spPr>
      </p:pic>
      <p:sp>
        <p:nvSpPr>
          <p:cNvPr id="8" name="Text 3"/>
          <p:cNvSpPr/>
          <p:nvPr/>
        </p:nvSpPr>
        <p:spPr>
          <a:xfrm>
            <a:off x="7641074" y="39128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Processing</a:t>
            </a:r>
            <a:endParaRPr lang="en-US" sz="2200" dirty="0"/>
          </a:p>
        </p:txBody>
      </p:sp>
      <p:sp>
        <p:nvSpPr>
          <p:cNvPr id="9" name="Text 4"/>
          <p:cNvSpPr/>
          <p:nvPr/>
        </p:nvSpPr>
        <p:spPr>
          <a:xfrm>
            <a:off x="7641074" y="4403288"/>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Arduino processes sensor data and determines status</a:t>
            </a:r>
            <a:endParaRPr lang="en-US" sz="1750" dirty="0"/>
          </a:p>
        </p:txBody>
      </p:sp>
      <p:pic>
        <p:nvPicPr>
          <p:cNvPr id="10" name="Image 3" descr="preencoded.png"/>
          <p:cNvPicPr>
            <a:picLocks noChangeAspect="1"/>
          </p:cNvPicPr>
          <p:nvPr/>
        </p:nvPicPr>
        <p:blipFill>
          <a:blip r:embed="rId6"/>
          <a:stretch>
            <a:fillRect/>
          </a:stretch>
        </p:blipFill>
        <p:spPr>
          <a:xfrm>
            <a:off x="6280190" y="5046940"/>
            <a:ext cx="1134070" cy="1360884"/>
          </a:xfrm>
          <a:prstGeom prst="rect">
            <a:avLst/>
          </a:prstGeom>
        </p:spPr>
      </p:pic>
      <p:sp>
        <p:nvSpPr>
          <p:cNvPr id="11" name="Text 5"/>
          <p:cNvSpPr/>
          <p:nvPr/>
        </p:nvSpPr>
        <p:spPr>
          <a:xfrm>
            <a:off x="7641074" y="527375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Feedback</a:t>
            </a:r>
            <a:endParaRPr lang="en-US" sz="2200" dirty="0"/>
          </a:p>
        </p:txBody>
      </p:sp>
      <p:sp>
        <p:nvSpPr>
          <p:cNvPr id="12" name="Text 6"/>
          <p:cNvSpPr/>
          <p:nvPr/>
        </p:nvSpPr>
        <p:spPr>
          <a:xfrm>
            <a:off x="7641074" y="5764173"/>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Visual indicators and alerts inform users</a:t>
            </a:r>
            <a:endParaRPr lang="en-US" sz="1750" dirty="0"/>
          </a:p>
        </p:txBody>
      </p:sp>
      <p:sp>
        <p:nvSpPr>
          <p:cNvPr id="13" name="Text 7"/>
          <p:cNvSpPr/>
          <p:nvPr/>
        </p:nvSpPr>
        <p:spPr>
          <a:xfrm>
            <a:off x="6280190" y="6662976"/>
            <a:ext cx="7556421" cy="290274"/>
          </a:xfrm>
          <a:prstGeom prst="rect">
            <a:avLst/>
          </a:prstGeom>
          <a:noFill/>
          <a:ln/>
        </p:spPr>
        <p:txBody>
          <a:bodyPr wrap="none" lIns="0" tIns="0" rIns="0" bIns="0" rtlCol="0" anchor="t"/>
          <a:lstStyle/>
          <a:p>
            <a:pPr marL="0" indent="0" algn="r">
              <a:lnSpc>
                <a:spcPts val="2250"/>
              </a:lnSpc>
              <a:buNone/>
            </a:pPr>
            <a:r>
              <a:rPr lang="en-US" sz="1400" dirty="0">
                <a:solidFill>
                  <a:srgbClr val="39393C"/>
                </a:solidFill>
                <a:latin typeface="Open Sans" pitchFamily="34" charset="0"/>
                <a:ea typeface="Open Sans" pitchFamily="34" charset="-122"/>
                <a:cs typeface="Open Sans" pitchFamily="34" charset="-120"/>
              </a:rPr>
              <a:t>4</a:t>
            </a:r>
            <a:endParaRPr lang="en-US" sz="1400" dirty="0"/>
          </a:p>
        </p:txBody>
      </p:sp>
      <p:sp>
        <p:nvSpPr>
          <p:cNvPr id="15" name="Rectangle 14">
            <a:extLst>
              <a:ext uri="{FF2B5EF4-FFF2-40B4-BE49-F238E27FC236}">
                <a16:creationId xmlns:a16="http://schemas.microsoft.com/office/drawing/2014/main" id="{A65A383E-1DED-3F70-BA65-0580E057B8DF}"/>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09449"/>
            <a:ext cx="7049810"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Components and Materials</a:t>
            </a:r>
            <a:endParaRPr lang="en-US" sz="4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2532817"/>
            <a:ext cx="566976" cy="566976"/>
          </a:xfrm>
          <a:prstGeom prst="rect">
            <a:avLst/>
          </a:prstGeom>
        </p:spPr>
      </p:pic>
      <p:sp>
        <p:nvSpPr>
          <p:cNvPr id="4" name="Text 1"/>
          <p:cNvSpPr/>
          <p:nvPr/>
        </p:nvSpPr>
        <p:spPr>
          <a:xfrm>
            <a:off x="1644253" y="24718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Arduino Board</a:t>
            </a:r>
            <a:endParaRPr lang="en-US" sz="2200" dirty="0"/>
          </a:p>
        </p:txBody>
      </p:sp>
      <p:sp>
        <p:nvSpPr>
          <p:cNvPr id="5" name="Text 2"/>
          <p:cNvSpPr/>
          <p:nvPr/>
        </p:nvSpPr>
        <p:spPr>
          <a:xfrm>
            <a:off x="1644253" y="2962275"/>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Microcontroller for system control and data processing</a:t>
            </a:r>
            <a:endParaRPr lang="en-US" sz="1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4" y="2471857"/>
            <a:ext cx="566976" cy="566976"/>
          </a:xfrm>
          <a:prstGeom prst="rect">
            <a:avLst/>
          </a:prstGeom>
        </p:spPr>
      </p:pic>
      <p:sp>
        <p:nvSpPr>
          <p:cNvPr id="7" name="Text 3"/>
          <p:cNvSpPr/>
          <p:nvPr/>
        </p:nvSpPr>
        <p:spPr>
          <a:xfrm>
            <a:off x="8307348" y="24718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Ultrasonic Sensor</a:t>
            </a:r>
            <a:endParaRPr lang="en-US" sz="2200" dirty="0"/>
          </a:p>
        </p:txBody>
      </p:sp>
      <p:sp>
        <p:nvSpPr>
          <p:cNvPr id="8" name="Text 4"/>
          <p:cNvSpPr/>
          <p:nvPr/>
        </p:nvSpPr>
        <p:spPr>
          <a:xfrm>
            <a:off x="8307348" y="2962275"/>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Measures water level through distance detection</a:t>
            </a:r>
            <a:endParaRPr lang="en-US" sz="1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4141708"/>
            <a:ext cx="566976" cy="566976"/>
          </a:xfrm>
          <a:prstGeom prst="rect">
            <a:avLst/>
          </a:prstGeom>
        </p:spPr>
      </p:pic>
      <p:sp>
        <p:nvSpPr>
          <p:cNvPr id="10" name="Text 5"/>
          <p:cNvSpPr/>
          <p:nvPr/>
        </p:nvSpPr>
        <p:spPr>
          <a:xfrm>
            <a:off x="1644253" y="414170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LED Indicators</a:t>
            </a:r>
            <a:endParaRPr lang="en-US" sz="2200" dirty="0"/>
          </a:p>
        </p:txBody>
      </p:sp>
      <p:sp>
        <p:nvSpPr>
          <p:cNvPr id="11" name="Text 6"/>
          <p:cNvSpPr/>
          <p:nvPr/>
        </p:nvSpPr>
        <p:spPr>
          <a:xfrm>
            <a:off x="1644253" y="4632127"/>
            <a:ext cx="5529143"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Red, yellow, and green LEDs show water level status</a:t>
            </a:r>
            <a:endParaRPr lang="en-US" sz="17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4" y="4141708"/>
            <a:ext cx="566976" cy="566976"/>
          </a:xfrm>
          <a:prstGeom prst="rect">
            <a:avLst/>
          </a:prstGeom>
        </p:spPr>
      </p:pic>
      <p:sp>
        <p:nvSpPr>
          <p:cNvPr id="13" name="Text 7"/>
          <p:cNvSpPr/>
          <p:nvPr/>
        </p:nvSpPr>
        <p:spPr>
          <a:xfrm>
            <a:off x="8307348" y="414170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LCD Display</a:t>
            </a:r>
            <a:endParaRPr lang="en-US" sz="2200" dirty="0"/>
          </a:p>
        </p:txBody>
      </p:sp>
      <p:sp>
        <p:nvSpPr>
          <p:cNvPr id="14" name="Text 8"/>
          <p:cNvSpPr/>
          <p:nvPr/>
        </p:nvSpPr>
        <p:spPr>
          <a:xfrm>
            <a:off x="8307348" y="4632127"/>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Shows real-time water level percentage and status</a:t>
            </a:r>
            <a:endParaRPr lang="en-US" sz="17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3790" y="5448657"/>
            <a:ext cx="566976" cy="566976"/>
          </a:xfrm>
          <a:prstGeom prst="rect">
            <a:avLst/>
          </a:prstGeom>
        </p:spPr>
      </p:pic>
      <p:sp>
        <p:nvSpPr>
          <p:cNvPr id="16" name="Text 9"/>
          <p:cNvSpPr/>
          <p:nvPr/>
        </p:nvSpPr>
        <p:spPr>
          <a:xfrm>
            <a:off x="1644253" y="54486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Buzzer</a:t>
            </a:r>
            <a:endParaRPr lang="en-US" sz="2200" dirty="0"/>
          </a:p>
        </p:txBody>
      </p:sp>
      <p:sp>
        <p:nvSpPr>
          <p:cNvPr id="17" name="Text 10"/>
          <p:cNvSpPr/>
          <p:nvPr/>
        </p:nvSpPr>
        <p:spPr>
          <a:xfrm>
            <a:off x="1644253" y="5939076"/>
            <a:ext cx="5529143"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Audio alerts for full or empty tank conditions</a:t>
            </a:r>
            <a:endParaRPr lang="en-US" sz="17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56884" y="5448657"/>
            <a:ext cx="566976" cy="566976"/>
          </a:xfrm>
          <a:prstGeom prst="rect">
            <a:avLst/>
          </a:prstGeom>
        </p:spPr>
      </p:pic>
      <p:sp>
        <p:nvSpPr>
          <p:cNvPr id="19" name="Text 11"/>
          <p:cNvSpPr/>
          <p:nvPr/>
        </p:nvSpPr>
        <p:spPr>
          <a:xfrm>
            <a:off x="8307348" y="544865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Power Supply</a:t>
            </a:r>
            <a:endParaRPr lang="en-US" sz="2200" dirty="0"/>
          </a:p>
        </p:txBody>
      </p:sp>
      <p:sp>
        <p:nvSpPr>
          <p:cNvPr id="20" name="Text 12"/>
          <p:cNvSpPr/>
          <p:nvPr/>
        </p:nvSpPr>
        <p:spPr>
          <a:xfrm>
            <a:off x="8307348" y="5939076"/>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Connecting wires and power source for components</a:t>
            </a:r>
            <a:endParaRPr lang="en-US" sz="1750" dirty="0"/>
          </a:p>
        </p:txBody>
      </p:sp>
      <p:sp>
        <p:nvSpPr>
          <p:cNvPr id="21" name="Text 13"/>
          <p:cNvSpPr/>
          <p:nvPr/>
        </p:nvSpPr>
        <p:spPr>
          <a:xfrm>
            <a:off x="793790" y="6557129"/>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39393C"/>
                </a:solidFill>
                <a:latin typeface="Open Sans" pitchFamily="34" charset="0"/>
                <a:ea typeface="Open Sans" pitchFamily="34" charset="-122"/>
                <a:cs typeface="Open Sans" pitchFamily="34" charset="-120"/>
              </a:rPr>
              <a:t>5</a:t>
            </a:r>
            <a:endParaRPr lang="en-US" sz="1750" dirty="0"/>
          </a:p>
        </p:txBody>
      </p:sp>
      <p:sp>
        <p:nvSpPr>
          <p:cNvPr id="23" name="Rectangle 22">
            <a:extLst>
              <a:ext uri="{FF2B5EF4-FFF2-40B4-BE49-F238E27FC236}">
                <a16:creationId xmlns:a16="http://schemas.microsoft.com/office/drawing/2014/main" id="{0F219D15-B4A8-718C-5FFD-ABE071FAA5D2}"/>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316950" y="637937"/>
            <a:ext cx="7184946" cy="543282"/>
          </a:xfrm>
          <a:prstGeom prst="rect">
            <a:avLst/>
          </a:prstGeom>
          <a:noFill/>
          <a:ln/>
        </p:spPr>
        <p:txBody>
          <a:bodyPr wrap="none" lIns="0" tIns="0" rIns="0" bIns="0" rtlCol="0" anchor="t"/>
          <a:lstStyle/>
          <a:p>
            <a:pPr marL="0" indent="0" algn="l">
              <a:lnSpc>
                <a:spcPts val="4250"/>
              </a:lnSpc>
              <a:buNone/>
            </a:pPr>
            <a:r>
              <a:rPr lang="en-US" sz="3400" b="1" dirty="0">
                <a:solidFill>
                  <a:srgbClr val="101014"/>
                </a:solidFill>
                <a:latin typeface="Playfair Display Bold" pitchFamily="34" charset="0"/>
                <a:ea typeface="Playfair Display Bold" pitchFamily="34" charset="-122"/>
                <a:cs typeface="Playfair Display Bold" pitchFamily="34" charset="-120"/>
              </a:rPr>
              <a:t>System Design &amp; Working Principle</a:t>
            </a:r>
            <a:endParaRPr lang="en-US" sz="3400" dirty="0"/>
          </a:p>
        </p:txBody>
      </p:sp>
      <p:sp>
        <p:nvSpPr>
          <p:cNvPr id="3" name="Shape 1"/>
          <p:cNvSpPr/>
          <p:nvPr/>
        </p:nvSpPr>
        <p:spPr>
          <a:xfrm>
            <a:off x="1490782" y="1708428"/>
            <a:ext cx="173831" cy="782241"/>
          </a:xfrm>
          <a:prstGeom prst="roundRect">
            <a:avLst>
              <a:gd name="adj" fmla="val 15003"/>
            </a:avLst>
          </a:prstGeom>
          <a:solidFill>
            <a:srgbClr val="E0E0EC"/>
          </a:solidFill>
          <a:ln/>
        </p:spPr>
      </p:sp>
      <p:sp>
        <p:nvSpPr>
          <p:cNvPr id="4" name="Shape 2"/>
          <p:cNvSpPr/>
          <p:nvPr/>
        </p:nvSpPr>
        <p:spPr>
          <a:xfrm>
            <a:off x="1316950" y="1594366"/>
            <a:ext cx="521494" cy="521494"/>
          </a:xfrm>
          <a:prstGeom prst="roundRect">
            <a:avLst>
              <a:gd name="adj" fmla="val 87671"/>
            </a:avLst>
          </a:prstGeom>
          <a:solidFill>
            <a:srgbClr val="E0E0EC"/>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7324" y="1724739"/>
            <a:ext cx="260747" cy="260747"/>
          </a:xfrm>
          <a:prstGeom prst="rect">
            <a:avLst/>
          </a:prstGeom>
        </p:spPr>
      </p:pic>
      <p:sp>
        <p:nvSpPr>
          <p:cNvPr id="6" name="Text 3"/>
          <p:cNvSpPr/>
          <p:nvPr/>
        </p:nvSpPr>
        <p:spPr>
          <a:xfrm>
            <a:off x="1971675" y="1621512"/>
            <a:ext cx="2173248" cy="271582"/>
          </a:xfrm>
          <a:prstGeom prst="rect">
            <a:avLst/>
          </a:prstGeom>
          <a:noFill/>
          <a:ln/>
        </p:spPr>
        <p:txBody>
          <a:bodyPr wrap="none" lIns="0" tIns="0" rIns="0" bIns="0" rtlCol="0" anchor="t"/>
          <a:lstStyle/>
          <a:p>
            <a:pPr marL="0" indent="0" algn="l">
              <a:lnSpc>
                <a:spcPts val="210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Measurement</a:t>
            </a:r>
            <a:endParaRPr lang="en-US" sz="1700" dirty="0"/>
          </a:p>
        </p:txBody>
      </p:sp>
      <p:sp>
        <p:nvSpPr>
          <p:cNvPr id="7" name="Text 4"/>
          <p:cNvSpPr/>
          <p:nvPr/>
        </p:nvSpPr>
        <p:spPr>
          <a:xfrm>
            <a:off x="1971675" y="1972985"/>
            <a:ext cx="11341775" cy="245626"/>
          </a:xfrm>
          <a:prstGeom prst="rect">
            <a:avLst/>
          </a:prstGeom>
          <a:noFill/>
          <a:ln/>
        </p:spPr>
        <p:txBody>
          <a:bodyPr wrap="none" lIns="0" tIns="0" rIns="0" bIns="0" rtlCol="0" anchor="t"/>
          <a:lstStyle/>
          <a:p>
            <a:pPr marL="0" indent="0" algn="l">
              <a:lnSpc>
                <a:spcPts val="1900"/>
              </a:lnSpc>
              <a:buNone/>
            </a:pPr>
            <a:r>
              <a:rPr lang="en-US" sz="1600" dirty="0">
                <a:solidFill>
                  <a:srgbClr val="39393C"/>
                </a:solidFill>
                <a:latin typeface="Times New Roman" panose="02020603050405020304" pitchFamily="18" charset="0"/>
                <a:ea typeface="Open Sans" pitchFamily="34" charset="-122"/>
                <a:cs typeface="Times New Roman" panose="02020603050405020304" pitchFamily="18" charset="0"/>
              </a:rPr>
              <a:t>Ultrasonic sensor emits sound waves and calculates distance to water surface</a:t>
            </a:r>
            <a:endParaRPr lang="en-US" sz="1600" dirty="0">
              <a:latin typeface="Times New Roman" panose="02020603050405020304" pitchFamily="18" charset="0"/>
              <a:cs typeface="Times New Roman" panose="02020603050405020304" pitchFamily="18" charset="0"/>
            </a:endParaRPr>
          </a:p>
        </p:txBody>
      </p:sp>
      <p:sp>
        <p:nvSpPr>
          <p:cNvPr id="8" name="Shape 5"/>
          <p:cNvSpPr/>
          <p:nvPr/>
        </p:nvSpPr>
        <p:spPr>
          <a:xfrm>
            <a:off x="1751528" y="2884765"/>
            <a:ext cx="173831" cy="782241"/>
          </a:xfrm>
          <a:prstGeom prst="roundRect">
            <a:avLst>
              <a:gd name="adj" fmla="val 15003"/>
            </a:avLst>
          </a:prstGeom>
          <a:solidFill>
            <a:srgbClr val="E0E0EC"/>
          </a:solidFill>
          <a:ln/>
        </p:spPr>
      </p:sp>
      <p:sp>
        <p:nvSpPr>
          <p:cNvPr id="9" name="Shape 6"/>
          <p:cNvSpPr/>
          <p:nvPr/>
        </p:nvSpPr>
        <p:spPr>
          <a:xfrm>
            <a:off x="1577697" y="2770703"/>
            <a:ext cx="521494" cy="521494"/>
          </a:xfrm>
          <a:prstGeom prst="roundRect">
            <a:avLst>
              <a:gd name="adj" fmla="val 87671"/>
            </a:avLst>
          </a:prstGeom>
          <a:solidFill>
            <a:srgbClr val="E0E0EC"/>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8071" y="2901077"/>
            <a:ext cx="260747" cy="260747"/>
          </a:xfrm>
          <a:prstGeom prst="rect">
            <a:avLst/>
          </a:prstGeom>
        </p:spPr>
      </p:pic>
      <p:sp>
        <p:nvSpPr>
          <p:cNvPr id="11" name="Text 7"/>
          <p:cNvSpPr/>
          <p:nvPr/>
        </p:nvSpPr>
        <p:spPr>
          <a:xfrm>
            <a:off x="2232422" y="2797850"/>
            <a:ext cx="2173248" cy="271582"/>
          </a:xfrm>
          <a:prstGeom prst="rect">
            <a:avLst/>
          </a:prstGeom>
          <a:noFill/>
          <a:ln/>
        </p:spPr>
        <p:txBody>
          <a:bodyPr wrap="none" lIns="0" tIns="0" rIns="0" bIns="0" rtlCol="0" anchor="t"/>
          <a:lstStyle/>
          <a:p>
            <a:pPr marL="0" indent="0" algn="l">
              <a:lnSpc>
                <a:spcPts val="210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Processing</a:t>
            </a:r>
            <a:endParaRPr lang="en-US" sz="1700" dirty="0"/>
          </a:p>
        </p:txBody>
      </p:sp>
      <p:sp>
        <p:nvSpPr>
          <p:cNvPr id="12" name="Text 8"/>
          <p:cNvSpPr/>
          <p:nvPr/>
        </p:nvSpPr>
        <p:spPr>
          <a:xfrm>
            <a:off x="2232422" y="3149322"/>
            <a:ext cx="11081028" cy="245626"/>
          </a:xfrm>
          <a:prstGeom prst="rect">
            <a:avLst/>
          </a:prstGeom>
          <a:noFill/>
          <a:ln/>
        </p:spPr>
        <p:txBody>
          <a:bodyPr wrap="none" lIns="0" tIns="0" rIns="0" bIns="0" rtlCol="0" anchor="t"/>
          <a:lstStyle/>
          <a:p>
            <a:pPr marL="0" indent="0" algn="l">
              <a:lnSpc>
                <a:spcPts val="1900"/>
              </a:lnSpc>
              <a:buNone/>
            </a:pPr>
            <a:r>
              <a:rPr lang="en-US" sz="1600" dirty="0">
                <a:solidFill>
                  <a:srgbClr val="39393C"/>
                </a:solidFill>
                <a:latin typeface="Open Sans" pitchFamily="34" charset="0"/>
                <a:ea typeface="Open Sans" pitchFamily="34" charset="-122"/>
                <a:cs typeface="Open Sans" pitchFamily="34" charset="-120"/>
              </a:rPr>
              <a:t>Arduino converts distance measurements into water level percentages</a:t>
            </a:r>
            <a:endParaRPr lang="en-US" sz="1600" dirty="0"/>
          </a:p>
        </p:txBody>
      </p:sp>
      <p:sp>
        <p:nvSpPr>
          <p:cNvPr id="13" name="Shape 9"/>
          <p:cNvSpPr/>
          <p:nvPr/>
        </p:nvSpPr>
        <p:spPr>
          <a:xfrm>
            <a:off x="2012275" y="4061103"/>
            <a:ext cx="173831" cy="782241"/>
          </a:xfrm>
          <a:prstGeom prst="roundRect">
            <a:avLst>
              <a:gd name="adj" fmla="val 15003"/>
            </a:avLst>
          </a:prstGeom>
          <a:solidFill>
            <a:srgbClr val="E0E0EC"/>
          </a:solidFill>
          <a:ln/>
        </p:spPr>
      </p:sp>
      <p:sp>
        <p:nvSpPr>
          <p:cNvPr id="14" name="Shape 10"/>
          <p:cNvSpPr/>
          <p:nvPr/>
        </p:nvSpPr>
        <p:spPr>
          <a:xfrm>
            <a:off x="1838444" y="3947041"/>
            <a:ext cx="521494" cy="521494"/>
          </a:xfrm>
          <a:prstGeom prst="roundRect">
            <a:avLst>
              <a:gd name="adj" fmla="val 87671"/>
            </a:avLst>
          </a:prstGeom>
          <a:solidFill>
            <a:srgbClr val="E0E0EC"/>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68818" y="4077414"/>
            <a:ext cx="260747" cy="260747"/>
          </a:xfrm>
          <a:prstGeom prst="rect">
            <a:avLst/>
          </a:prstGeom>
        </p:spPr>
      </p:pic>
      <p:sp>
        <p:nvSpPr>
          <p:cNvPr id="16" name="Text 11"/>
          <p:cNvSpPr/>
          <p:nvPr/>
        </p:nvSpPr>
        <p:spPr>
          <a:xfrm>
            <a:off x="2493169" y="3974187"/>
            <a:ext cx="2173248" cy="271582"/>
          </a:xfrm>
          <a:prstGeom prst="rect">
            <a:avLst/>
          </a:prstGeom>
          <a:noFill/>
          <a:ln/>
        </p:spPr>
        <p:txBody>
          <a:bodyPr wrap="none" lIns="0" tIns="0" rIns="0" bIns="0" rtlCol="0" anchor="t"/>
          <a:lstStyle/>
          <a:p>
            <a:pPr marL="0" indent="0" algn="l">
              <a:lnSpc>
                <a:spcPts val="210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Visual Indication</a:t>
            </a:r>
            <a:endParaRPr lang="en-US" sz="1700" dirty="0"/>
          </a:p>
        </p:txBody>
      </p:sp>
      <p:sp>
        <p:nvSpPr>
          <p:cNvPr id="17" name="Text 12"/>
          <p:cNvSpPr/>
          <p:nvPr/>
        </p:nvSpPr>
        <p:spPr>
          <a:xfrm>
            <a:off x="2493169" y="4325660"/>
            <a:ext cx="10820281" cy="245626"/>
          </a:xfrm>
          <a:prstGeom prst="rect">
            <a:avLst/>
          </a:prstGeom>
          <a:noFill/>
          <a:ln/>
        </p:spPr>
        <p:txBody>
          <a:bodyPr wrap="none" lIns="0" tIns="0" rIns="0" bIns="0" rtlCol="0" anchor="t"/>
          <a:lstStyle/>
          <a:p>
            <a:pPr marL="0" indent="0" algn="l">
              <a:lnSpc>
                <a:spcPts val="1900"/>
              </a:lnSpc>
              <a:buNone/>
            </a:pPr>
            <a:r>
              <a:rPr lang="en-US" sz="1600" dirty="0">
                <a:solidFill>
                  <a:srgbClr val="39393C"/>
                </a:solidFill>
                <a:latin typeface="Open Sans" pitchFamily="34" charset="0"/>
                <a:ea typeface="Open Sans" pitchFamily="34" charset="-122"/>
                <a:cs typeface="Open Sans" pitchFamily="34" charset="-120"/>
              </a:rPr>
              <a:t>LEDs change color based on level: red (low), yellow (medium), green (full)</a:t>
            </a:r>
            <a:endParaRPr lang="en-US" sz="1600" dirty="0"/>
          </a:p>
        </p:txBody>
      </p:sp>
      <p:sp>
        <p:nvSpPr>
          <p:cNvPr id="18" name="Shape 13"/>
          <p:cNvSpPr/>
          <p:nvPr/>
        </p:nvSpPr>
        <p:spPr>
          <a:xfrm>
            <a:off x="2273141" y="5237440"/>
            <a:ext cx="173831" cy="782241"/>
          </a:xfrm>
          <a:prstGeom prst="roundRect">
            <a:avLst>
              <a:gd name="adj" fmla="val 15003"/>
            </a:avLst>
          </a:prstGeom>
          <a:solidFill>
            <a:srgbClr val="E0E0EC"/>
          </a:solidFill>
          <a:ln/>
        </p:spPr>
      </p:sp>
      <p:sp>
        <p:nvSpPr>
          <p:cNvPr id="19" name="Shape 14"/>
          <p:cNvSpPr/>
          <p:nvPr/>
        </p:nvSpPr>
        <p:spPr>
          <a:xfrm>
            <a:off x="2099310" y="5123378"/>
            <a:ext cx="521494" cy="521494"/>
          </a:xfrm>
          <a:prstGeom prst="roundRect">
            <a:avLst>
              <a:gd name="adj" fmla="val 87671"/>
            </a:avLst>
          </a:prstGeom>
          <a:solidFill>
            <a:srgbClr val="E0E0EC"/>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29683" y="5253752"/>
            <a:ext cx="260747" cy="260747"/>
          </a:xfrm>
          <a:prstGeom prst="rect">
            <a:avLst/>
          </a:prstGeom>
        </p:spPr>
      </p:pic>
      <p:sp>
        <p:nvSpPr>
          <p:cNvPr id="21" name="Text 15"/>
          <p:cNvSpPr/>
          <p:nvPr/>
        </p:nvSpPr>
        <p:spPr>
          <a:xfrm>
            <a:off x="2754035" y="5150525"/>
            <a:ext cx="2173248" cy="271582"/>
          </a:xfrm>
          <a:prstGeom prst="rect">
            <a:avLst/>
          </a:prstGeom>
          <a:noFill/>
          <a:ln/>
        </p:spPr>
        <p:txBody>
          <a:bodyPr wrap="none" lIns="0" tIns="0" rIns="0" bIns="0" rtlCol="0" anchor="t"/>
          <a:lstStyle/>
          <a:p>
            <a:pPr marL="0" indent="0" algn="l">
              <a:lnSpc>
                <a:spcPts val="210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Display Output</a:t>
            </a:r>
            <a:endParaRPr lang="en-US" sz="1700" dirty="0"/>
          </a:p>
        </p:txBody>
      </p:sp>
      <p:sp>
        <p:nvSpPr>
          <p:cNvPr id="22" name="Text 16"/>
          <p:cNvSpPr/>
          <p:nvPr/>
        </p:nvSpPr>
        <p:spPr>
          <a:xfrm>
            <a:off x="2754035" y="5501997"/>
            <a:ext cx="10559415" cy="245626"/>
          </a:xfrm>
          <a:prstGeom prst="rect">
            <a:avLst/>
          </a:prstGeom>
          <a:noFill/>
          <a:ln/>
        </p:spPr>
        <p:txBody>
          <a:bodyPr wrap="none" lIns="0" tIns="0" rIns="0" bIns="0" rtlCol="0" anchor="t"/>
          <a:lstStyle/>
          <a:p>
            <a:pPr marL="0" indent="0" algn="l">
              <a:lnSpc>
                <a:spcPts val="1900"/>
              </a:lnSpc>
              <a:buNone/>
            </a:pPr>
            <a:r>
              <a:rPr lang="en-US" sz="1600" dirty="0">
                <a:solidFill>
                  <a:srgbClr val="39393C"/>
                </a:solidFill>
                <a:latin typeface="Open Sans" pitchFamily="34" charset="0"/>
                <a:ea typeface="Open Sans" pitchFamily="34" charset="-122"/>
                <a:cs typeface="Open Sans" pitchFamily="34" charset="-120"/>
              </a:rPr>
              <a:t>LCD shows exact percentage and status message in real-time</a:t>
            </a:r>
            <a:endParaRPr lang="en-US" sz="1600" dirty="0"/>
          </a:p>
        </p:txBody>
      </p:sp>
      <p:sp>
        <p:nvSpPr>
          <p:cNvPr id="23" name="Shape 17"/>
          <p:cNvSpPr/>
          <p:nvPr/>
        </p:nvSpPr>
        <p:spPr>
          <a:xfrm>
            <a:off x="2012275" y="6413778"/>
            <a:ext cx="173831" cy="782241"/>
          </a:xfrm>
          <a:prstGeom prst="roundRect">
            <a:avLst>
              <a:gd name="adj" fmla="val 15003"/>
            </a:avLst>
          </a:prstGeom>
          <a:solidFill>
            <a:srgbClr val="E0E0EC"/>
          </a:solidFill>
          <a:ln/>
        </p:spPr>
      </p:sp>
      <p:sp>
        <p:nvSpPr>
          <p:cNvPr id="24" name="Shape 18"/>
          <p:cNvSpPr/>
          <p:nvPr/>
        </p:nvSpPr>
        <p:spPr>
          <a:xfrm>
            <a:off x="1838444" y="6299716"/>
            <a:ext cx="521494" cy="521494"/>
          </a:xfrm>
          <a:prstGeom prst="roundRect">
            <a:avLst>
              <a:gd name="adj" fmla="val 87671"/>
            </a:avLst>
          </a:prstGeom>
          <a:solidFill>
            <a:srgbClr val="E0E0EC"/>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68818" y="6430089"/>
            <a:ext cx="260747" cy="260747"/>
          </a:xfrm>
          <a:prstGeom prst="rect">
            <a:avLst/>
          </a:prstGeom>
        </p:spPr>
      </p:pic>
      <p:sp>
        <p:nvSpPr>
          <p:cNvPr id="26" name="Text 19"/>
          <p:cNvSpPr/>
          <p:nvPr/>
        </p:nvSpPr>
        <p:spPr>
          <a:xfrm>
            <a:off x="2493169" y="6326862"/>
            <a:ext cx="2173248" cy="271582"/>
          </a:xfrm>
          <a:prstGeom prst="rect">
            <a:avLst/>
          </a:prstGeom>
          <a:noFill/>
          <a:ln/>
        </p:spPr>
        <p:txBody>
          <a:bodyPr wrap="none" lIns="0" tIns="0" rIns="0" bIns="0" rtlCol="0" anchor="t"/>
          <a:lstStyle/>
          <a:p>
            <a:pPr marL="0" indent="0" algn="l">
              <a:lnSpc>
                <a:spcPts val="210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Audio Alert</a:t>
            </a:r>
            <a:endParaRPr lang="en-US" sz="1700" dirty="0"/>
          </a:p>
        </p:txBody>
      </p:sp>
      <p:sp>
        <p:nvSpPr>
          <p:cNvPr id="27" name="Text 20"/>
          <p:cNvSpPr/>
          <p:nvPr/>
        </p:nvSpPr>
        <p:spPr>
          <a:xfrm>
            <a:off x="2493169" y="6678335"/>
            <a:ext cx="10820281" cy="245626"/>
          </a:xfrm>
          <a:prstGeom prst="rect">
            <a:avLst/>
          </a:prstGeom>
          <a:noFill/>
          <a:ln/>
        </p:spPr>
        <p:txBody>
          <a:bodyPr wrap="none" lIns="0" tIns="0" rIns="0" bIns="0" rtlCol="0" anchor="t"/>
          <a:lstStyle/>
          <a:p>
            <a:pPr marL="0" indent="0" algn="l">
              <a:lnSpc>
                <a:spcPts val="1900"/>
              </a:lnSpc>
              <a:buNone/>
            </a:pPr>
            <a:r>
              <a:rPr lang="en-US" sz="1600" dirty="0">
                <a:solidFill>
                  <a:srgbClr val="39393C"/>
                </a:solidFill>
                <a:latin typeface="Open Sans" pitchFamily="34" charset="0"/>
                <a:ea typeface="Open Sans" pitchFamily="34" charset="-122"/>
                <a:cs typeface="Open Sans" pitchFamily="34" charset="-120"/>
              </a:rPr>
              <a:t>Buzzer activates when tank reaches full or empty thresholds</a:t>
            </a:r>
            <a:endParaRPr lang="en-US" sz="1600" dirty="0"/>
          </a:p>
        </p:txBody>
      </p:sp>
      <p:sp>
        <p:nvSpPr>
          <p:cNvPr id="28" name="Text 21"/>
          <p:cNvSpPr/>
          <p:nvPr/>
        </p:nvSpPr>
        <p:spPr>
          <a:xfrm>
            <a:off x="1316950" y="7346037"/>
            <a:ext cx="11996499" cy="245626"/>
          </a:xfrm>
          <a:prstGeom prst="rect">
            <a:avLst/>
          </a:prstGeom>
          <a:noFill/>
          <a:ln/>
        </p:spPr>
        <p:txBody>
          <a:bodyPr wrap="none" lIns="0" tIns="0" rIns="0" bIns="0" rtlCol="0" anchor="t"/>
          <a:lstStyle/>
          <a:p>
            <a:pPr marL="0" indent="0" algn="r">
              <a:lnSpc>
                <a:spcPts val="1900"/>
              </a:lnSpc>
              <a:buNone/>
            </a:pPr>
            <a:r>
              <a:rPr lang="en-US" sz="1350" dirty="0">
                <a:solidFill>
                  <a:srgbClr val="39393C"/>
                </a:solidFill>
                <a:latin typeface="Open Sans" pitchFamily="34" charset="0"/>
                <a:ea typeface="Open Sans" pitchFamily="34" charset="-122"/>
                <a:cs typeface="Open Sans" pitchFamily="34" charset="-120"/>
              </a:rPr>
              <a:t>6</a:t>
            </a:r>
            <a:endParaRPr lang="en-US" sz="1350" dirty="0"/>
          </a:p>
        </p:txBody>
      </p:sp>
      <p:sp>
        <p:nvSpPr>
          <p:cNvPr id="30" name="Rectangle 29">
            <a:extLst>
              <a:ext uri="{FF2B5EF4-FFF2-40B4-BE49-F238E27FC236}">
                <a16:creationId xmlns:a16="http://schemas.microsoft.com/office/drawing/2014/main" id="{6678B0FA-8A5B-B1DA-AE6B-D3D9973A0FD2}"/>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729264" y="690086"/>
            <a:ext cx="6409968" cy="506016"/>
          </a:xfrm>
          <a:prstGeom prst="rect">
            <a:avLst/>
          </a:prstGeom>
          <a:noFill/>
          <a:ln/>
        </p:spPr>
        <p:txBody>
          <a:bodyPr wrap="none" lIns="0" tIns="0" rIns="0" bIns="0" rtlCol="0" anchor="t"/>
          <a:lstStyle/>
          <a:p>
            <a:pPr marL="0" indent="0" algn="l">
              <a:lnSpc>
                <a:spcPts val="3950"/>
              </a:lnSpc>
              <a:buNone/>
            </a:pPr>
            <a:r>
              <a:rPr lang="en-US" sz="3150" b="1" dirty="0">
                <a:solidFill>
                  <a:srgbClr val="101014"/>
                </a:solidFill>
                <a:latin typeface="Playfair Display Bold" pitchFamily="34" charset="0"/>
                <a:ea typeface="Playfair Display Bold" pitchFamily="34" charset="-122"/>
                <a:cs typeface="Playfair Display Bold" pitchFamily="34" charset="-120"/>
              </a:rPr>
              <a:t>Circuit Diagram &amp; Code Overview</a:t>
            </a:r>
            <a:endParaRPr lang="en-US" sz="3150" dirty="0"/>
          </a:p>
        </p:txBody>
      </p:sp>
      <p:sp>
        <p:nvSpPr>
          <p:cNvPr id="3" name="Text 1"/>
          <p:cNvSpPr/>
          <p:nvPr/>
        </p:nvSpPr>
        <p:spPr>
          <a:xfrm>
            <a:off x="1729264" y="2573774"/>
            <a:ext cx="2023824" cy="253008"/>
          </a:xfrm>
          <a:prstGeom prst="rect">
            <a:avLst/>
          </a:prstGeom>
          <a:noFill/>
          <a:ln/>
        </p:spPr>
        <p:txBody>
          <a:bodyPr wrap="none" lIns="0" tIns="0" rIns="0" bIns="0" rtlCol="0" anchor="t"/>
          <a:lstStyle/>
          <a:p>
            <a:pPr marL="0" indent="0" algn="l">
              <a:lnSpc>
                <a:spcPts val="1950"/>
              </a:lnSpc>
              <a:buNone/>
            </a:pPr>
            <a:r>
              <a:rPr lang="en-US" sz="1550" b="1" dirty="0">
                <a:solidFill>
                  <a:srgbClr val="101014"/>
                </a:solidFill>
                <a:latin typeface="Playfair Display Bold" pitchFamily="34" charset="0"/>
                <a:ea typeface="Playfair Display Bold" pitchFamily="34" charset="-122"/>
                <a:cs typeface="Playfair Display Bold" pitchFamily="34" charset="-120"/>
              </a:rPr>
              <a:t>Circuit Schematic</a:t>
            </a:r>
            <a:endParaRPr lang="en-US" sz="1550" dirty="0"/>
          </a:p>
        </p:txBody>
      </p:sp>
      <p:sp>
        <p:nvSpPr>
          <p:cNvPr id="4" name="Text 2"/>
          <p:cNvSpPr/>
          <p:nvPr/>
        </p:nvSpPr>
        <p:spPr>
          <a:xfrm>
            <a:off x="1729264" y="2942273"/>
            <a:ext cx="3653314" cy="1331595"/>
          </a:xfrm>
          <a:prstGeom prst="rect">
            <a:avLst/>
          </a:prstGeom>
          <a:noFill/>
          <a:ln/>
        </p:spPr>
        <p:txBody>
          <a:bodyPr wrap="square" lIns="0" tIns="0" rIns="0" bIns="0" rtlCol="0" anchor="t"/>
          <a:lstStyle/>
          <a:p>
            <a:pPr marL="0" indent="0" algn="l">
              <a:lnSpc>
                <a:spcPts val="1700"/>
              </a:lnSpc>
              <a:buNone/>
            </a:pPr>
            <a:r>
              <a:rPr lang="en-US" sz="1400" dirty="0">
                <a:solidFill>
                  <a:srgbClr val="39393C"/>
                </a:solidFill>
                <a:latin typeface="Open Sans" pitchFamily="34" charset="0"/>
                <a:ea typeface="Open Sans" pitchFamily="34" charset="-122"/>
                <a:cs typeface="Open Sans" pitchFamily="34" charset="-120"/>
              </a:rPr>
              <a:t>The system connects the ultrasonic sensor to Arduino's digital pins for distance measurement. LED indicators connect to separate digital outputs for level indication. LCD display uses I2C communication, while buzzer connects to a PWM pin for audio alerts.</a:t>
            </a:r>
            <a:endParaRPr lang="en-US" sz="1400" dirty="0"/>
          </a:p>
        </p:txBody>
      </p:sp>
      <p:pic>
        <p:nvPicPr>
          <p:cNvPr id="5" name="Image 0" descr="preencoded.png"/>
          <p:cNvPicPr>
            <a:picLocks noChangeAspect="1"/>
          </p:cNvPicPr>
          <p:nvPr/>
        </p:nvPicPr>
        <p:blipFill>
          <a:blip r:embed="rId3"/>
          <a:stretch>
            <a:fillRect/>
          </a:stretch>
        </p:blipFill>
        <p:spPr>
          <a:xfrm>
            <a:off x="6019681" y="1499473"/>
            <a:ext cx="6654522" cy="3837265"/>
          </a:xfrm>
          <a:prstGeom prst="rect">
            <a:avLst/>
          </a:prstGeom>
        </p:spPr>
      </p:pic>
      <p:sp>
        <p:nvSpPr>
          <p:cNvPr id="6" name="Shape 3"/>
          <p:cNvSpPr/>
          <p:nvPr/>
        </p:nvSpPr>
        <p:spPr>
          <a:xfrm>
            <a:off x="1729264" y="5596771"/>
            <a:ext cx="5528191" cy="913567"/>
          </a:xfrm>
          <a:prstGeom prst="roundRect">
            <a:avLst>
              <a:gd name="adj" fmla="val 12011"/>
            </a:avLst>
          </a:prstGeom>
          <a:solidFill>
            <a:srgbClr val="F3F3F7"/>
          </a:solidFill>
          <a:ln w="22860">
            <a:solidFill>
              <a:srgbClr val="C6C6D2"/>
            </a:solidFill>
            <a:prstDash val="solid"/>
          </a:ln>
        </p:spPr>
      </p:sp>
      <p:sp>
        <p:nvSpPr>
          <p:cNvPr id="7" name="Shape 4"/>
          <p:cNvSpPr/>
          <p:nvPr/>
        </p:nvSpPr>
        <p:spPr>
          <a:xfrm>
            <a:off x="1706404" y="5596771"/>
            <a:ext cx="91440" cy="913567"/>
          </a:xfrm>
          <a:prstGeom prst="roundRect">
            <a:avLst>
              <a:gd name="adj" fmla="val 26561"/>
            </a:avLst>
          </a:prstGeom>
          <a:solidFill>
            <a:srgbClr val="101014"/>
          </a:solidFill>
          <a:ln/>
        </p:spPr>
      </p:sp>
      <p:sp>
        <p:nvSpPr>
          <p:cNvPr id="8" name="Text 5"/>
          <p:cNvSpPr/>
          <p:nvPr/>
        </p:nvSpPr>
        <p:spPr>
          <a:xfrm>
            <a:off x="1982510" y="5781437"/>
            <a:ext cx="2023824" cy="253008"/>
          </a:xfrm>
          <a:prstGeom prst="rect">
            <a:avLst/>
          </a:prstGeom>
          <a:noFill/>
          <a:ln/>
        </p:spPr>
        <p:txBody>
          <a:bodyPr wrap="none" lIns="0" tIns="0" rIns="0" bIns="0" rtlCol="0" anchor="t"/>
          <a:lstStyle/>
          <a:p>
            <a:pPr marL="0" indent="0" algn="l">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Initialization</a:t>
            </a:r>
            <a:endParaRPr lang="en-US" sz="1550" dirty="0"/>
          </a:p>
        </p:txBody>
      </p:sp>
      <p:sp>
        <p:nvSpPr>
          <p:cNvPr id="9" name="Text 6"/>
          <p:cNvSpPr/>
          <p:nvPr/>
        </p:nvSpPr>
        <p:spPr>
          <a:xfrm>
            <a:off x="1982510" y="6103739"/>
            <a:ext cx="5090279" cy="221933"/>
          </a:xfrm>
          <a:prstGeom prst="rect">
            <a:avLst/>
          </a:prstGeom>
          <a:noFill/>
          <a:ln/>
        </p:spPr>
        <p:txBody>
          <a:bodyPr wrap="none" lIns="0" tIns="0" rIns="0" bIns="0" rtlCol="0" anchor="t"/>
          <a:lstStyle/>
          <a:p>
            <a:pPr marL="0" indent="0" algn="l">
              <a:lnSpc>
                <a:spcPts val="1700"/>
              </a:lnSpc>
              <a:buNone/>
            </a:pPr>
            <a:r>
              <a:rPr lang="en-US" sz="1400" dirty="0">
                <a:solidFill>
                  <a:srgbClr val="39393C"/>
                </a:solidFill>
                <a:latin typeface="Times New Roman" panose="02020603050405020304" pitchFamily="18" charset="0"/>
                <a:ea typeface="Open Sans" pitchFamily="34" charset="-122"/>
                <a:cs typeface="Times New Roman" panose="02020603050405020304" pitchFamily="18" charset="0"/>
              </a:rPr>
              <a:t>Setup sensor pins, LCD display, and LED outputs</a:t>
            </a:r>
            <a:endParaRPr lang="en-US" sz="1400" dirty="0">
              <a:latin typeface="Times New Roman" panose="02020603050405020304" pitchFamily="18" charset="0"/>
              <a:cs typeface="Times New Roman" panose="02020603050405020304" pitchFamily="18" charset="0"/>
            </a:endParaRPr>
          </a:p>
        </p:txBody>
      </p:sp>
      <p:sp>
        <p:nvSpPr>
          <p:cNvPr id="10" name="Shape 7"/>
          <p:cNvSpPr/>
          <p:nvPr/>
        </p:nvSpPr>
        <p:spPr>
          <a:xfrm>
            <a:off x="7372945" y="5596771"/>
            <a:ext cx="5528191" cy="913567"/>
          </a:xfrm>
          <a:prstGeom prst="roundRect">
            <a:avLst>
              <a:gd name="adj" fmla="val 12011"/>
            </a:avLst>
          </a:prstGeom>
          <a:solidFill>
            <a:srgbClr val="F3F3F7"/>
          </a:solidFill>
          <a:ln w="22860">
            <a:solidFill>
              <a:srgbClr val="C6C6D2"/>
            </a:solidFill>
            <a:prstDash val="solid"/>
          </a:ln>
        </p:spPr>
      </p:sp>
      <p:sp>
        <p:nvSpPr>
          <p:cNvPr id="11" name="Shape 8"/>
          <p:cNvSpPr/>
          <p:nvPr/>
        </p:nvSpPr>
        <p:spPr>
          <a:xfrm>
            <a:off x="7350085" y="5596771"/>
            <a:ext cx="91440" cy="913567"/>
          </a:xfrm>
          <a:prstGeom prst="roundRect">
            <a:avLst>
              <a:gd name="adj" fmla="val 26561"/>
            </a:avLst>
          </a:prstGeom>
          <a:solidFill>
            <a:srgbClr val="101014"/>
          </a:solidFill>
          <a:ln/>
        </p:spPr>
      </p:sp>
      <p:sp>
        <p:nvSpPr>
          <p:cNvPr id="12" name="Text 9"/>
          <p:cNvSpPr/>
          <p:nvPr/>
        </p:nvSpPr>
        <p:spPr>
          <a:xfrm>
            <a:off x="7626191" y="5781437"/>
            <a:ext cx="2023824" cy="253008"/>
          </a:xfrm>
          <a:prstGeom prst="rect">
            <a:avLst/>
          </a:prstGeom>
          <a:noFill/>
          <a:ln/>
        </p:spPr>
        <p:txBody>
          <a:bodyPr wrap="none" lIns="0" tIns="0" rIns="0" bIns="0" rtlCol="0" anchor="t"/>
          <a:lstStyle/>
          <a:p>
            <a:pPr marL="0" indent="0" algn="l">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Continuous Loop</a:t>
            </a:r>
            <a:endParaRPr lang="en-US" sz="1550" dirty="0"/>
          </a:p>
        </p:txBody>
      </p:sp>
      <p:sp>
        <p:nvSpPr>
          <p:cNvPr id="13" name="Text 10"/>
          <p:cNvSpPr/>
          <p:nvPr/>
        </p:nvSpPr>
        <p:spPr>
          <a:xfrm>
            <a:off x="7626191" y="6103739"/>
            <a:ext cx="5090279" cy="221933"/>
          </a:xfrm>
          <a:prstGeom prst="rect">
            <a:avLst/>
          </a:prstGeom>
          <a:noFill/>
          <a:ln/>
        </p:spPr>
        <p:txBody>
          <a:bodyPr wrap="none" lIns="0" tIns="0" rIns="0" bIns="0" rtlCol="0" anchor="t"/>
          <a:lstStyle/>
          <a:p>
            <a:pPr marL="0" indent="0" algn="l">
              <a:lnSpc>
                <a:spcPts val="1700"/>
              </a:lnSpc>
              <a:buNone/>
            </a:pPr>
            <a:r>
              <a:rPr lang="en-US" sz="1400" dirty="0">
                <a:solidFill>
                  <a:srgbClr val="39393C"/>
                </a:solidFill>
                <a:latin typeface="Open Sans" pitchFamily="34" charset="0"/>
                <a:ea typeface="Open Sans" pitchFamily="34" charset="-122"/>
                <a:cs typeface="Open Sans" pitchFamily="34" charset="-120"/>
              </a:rPr>
              <a:t>Read sensor data every 500ms and calculate water level</a:t>
            </a:r>
            <a:endParaRPr lang="en-US" sz="1400" dirty="0"/>
          </a:p>
        </p:txBody>
      </p:sp>
      <p:sp>
        <p:nvSpPr>
          <p:cNvPr id="14" name="Shape 11"/>
          <p:cNvSpPr/>
          <p:nvPr/>
        </p:nvSpPr>
        <p:spPr>
          <a:xfrm>
            <a:off x="1729264" y="6625828"/>
            <a:ext cx="5528191" cy="913567"/>
          </a:xfrm>
          <a:prstGeom prst="roundRect">
            <a:avLst>
              <a:gd name="adj" fmla="val 12011"/>
            </a:avLst>
          </a:prstGeom>
          <a:solidFill>
            <a:srgbClr val="F3F3F7"/>
          </a:solidFill>
          <a:ln w="22860">
            <a:solidFill>
              <a:srgbClr val="C6C6D2"/>
            </a:solidFill>
            <a:prstDash val="solid"/>
          </a:ln>
        </p:spPr>
      </p:sp>
      <p:sp>
        <p:nvSpPr>
          <p:cNvPr id="15" name="Shape 12"/>
          <p:cNvSpPr/>
          <p:nvPr/>
        </p:nvSpPr>
        <p:spPr>
          <a:xfrm>
            <a:off x="1706404" y="6625828"/>
            <a:ext cx="91440" cy="913567"/>
          </a:xfrm>
          <a:prstGeom prst="roundRect">
            <a:avLst>
              <a:gd name="adj" fmla="val 26561"/>
            </a:avLst>
          </a:prstGeom>
          <a:solidFill>
            <a:srgbClr val="101014"/>
          </a:solidFill>
          <a:ln/>
        </p:spPr>
      </p:sp>
      <p:sp>
        <p:nvSpPr>
          <p:cNvPr id="16" name="Text 13"/>
          <p:cNvSpPr/>
          <p:nvPr/>
        </p:nvSpPr>
        <p:spPr>
          <a:xfrm>
            <a:off x="1982510" y="6810494"/>
            <a:ext cx="2023824" cy="253008"/>
          </a:xfrm>
          <a:prstGeom prst="rect">
            <a:avLst/>
          </a:prstGeom>
          <a:noFill/>
          <a:ln/>
        </p:spPr>
        <p:txBody>
          <a:bodyPr wrap="none" lIns="0" tIns="0" rIns="0" bIns="0" rtlCol="0" anchor="t"/>
          <a:lstStyle/>
          <a:p>
            <a:pPr marL="0" indent="0" algn="l">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Logic Processing</a:t>
            </a:r>
            <a:endParaRPr lang="en-US" sz="1550" dirty="0"/>
          </a:p>
        </p:txBody>
      </p:sp>
      <p:sp>
        <p:nvSpPr>
          <p:cNvPr id="17" name="Text 14"/>
          <p:cNvSpPr/>
          <p:nvPr/>
        </p:nvSpPr>
        <p:spPr>
          <a:xfrm>
            <a:off x="1982510" y="7132796"/>
            <a:ext cx="5090279" cy="221933"/>
          </a:xfrm>
          <a:prstGeom prst="rect">
            <a:avLst/>
          </a:prstGeom>
          <a:noFill/>
          <a:ln/>
        </p:spPr>
        <p:txBody>
          <a:bodyPr wrap="none" lIns="0" tIns="0" rIns="0" bIns="0" rtlCol="0" anchor="t"/>
          <a:lstStyle/>
          <a:p>
            <a:pPr marL="0" indent="0" algn="l">
              <a:lnSpc>
                <a:spcPts val="1700"/>
              </a:lnSpc>
              <a:buNone/>
            </a:pPr>
            <a:r>
              <a:rPr lang="en-US" sz="1400" dirty="0">
                <a:solidFill>
                  <a:srgbClr val="39393C"/>
                </a:solidFill>
                <a:latin typeface="Open Sans" pitchFamily="34" charset="0"/>
                <a:ea typeface="Open Sans" pitchFamily="34" charset="-122"/>
                <a:cs typeface="Open Sans" pitchFamily="34" charset="-120"/>
              </a:rPr>
              <a:t>Determine level category and update LED status accordingly</a:t>
            </a:r>
            <a:endParaRPr lang="en-US" sz="1400" dirty="0"/>
          </a:p>
        </p:txBody>
      </p:sp>
      <p:sp>
        <p:nvSpPr>
          <p:cNvPr id="18" name="Shape 15"/>
          <p:cNvSpPr/>
          <p:nvPr/>
        </p:nvSpPr>
        <p:spPr>
          <a:xfrm>
            <a:off x="7372945" y="6625828"/>
            <a:ext cx="5528191" cy="913567"/>
          </a:xfrm>
          <a:prstGeom prst="roundRect">
            <a:avLst>
              <a:gd name="adj" fmla="val 12011"/>
            </a:avLst>
          </a:prstGeom>
          <a:solidFill>
            <a:srgbClr val="F3F3F7"/>
          </a:solidFill>
          <a:ln w="22860">
            <a:solidFill>
              <a:srgbClr val="C6C6D2"/>
            </a:solidFill>
            <a:prstDash val="solid"/>
          </a:ln>
        </p:spPr>
      </p:sp>
      <p:sp>
        <p:nvSpPr>
          <p:cNvPr id="19" name="Shape 16"/>
          <p:cNvSpPr/>
          <p:nvPr/>
        </p:nvSpPr>
        <p:spPr>
          <a:xfrm>
            <a:off x="7350085" y="6625828"/>
            <a:ext cx="91440" cy="913567"/>
          </a:xfrm>
          <a:prstGeom prst="roundRect">
            <a:avLst>
              <a:gd name="adj" fmla="val 26561"/>
            </a:avLst>
          </a:prstGeom>
          <a:solidFill>
            <a:srgbClr val="101014"/>
          </a:solidFill>
          <a:ln/>
        </p:spPr>
      </p:sp>
      <p:sp>
        <p:nvSpPr>
          <p:cNvPr id="20" name="Text 17"/>
          <p:cNvSpPr/>
          <p:nvPr/>
        </p:nvSpPr>
        <p:spPr>
          <a:xfrm>
            <a:off x="7626191" y="6810494"/>
            <a:ext cx="2023824" cy="253008"/>
          </a:xfrm>
          <a:prstGeom prst="rect">
            <a:avLst/>
          </a:prstGeom>
          <a:noFill/>
          <a:ln/>
        </p:spPr>
        <p:txBody>
          <a:bodyPr wrap="none" lIns="0" tIns="0" rIns="0" bIns="0" rtlCol="0" anchor="t"/>
          <a:lstStyle/>
          <a:p>
            <a:pPr marL="0" indent="0" algn="l">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Output Update</a:t>
            </a:r>
            <a:endParaRPr lang="en-US" sz="1550" dirty="0"/>
          </a:p>
        </p:txBody>
      </p:sp>
      <p:sp>
        <p:nvSpPr>
          <p:cNvPr id="21" name="Text 18"/>
          <p:cNvSpPr/>
          <p:nvPr/>
        </p:nvSpPr>
        <p:spPr>
          <a:xfrm>
            <a:off x="7626191" y="7132796"/>
            <a:ext cx="5090279" cy="221933"/>
          </a:xfrm>
          <a:prstGeom prst="rect">
            <a:avLst/>
          </a:prstGeom>
          <a:noFill/>
          <a:ln/>
        </p:spPr>
        <p:txBody>
          <a:bodyPr wrap="none" lIns="0" tIns="0" rIns="0" bIns="0" rtlCol="0" anchor="t"/>
          <a:lstStyle/>
          <a:p>
            <a:pPr marL="0" indent="0" algn="l">
              <a:lnSpc>
                <a:spcPts val="1700"/>
              </a:lnSpc>
              <a:buNone/>
            </a:pPr>
            <a:r>
              <a:rPr lang="en-US" sz="1400" dirty="0">
                <a:solidFill>
                  <a:srgbClr val="39393C"/>
                </a:solidFill>
                <a:latin typeface="Open Sans" pitchFamily="34" charset="0"/>
                <a:ea typeface="Open Sans" pitchFamily="34" charset="-122"/>
                <a:cs typeface="Open Sans" pitchFamily="34" charset="-120"/>
              </a:rPr>
              <a:t>Refresh LCD display and trigger buzzer if needed</a:t>
            </a:r>
            <a:endParaRPr lang="en-US" sz="1400" dirty="0"/>
          </a:p>
        </p:txBody>
      </p:sp>
      <p:sp>
        <p:nvSpPr>
          <p:cNvPr id="22" name="Text 19"/>
          <p:cNvSpPr/>
          <p:nvPr/>
        </p:nvSpPr>
        <p:spPr>
          <a:xfrm>
            <a:off x="1729264" y="4003834"/>
            <a:ext cx="11171873" cy="221933"/>
          </a:xfrm>
          <a:prstGeom prst="rect">
            <a:avLst/>
          </a:prstGeom>
          <a:noFill/>
          <a:ln/>
        </p:spPr>
        <p:txBody>
          <a:bodyPr wrap="none" lIns="0" tIns="0" rIns="0" bIns="0" rtlCol="0" anchor="t"/>
          <a:lstStyle/>
          <a:p>
            <a:pPr marL="0" indent="0" algn="r">
              <a:lnSpc>
                <a:spcPts val="1700"/>
              </a:lnSpc>
              <a:buNone/>
            </a:pPr>
            <a:r>
              <a:rPr lang="en-US" sz="1250" dirty="0">
                <a:solidFill>
                  <a:srgbClr val="39393C"/>
                </a:solidFill>
                <a:latin typeface="Open Sans" pitchFamily="34" charset="0"/>
                <a:ea typeface="Open Sans" pitchFamily="34" charset="-122"/>
                <a:cs typeface="Open Sans" pitchFamily="34" charset="-120"/>
              </a:rPr>
              <a:t>7</a:t>
            </a:r>
            <a:endParaRPr lang="en-US" sz="1250" dirty="0"/>
          </a:p>
        </p:txBody>
      </p:sp>
      <p:sp>
        <p:nvSpPr>
          <p:cNvPr id="24" name="Rectangle 23">
            <a:extLst>
              <a:ext uri="{FF2B5EF4-FFF2-40B4-BE49-F238E27FC236}">
                <a16:creationId xmlns:a16="http://schemas.microsoft.com/office/drawing/2014/main" id="{EF38D8E7-365F-16C2-669D-541029C1E9ED}"/>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8513" y="1323975"/>
            <a:ext cx="6842165" cy="635794"/>
          </a:xfrm>
          <a:prstGeom prst="rect">
            <a:avLst/>
          </a:prstGeom>
          <a:noFill/>
          <a:ln/>
        </p:spPr>
        <p:txBody>
          <a:bodyPr wrap="none" lIns="0" tIns="0" rIns="0" bIns="0" rtlCol="0" anchor="t"/>
          <a:lstStyle/>
          <a:p>
            <a:pPr marL="0" indent="0" algn="l">
              <a:lnSpc>
                <a:spcPts val="5000"/>
              </a:lnSpc>
              <a:buNone/>
            </a:pPr>
            <a:r>
              <a:rPr lang="en-US" sz="4000" b="1" dirty="0">
                <a:solidFill>
                  <a:srgbClr val="101014"/>
                </a:solidFill>
                <a:latin typeface="Playfair Display Bold" pitchFamily="34" charset="0"/>
                <a:ea typeface="Playfair Display Bold" pitchFamily="34" charset="-122"/>
                <a:cs typeface="Playfair Display Bold" pitchFamily="34" charset="-120"/>
              </a:rPr>
              <a:t>Demonstration &amp; Simulation</a:t>
            </a:r>
            <a:endParaRPr lang="en-US" sz="4000" dirty="0"/>
          </a:p>
        </p:txBody>
      </p:sp>
      <p:sp>
        <p:nvSpPr>
          <p:cNvPr id="4" name="Shape 1"/>
          <p:cNvSpPr/>
          <p:nvPr/>
        </p:nvSpPr>
        <p:spPr>
          <a:xfrm>
            <a:off x="6198513" y="2233493"/>
            <a:ext cx="22860" cy="4158139"/>
          </a:xfrm>
          <a:prstGeom prst="roundRect">
            <a:avLst>
              <a:gd name="adj" fmla="val 133508"/>
            </a:avLst>
          </a:prstGeom>
          <a:solidFill>
            <a:srgbClr val="C6C6D2"/>
          </a:solidFill>
          <a:ln/>
        </p:spPr>
      </p:sp>
      <p:sp>
        <p:nvSpPr>
          <p:cNvPr id="5" name="Shape 2"/>
          <p:cNvSpPr/>
          <p:nvPr/>
        </p:nvSpPr>
        <p:spPr>
          <a:xfrm>
            <a:off x="6221373" y="2233493"/>
            <a:ext cx="7719774" cy="1142762"/>
          </a:xfrm>
          <a:prstGeom prst="rect">
            <a:avLst/>
          </a:prstGeom>
          <a:solidFill>
            <a:srgbClr val="E0E0EC"/>
          </a:solidFill>
          <a:ln/>
        </p:spPr>
      </p:sp>
      <p:sp>
        <p:nvSpPr>
          <p:cNvPr id="6" name="Text 3"/>
          <p:cNvSpPr/>
          <p:nvPr/>
        </p:nvSpPr>
        <p:spPr>
          <a:xfrm>
            <a:off x="6424732" y="2436852"/>
            <a:ext cx="2543294" cy="317897"/>
          </a:xfrm>
          <a:prstGeom prst="rect">
            <a:avLst/>
          </a:prstGeom>
          <a:noFill/>
          <a:ln/>
        </p:spPr>
        <p:txBody>
          <a:bodyPr wrap="none" lIns="0" tIns="0" rIns="0" bIns="0" rtlCol="0" anchor="t"/>
          <a:lstStyle/>
          <a:p>
            <a:pPr marL="0" indent="0" algn="l">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Low Water Level</a:t>
            </a:r>
            <a:endParaRPr lang="en-US" sz="2000" dirty="0"/>
          </a:p>
        </p:txBody>
      </p:sp>
      <p:sp>
        <p:nvSpPr>
          <p:cNvPr id="7" name="Text 4"/>
          <p:cNvSpPr/>
          <p:nvPr/>
        </p:nvSpPr>
        <p:spPr>
          <a:xfrm>
            <a:off x="6424732" y="2864168"/>
            <a:ext cx="7313057" cy="308729"/>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Red LED illuminates, LCD displays "LOW" message, buzzer sounds alert</a:t>
            </a:r>
            <a:endParaRPr lang="en-US" sz="1600" dirty="0"/>
          </a:p>
        </p:txBody>
      </p:sp>
      <p:sp>
        <p:nvSpPr>
          <p:cNvPr id="8" name="Shape 5"/>
          <p:cNvSpPr/>
          <p:nvPr/>
        </p:nvSpPr>
        <p:spPr>
          <a:xfrm>
            <a:off x="6221373" y="3741182"/>
            <a:ext cx="7719774" cy="1142762"/>
          </a:xfrm>
          <a:prstGeom prst="rect">
            <a:avLst/>
          </a:prstGeom>
          <a:solidFill>
            <a:srgbClr val="E0E0EC"/>
          </a:solidFill>
          <a:ln/>
        </p:spPr>
      </p:sp>
      <p:sp>
        <p:nvSpPr>
          <p:cNvPr id="9" name="Text 6"/>
          <p:cNvSpPr/>
          <p:nvPr/>
        </p:nvSpPr>
        <p:spPr>
          <a:xfrm>
            <a:off x="6424732" y="3944541"/>
            <a:ext cx="2543294" cy="317897"/>
          </a:xfrm>
          <a:prstGeom prst="rect">
            <a:avLst/>
          </a:prstGeom>
          <a:noFill/>
          <a:ln/>
        </p:spPr>
        <p:txBody>
          <a:bodyPr wrap="none" lIns="0" tIns="0" rIns="0" bIns="0" rtlCol="0" anchor="t"/>
          <a:lstStyle/>
          <a:p>
            <a:pPr marL="0" indent="0" algn="l">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Medium Water Level</a:t>
            </a:r>
            <a:endParaRPr lang="en-US" sz="2000" dirty="0"/>
          </a:p>
        </p:txBody>
      </p:sp>
      <p:sp>
        <p:nvSpPr>
          <p:cNvPr id="10" name="Text 7"/>
          <p:cNvSpPr/>
          <p:nvPr/>
        </p:nvSpPr>
        <p:spPr>
          <a:xfrm>
            <a:off x="6424732" y="4371856"/>
            <a:ext cx="7313057" cy="308729"/>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Yellow LED activates, LCD shows percentage between 30-70%</a:t>
            </a:r>
            <a:endParaRPr lang="en-US" sz="1600" dirty="0"/>
          </a:p>
        </p:txBody>
      </p:sp>
      <p:sp>
        <p:nvSpPr>
          <p:cNvPr id="11" name="Shape 8"/>
          <p:cNvSpPr/>
          <p:nvPr/>
        </p:nvSpPr>
        <p:spPr>
          <a:xfrm>
            <a:off x="6221373" y="5248870"/>
            <a:ext cx="7719774" cy="1142762"/>
          </a:xfrm>
          <a:prstGeom prst="rect">
            <a:avLst/>
          </a:prstGeom>
          <a:solidFill>
            <a:srgbClr val="E0E0EC"/>
          </a:solidFill>
          <a:ln/>
        </p:spPr>
      </p:sp>
      <p:sp>
        <p:nvSpPr>
          <p:cNvPr id="12" name="Text 9"/>
          <p:cNvSpPr/>
          <p:nvPr/>
        </p:nvSpPr>
        <p:spPr>
          <a:xfrm>
            <a:off x="6424732" y="5452229"/>
            <a:ext cx="2543294" cy="317897"/>
          </a:xfrm>
          <a:prstGeom prst="rect">
            <a:avLst/>
          </a:prstGeom>
          <a:noFill/>
          <a:ln/>
        </p:spPr>
        <p:txBody>
          <a:bodyPr wrap="none" lIns="0" tIns="0" rIns="0" bIns="0" rtlCol="0" anchor="t"/>
          <a:lstStyle/>
          <a:p>
            <a:pPr marL="0" indent="0" algn="l">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Full Water Level</a:t>
            </a:r>
            <a:endParaRPr lang="en-US" sz="2000" dirty="0"/>
          </a:p>
        </p:txBody>
      </p:sp>
      <p:sp>
        <p:nvSpPr>
          <p:cNvPr id="13" name="Text 10"/>
          <p:cNvSpPr/>
          <p:nvPr/>
        </p:nvSpPr>
        <p:spPr>
          <a:xfrm>
            <a:off x="6424732" y="5879544"/>
            <a:ext cx="7313057" cy="308729"/>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Green LED turns on, LCD indicates "FULL", buzzer alerts user to stop filling</a:t>
            </a:r>
            <a:endParaRPr lang="en-US" sz="1600" dirty="0"/>
          </a:p>
        </p:txBody>
      </p:sp>
      <p:sp>
        <p:nvSpPr>
          <p:cNvPr id="14" name="Text 11"/>
          <p:cNvSpPr/>
          <p:nvPr/>
        </p:nvSpPr>
        <p:spPr>
          <a:xfrm>
            <a:off x="6198513" y="6596896"/>
            <a:ext cx="7719774" cy="308729"/>
          </a:xfrm>
          <a:prstGeom prst="rect">
            <a:avLst/>
          </a:prstGeom>
          <a:noFill/>
          <a:ln/>
        </p:spPr>
        <p:txBody>
          <a:bodyPr wrap="none" lIns="0" tIns="0" rIns="0" bIns="0" rtlCol="0" anchor="t"/>
          <a:lstStyle/>
          <a:p>
            <a:pPr marL="0" indent="0" algn="r">
              <a:lnSpc>
                <a:spcPts val="2400"/>
              </a:lnSpc>
              <a:buNone/>
            </a:pPr>
            <a:r>
              <a:rPr lang="en-US" sz="1600" dirty="0">
                <a:solidFill>
                  <a:srgbClr val="39393C"/>
                </a:solidFill>
                <a:latin typeface="Open Sans" pitchFamily="34" charset="0"/>
                <a:ea typeface="Open Sans" pitchFamily="34" charset="-122"/>
                <a:cs typeface="Open Sans" pitchFamily="34" charset="-120"/>
              </a:rPr>
              <a:t>8</a:t>
            </a:r>
            <a:endParaRPr lang="en-US" sz="1600" dirty="0"/>
          </a:p>
        </p:txBody>
      </p:sp>
      <p:sp>
        <p:nvSpPr>
          <p:cNvPr id="16" name="Rectangle 15">
            <a:extLst>
              <a:ext uri="{FF2B5EF4-FFF2-40B4-BE49-F238E27FC236}">
                <a16:creationId xmlns:a16="http://schemas.microsoft.com/office/drawing/2014/main" id="{6F0D129B-1EA2-4A32-66C7-8EB51F8B91CE}"/>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43082"/>
            <a:ext cx="6595110"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Results &amp; Key Takeaways</a:t>
            </a:r>
            <a:endParaRPr lang="en-US" sz="4450" dirty="0"/>
          </a:p>
        </p:txBody>
      </p:sp>
      <p:sp>
        <p:nvSpPr>
          <p:cNvPr id="3" name="Shape 1"/>
          <p:cNvSpPr/>
          <p:nvPr/>
        </p:nvSpPr>
        <p:spPr>
          <a:xfrm>
            <a:off x="793790" y="2005489"/>
            <a:ext cx="6407944" cy="2577108"/>
          </a:xfrm>
          <a:prstGeom prst="roundRect">
            <a:avLst>
              <a:gd name="adj" fmla="val 1320"/>
            </a:avLst>
          </a:prstGeom>
          <a:solidFill>
            <a:srgbClr val="E0E0EC"/>
          </a:solidFill>
          <a:ln/>
        </p:spPr>
      </p:sp>
      <p:sp>
        <p:nvSpPr>
          <p:cNvPr id="4" name="Shape 2"/>
          <p:cNvSpPr/>
          <p:nvPr/>
        </p:nvSpPr>
        <p:spPr>
          <a:xfrm>
            <a:off x="1020604" y="2232303"/>
            <a:ext cx="680442" cy="680442"/>
          </a:xfrm>
          <a:prstGeom prst="roundRect">
            <a:avLst>
              <a:gd name="adj" fmla="val 13436980"/>
            </a:avLst>
          </a:prstGeom>
          <a:solidFill>
            <a:srgbClr val="101014"/>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770" y="2419350"/>
            <a:ext cx="306110" cy="306110"/>
          </a:xfrm>
          <a:prstGeom prst="rect">
            <a:avLst/>
          </a:prstGeom>
        </p:spPr>
      </p:pic>
      <p:sp>
        <p:nvSpPr>
          <p:cNvPr id="6" name="Text 3"/>
          <p:cNvSpPr/>
          <p:nvPr/>
        </p:nvSpPr>
        <p:spPr>
          <a:xfrm>
            <a:off x="1020604" y="313955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Accurate Monitoring</a:t>
            </a:r>
            <a:endParaRPr lang="en-US" sz="2200" dirty="0"/>
          </a:p>
        </p:txBody>
      </p:sp>
      <p:sp>
        <p:nvSpPr>
          <p:cNvPr id="7" name="Text 4"/>
          <p:cNvSpPr/>
          <p:nvPr/>
        </p:nvSpPr>
        <p:spPr>
          <a:xfrm>
            <a:off x="1020604" y="3629978"/>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System reliably detects water levels with ±2% accuracy across all tank capacities</a:t>
            </a:r>
            <a:endParaRPr lang="en-US" sz="1750" dirty="0"/>
          </a:p>
        </p:txBody>
      </p:sp>
      <p:sp>
        <p:nvSpPr>
          <p:cNvPr id="8" name="Shape 5"/>
          <p:cNvSpPr/>
          <p:nvPr/>
        </p:nvSpPr>
        <p:spPr>
          <a:xfrm>
            <a:off x="7428548" y="2005489"/>
            <a:ext cx="6408063" cy="2577108"/>
          </a:xfrm>
          <a:prstGeom prst="roundRect">
            <a:avLst>
              <a:gd name="adj" fmla="val 1320"/>
            </a:avLst>
          </a:prstGeom>
          <a:solidFill>
            <a:srgbClr val="E0E0EC"/>
          </a:solidFill>
          <a:ln/>
        </p:spPr>
      </p:sp>
      <p:sp>
        <p:nvSpPr>
          <p:cNvPr id="9" name="Shape 6"/>
          <p:cNvSpPr/>
          <p:nvPr/>
        </p:nvSpPr>
        <p:spPr>
          <a:xfrm>
            <a:off x="7655362" y="2232303"/>
            <a:ext cx="680442" cy="680442"/>
          </a:xfrm>
          <a:prstGeom prst="roundRect">
            <a:avLst>
              <a:gd name="adj" fmla="val 13436980"/>
            </a:avLst>
          </a:prstGeom>
          <a:solidFill>
            <a:srgbClr val="101014"/>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2528" y="2419350"/>
            <a:ext cx="306110" cy="306110"/>
          </a:xfrm>
          <a:prstGeom prst="rect">
            <a:avLst/>
          </a:prstGeom>
        </p:spPr>
      </p:pic>
      <p:sp>
        <p:nvSpPr>
          <p:cNvPr id="11" name="Text 7"/>
          <p:cNvSpPr/>
          <p:nvPr/>
        </p:nvSpPr>
        <p:spPr>
          <a:xfrm>
            <a:off x="7655362" y="313955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Prevents Overflow</a:t>
            </a:r>
            <a:endParaRPr lang="en-US" sz="2200" dirty="0"/>
          </a:p>
        </p:txBody>
      </p:sp>
      <p:sp>
        <p:nvSpPr>
          <p:cNvPr id="12" name="Text 8"/>
          <p:cNvSpPr/>
          <p:nvPr/>
        </p:nvSpPr>
        <p:spPr>
          <a:xfrm>
            <a:off x="7655362" y="3629978"/>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Real-time alerts eliminate water spillage and reduce wastage by 40%</a:t>
            </a:r>
            <a:endParaRPr lang="en-US" sz="1750" dirty="0"/>
          </a:p>
        </p:txBody>
      </p:sp>
      <p:sp>
        <p:nvSpPr>
          <p:cNvPr id="13" name="Shape 9"/>
          <p:cNvSpPr/>
          <p:nvPr/>
        </p:nvSpPr>
        <p:spPr>
          <a:xfrm>
            <a:off x="793790" y="4809411"/>
            <a:ext cx="6407944" cy="2577108"/>
          </a:xfrm>
          <a:prstGeom prst="roundRect">
            <a:avLst>
              <a:gd name="adj" fmla="val 1320"/>
            </a:avLst>
          </a:prstGeom>
          <a:solidFill>
            <a:srgbClr val="E0E0EC"/>
          </a:solidFill>
          <a:ln/>
        </p:spPr>
      </p:sp>
      <p:sp>
        <p:nvSpPr>
          <p:cNvPr id="14" name="Shape 10"/>
          <p:cNvSpPr/>
          <p:nvPr/>
        </p:nvSpPr>
        <p:spPr>
          <a:xfrm>
            <a:off x="1020604" y="5036225"/>
            <a:ext cx="680442" cy="680442"/>
          </a:xfrm>
          <a:prstGeom prst="roundRect">
            <a:avLst>
              <a:gd name="adj" fmla="val 13436980"/>
            </a:avLst>
          </a:prstGeom>
          <a:solidFill>
            <a:srgbClr val="101014"/>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07770" y="5223272"/>
            <a:ext cx="306110" cy="306110"/>
          </a:xfrm>
          <a:prstGeom prst="rect">
            <a:avLst/>
          </a:prstGeom>
        </p:spPr>
      </p:pic>
      <p:sp>
        <p:nvSpPr>
          <p:cNvPr id="16" name="Text 11"/>
          <p:cNvSpPr/>
          <p:nvPr/>
        </p:nvSpPr>
        <p:spPr>
          <a:xfrm>
            <a:off x="1020604" y="5943481"/>
            <a:ext cx="2935486"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Continuous Operation</a:t>
            </a:r>
            <a:endParaRPr lang="en-US" sz="2200" dirty="0"/>
          </a:p>
        </p:txBody>
      </p:sp>
      <p:sp>
        <p:nvSpPr>
          <p:cNvPr id="17" name="Text 12"/>
          <p:cNvSpPr/>
          <p:nvPr/>
        </p:nvSpPr>
        <p:spPr>
          <a:xfrm>
            <a:off x="1020604" y="6433899"/>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24/7 monitoring with automatic status updates every 500 milliseconds</a:t>
            </a:r>
            <a:endParaRPr lang="en-US" sz="1750" dirty="0"/>
          </a:p>
        </p:txBody>
      </p:sp>
      <p:sp>
        <p:nvSpPr>
          <p:cNvPr id="18" name="Shape 13"/>
          <p:cNvSpPr/>
          <p:nvPr/>
        </p:nvSpPr>
        <p:spPr>
          <a:xfrm>
            <a:off x="7428548" y="4809411"/>
            <a:ext cx="6408063" cy="2577108"/>
          </a:xfrm>
          <a:prstGeom prst="roundRect">
            <a:avLst>
              <a:gd name="adj" fmla="val 1320"/>
            </a:avLst>
          </a:prstGeom>
          <a:solidFill>
            <a:srgbClr val="E0E0EC"/>
          </a:solidFill>
          <a:ln/>
        </p:spPr>
      </p:sp>
      <p:sp>
        <p:nvSpPr>
          <p:cNvPr id="19" name="Shape 14"/>
          <p:cNvSpPr/>
          <p:nvPr/>
        </p:nvSpPr>
        <p:spPr>
          <a:xfrm>
            <a:off x="7655362" y="5036225"/>
            <a:ext cx="680442" cy="680442"/>
          </a:xfrm>
          <a:prstGeom prst="roundRect">
            <a:avLst>
              <a:gd name="adj" fmla="val 13436980"/>
            </a:avLst>
          </a:prstGeom>
          <a:solidFill>
            <a:srgbClr val="101014"/>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42528" y="5223272"/>
            <a:ext cx="306110" cy="306110"/>
          </a:xfrm>
          <a:prstGeom prst="rect">
            <a:avLst/>
          </a:prstGeom>
        </p:spPr>
      </p:pic>
      <p:sp>
        <p:nvSpPr>
          <p:cNvPr id="21" name="Text 15"/>
          <p:cNvSpPr/>
          <p:nvPr/>
        </p:nvSpPr>
        <p:spPr>
          <a:xfrm>
            <a:off x="7655362" y="59434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Cost-Effective</a:t>
            </a:r>
            <a:endParaRPr lang="en-US" sz="2200" dirty="0"/>
          </a:p>
        </p:txBody>
      </p:sp>
      <p:sp>
        <p:nvSpPr>
          <p:cNvPr id="22" name="Text 16"/>
          <p:cNvSpPr/>
          <p:nvPr/>
        </p:nvSpPr>
        <p:spPr>
          <a:xfrm>
            <a:off x="7655362" y="6433899"/>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Component cost under $25, providing affordable automation solution</a:t>
            </a:r>
            <a:endParaRPr lang="en-US" sz="1750" dirty="0"/>
          </a:p>
        </p:txBody>
      </p:sp>
      <p:sp>
        <p:nvSpPr>
          <p:cNvPr id="24" name="Rectangle 23">
            <a:extLst>
              <a:ext uri="{FF2B5EF4-FFF2-40B4-BE49-F238E27FC236}">
                <a16:creationId xmlns:a16="http://schemas.microsoft.com/office/drawing/2014/main" id="{5C8F489B-ECB6-DB52-EA15-34EC3D172F4F}"/>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573649" y="998696"/>
            <a:ext cx="6935629" cy="519946"/>
          </a:xfrm>
          <a:prstGeom prst="rect">
            <a:avLst/>
          </a:prstGeom>
          <a:noFill/>
          <a:ln/>
        </p:spPr>
        <p:txBody>
          <a:bodyPr wrap="none" lIns="0" tIns="0" rIns="0" bIns="0" rtlCol="0" anchor="t"/>
          <a:lstStyle/>
          <a:p>
            <a:pPr marL="0" indent="0" algn="l">
              <a:lnSpc>
                <a:spcPts val="4050"/>
              </a:lnSpc>
              <a:buNone/>
            </a:pPr>
            <a:r>
              <a:rPr lang="en-US" sz="3250" b="1" dirty="0">
                <a:solidFill>
                  <a:srgbClr val="101014"/>
                </a:solidFill>
                <a:latin typeface="Playfair Display Bold" pitchFamily="34" charset="0"/>
                <a:ea typeface="Playfair Display Bold" pitchFamily="34" charset="-122"/>
                <a:cs typeface="Playfair Display Bold" pitchFamily="34" charset="-120"/>
              </a:rPr>
              <a:t>Conclusion &amp; Future Improvements</a:t>
            </a:r>
            <a:endParaRPr lang="en-US" sz="3250" dirty="0"/>
          </a:p>
        </p:txBody>
      </p:sp>
      <p:sp>
        <p:nvSpPr>
          <p:cNvPr id="3" name="Text 1"/>
          <p:cNvSpPr/>
          <p:nvPr/>
        </p:nvSpPr>
        <p:spPr>
          <a:xfrm>
            <a:off x="1573649" y="2326838"/>
            <a:ext cx="2080260" cy="259913"/>
          </a:xfrm>
          <a:prstGeom prst="rect">
            <a:avLst/>
          </a:prstGeom>
          <a:noFill/>
          <a:ln/>
        </p:spPr>
        <p:txBody>
          <a:bodyPr wrap="none" lIns="0" tIns="0" rIns="0" bIns="0" rtlCol="0" anchor="t"/>
          <a:lstStyle/>
          <a:p>
            <a:pPr marL="0" indent="0" algn="l">
              <a:lnSpc>
                <a:spcPts val="2000"/>
              </a:lnSpc>
              <a:buNone/>
            </a:pPr>
            <a:r>
              <a:rPr lang="en-US" sz="1600" b="1" dirty="0">
                <a:solidFill>
                  <a:srgbClr val="101014"/>
                </a:solidFill>
                <a:latin typeface="Playfair Display Bold" pitchFamily="34" charset="0"/>
                <a:ea typeface="Playfair Display Bold" pitchFamily="34" charset="-122"/>
                <a:cs typeface="Playfair Display Bold" pitchFamily="34" charset="-120"/>
              </a:rPr>
              <a:t>Project Summary</a:t>
            </a:r>
            <a:endParaRPr lang="en-US" sz="1600" dirty="0"/>
          </a:p>
        </p:txBody>
      </p:sp>
      <p:sp>
        <p:nvSpPr>
          <p:cNvPr id="4" name="Text 2"/>
          <p:cNvSpPr/>
          <p:nvPr/>
        </p:nvSpPr>
        <p:spPr>
          <a:xfrm>
            <a:off x="1573649" y="2708791"/>
            <a:ext cx="3755112" cy="1153716"/>
          </a:xfrm>
          <a:prstGeom prst="rect">
            <a:avLst/>
          </a:prstGeom>
          <a:noFill/>
          <a:ln/>
        </p:spPr>
        <p:txBody>
          <a:bodyPr wrap="square" lIns="0" tIns="0" rIns="0" bIns="0" rtlCol="0" anchor="t"/>
          <a:lstStyle/>
          <a:p>
            <a:pPr marL="0" indent="0" algn="l">
              <a:lnSpc>
                <a:spcPts val="1800"/>
              </a:lnSpc>
              <a:buNone/>
            </a:pPr>
            <a:r>
              <a:rPr lang="en-US" sz="1300" dirty="0">
                <a:solidFill>
                  <a:srgbClr val="39393C"/>
                </a:solidFill>
                <a:latin typeface="Open Sans" pitchFamily="34" charset="0"/>
                <a:ea typeface="Open Sans" pitchFamily="34" charset="-122"/>
                <a:cs typeface="Open Sans" pitchFamily="34" charset="-120"/>
              </a:rPr>
              <a:t>This Arduino-based system successfully automates water tank monitoring, eliminating manual checks and preventing overflow. The integrated sensor network provides real-time feedback through visual and audio alerts.</a:t>
            </a:r>
            <a:endParaRPr lang="en-US" sz="1300" dirty="0"/>
          </a:p>
        </p:txBody>
      </p:sp>
      <p:sp>
        <p:nvSpPr>
          <p:cNvPr id="5" name="Text 3"/>
          <p:cNvSpPr/>
          <p:nvPr/>
        </p:nvSpPr>
        <p:spPr>
          <a:xfrm>
            <a:off x="1573649" y="3984546"/>
            <a:ext cx="2333863" cy="259913"/>
          </a:xfrm>
          <a:prstGeom prst="rect">
            <a:avLst/>
          </a:prstGeom>
          <a:noFill/>
          <a:ln/>
        </p:spPr>
        <p:txBody>
          <a:bodyPr wrap="none" lIns="0" tIns="0" rIns="0" bIns="0" rtlCol="0" anchor="t"/>
          <a:lstStyle/>
          <a:p>
            <a:pPr marL="0" indent="0" algn="l">
              <a:lnSpc>
                <a:spcPts val="2000"/>
              </a:lnSpc>
              <a:buNone/>
            </a:pPr>
            <a:r>
              <a:rPr lang="en-US" sz="1600" b="1" dirty="0">
                <a:solidFill>
                  <a:srgbClr val="101014"/>
                </a:solidFill>
                <a:latin typeface="Playfair Display Bold" pitchFamily="34" charset="0"/>
                <a:ea typeface="Playfair Display Bold" pitchFamily="34" charset="-122"/>
                <a:cs typeface="Playfair Display Bold" pitchFamily="34" charset="-120"/>
              </a:rPr>
              <a:t>Challenges Encountered</a:t>
            </a:r>
            <a:endParaRPr lang="en-US" sz="1600" dirty="0"/>
          </a:p>
        </p:txBody>
      </p:sp>
      <p:sp>
        <p:nvSpPr>
          <p:cNvPr id="6" name="Text 4"/>
          <p:cNvSpPr/>
          <p:nvPr/>
        </p:nvSpPr>
        <p:spPr>
          <a:xfrm>
            <a:off x="1573649" y="4366498"/>
            <a:ext cx="3755112" cy="1008221"/>
          </a:xfrm>
          <a:prstGeom prst="rect">
            <a:avLst/>
          </a:prstGeom>
          <a:noFill/>
          <a:ln/>
        </p:spPr>
        <p:txBody>
          <a:bodyPr wrap="square" lIns="0" tIns="0" rIns="0" bIns="0" rtlCol="0" anchor="t"/>
          <a:lstStyle/>
          <a:p>
            <a:pPr marL="342900" indent="-342900" algn="l">
              <a:lnSpc>
                <a:spcPts val="1800"/>
              </a:lnSpc>
              <a:buSzPct val="100000"/>
              <a:buChar char="•"/>
            </a:pPr>
            <a:r>
              <a:rPr lang="en-US" sz="1300" dirty="0">
                <a:solidFill>
                  <a:srgbClr val="39393C"/>
                </a:solidFill>
                <a:latin typeface="Open Sans" pitchFamily="34" charset="0"/>
                <a:ea typeface="Open Sans" pitchFamily="34" charset="-122"/>
                <a:cs typeface="Open Sans" pitchFamily="34" charset="-120"/>
              </a:rPr>
              <a:t>Sensor calibration for different tank shapes</a:t>
            </a:r>
            <a:endParaRPr lang="en-US" sz="1300" dirty="0"/>
          </a:p>
          <a:p>
            <a:pPr marL="342900" indent="-342900" algn="l">
              <a:lnSpc>
                <a:spcPts val="1800"/>
              </a:lnSpc>
              <a:buSzPct val="100000"/>
              <a:buChar char="•"/>
            </a:pPr>
            <a:r>
              <a:rPr lang="en-US" sz="1300" dirty="0">
                <a:solidFill>
                  <a:srgbClr val="39393C"/>
                </a:solidFill>
                <a:latin typeface="Open Sans" pitchFamily="34" charset="0"/>
                <a:ea typeface="Open Sans" pitchFamily="34" charset="-122"/>
                <a:cs typeface="Open Sans" pitchFamily="34" charset="-120"/>
              </a:rPr>
              <a:t>Power management for continuous operation</a:t>
            </a:r>
            <a:endParaRPr lang="en-US" sz="1300" dirty="0"/>
          </a:p>
          <a:p>
            <a:pPr marL="342900" indent="-342900" algn="l">
              <a:lnSpc>
                <a:spcPts val="1800"/>
              </a:lnSpc>
              <a:buSzPct val="100000"/>
              <a:buChar char="•"/>
            </a:pPr>
            <a:r>
              <a:rPr lang="en-US" sz="1300" dirty="0">
                <a:solidFill>
                  <a:srgbClr val="39393C"/>
                </a:solidFill>
                <a:latin typeface="Open Sans" pitchFamily="34" charset="0"/>
                <a:ea typeface="Open Sans" pitchFamily="34" charset="-122"/>
                <a:cs typeface="Open Sans" pitchFamily="34" charset="-120"/>
              </a:rPr>
              <a:t>False readings from surface turbulence</a:t>
            </a:r>
            <a:endParaRPr lang="en-US" sz="1300" dirty="0"/>
          </a:p>
        </p:txBody>
      </p:sp>
      <p:pic>
        <p:nvPicPr>
          <p:cNvPr id="7" name="Image 0" descr="preencoded.png"/>
          <p:cNvPicPr>
            <a:picLocks noChangeAspect="1"/>
          </p:cNvPicPr>
          <p:nvPr/>
        </p:nvPicPr>
        <p:blipFill>
          <a:blip r:embed="rId3"/>
          <a:stretch>
            <a:fillRect/>
          </a:stretch>
        </p:blipFill>
        <p:spPr>
          <a:xfrm>
            <a:off x="7431167" y="1839039"/>
            <a:ext cx="3944183" cy="3944183"/>
          </a:xfrm>
          <a:prstGeom prst="rect">
            <a:avLst/>
          </a:prstGeom>
        </p:spPr>
      </p:pic>
      <p:sp>
        <p:nvSpPr>
          <p:cNvPr id="8" name="Shape 5"/>
          <p:cNvSpPr/>
          <p:nvPr/>
        </p:nvSpPr>
        <p:spPr>
          <a:xfrm>
            <a:off x="1573649" y="6057781"/>
            <a:ext cx="3746302" cy="1173004"/>
          </a:xfrm>
          <a:prstGeom prst="roundRect">
            <a:avLst>
              <a:gd name="adj" fmla="val 9354"/>
            </a:avLst>
          </a:prstGeom>
          <a:solidFill>
            <a:srgbClr val="F3F3F7"/>
          </a:solidFill>
          <a:ln w="22860">
            <a:solidFill>
              <a:srgbClr val="C6C6D2"/>
            </a:solidFill>
            <a:prstDash val="solid"/>
          </a:ln>
        </p:spPr>
      </p:sp>
      <p:sp>
        <p:nvSpPr>
          <p:cNvPr id="9" name="Shape 6"/>
          <p:cNvSpPr/>
          <p:nvPr/>
        </p:nvSpPr>
        <p:spPr>
          <a:xfrm>
            <a:off x="1550789" y="6057781"/>
            <a:ext cx="91440" cy="1173004"/>
          </a:xfrm>
          <a:prstGeom prst="roundRect">
            <a:avLst>
              <a:gd name="adj" fmla="val 27300"/>
            </a:avLst>
          </a:prstGeom>
          <a:solidFill>
            <a:srgbClr val="101014"/>
          </a:solidFill>
          <a:ln/>
        </p:spPr>
      </p:sp>
      <p:sp>
        <p:nvSpPr>
          <p:cNvPr id="10" name="Text 7"/>
          <p:cNvSpPr/>
          <p:nvPr/>
        </p:nvSpPr>
        <p:spPr>
          <a:xfrm>
            <a:off x="1831419" y="6246971"/>
            <a:ext cx="2080260" cy="259913"/>
          </a:xfrm>
          <a:prstGeom prst="rect">
            <a:avLst/>
          </a:prstGeom>
          <a:noFill/>
          <a:ln/>
        </p:spPr>
        <p:txBody>
          <a:bodyPr wrap="none" lIns="0" tIns="0" rIns="0" bIns="0" rtlCol="0" anchor="t"/>
          <a:lstStyle/>
          <a:p>
            <a:pPr marL="0" indent="0" algn="l">
              <a:lnSpc>
                <a:spcPts val="2000"/>
              </a:lnSpc>
              <a:buNone/>
            </a:pPr>
            <a:r>
              <a:rPr lang="en-US" sz="1600" b="1" dirty="0">
                <a:solidFill>
                  <a:srgbClr val="39393C"/>
                </a:solidFill>
                <a:latin typeface="Playfair Display Bold" pitchFamily="34" charset="0"/>
                <a:ea typeface="Playfair Display Bold" pitchFamily="34" charset="-122"/>
                <a:cs typeface="Playfair Display Bold" pitchFamily="34" charset="-120"/>
              </a:rPr>
              <a:t>IoT Integration</a:t>
            </a:r>
            <a:endParaRPr lang="en-US" sz="1600" dirty="0"/>
          </a:p>
        </p:txBody>
      </p:sp>
      <p:sp>
        <p:nvSpPr>
          <p:cNvPr id="11" name="Text 8"/>
          <p:cNvSpPr/>
          <p:nvPr/>
        </p:nvSpPr>
        <p:spPr>
          <a:xfrm>
            <a:off x="1831419" y="6580108"/>
            <a:ext cx="3299341" cy="461486"/>
          </a:xfrm>
          <a:prstGeom prst="rect">
            <a:avLst/>
          </a:prstGeom>
          <a:noFill/>
          <a:ln/>
        </p:spPr>
        <p:txBody>
          <a:bodyPr wrap="square" lIns="0" tIns="0" rIns="0" bIns="0" rtlCol="0" anchor="t"/>
          <a:lstStyle/>
          <a:p>
            <a:pPr marL="0" indent="0" algn="l">
              <a:lnSpc>
                <a:spcPts val="1800"/>
              </a:lnSpc>
              <a:buNone/>
            </a:pPr>
            <a:r>
              <a:rPr lang="en-US" sz="1300" dirty="0">
                <a:solidFill>
                  <a:srgbClr val="39393C"/>
                </a:solidFill>
                <a:latin typeface="Open Sans" pitchFamily="34" charset="0"/>
                <a:ea typeface="Open Sans" pitchFamily="34" charset="-122"/>
                <a:cs typeface="Open Sans" pitchFamily="34" charset="-120"/>
              </a:rPr>
              <a:t>Add Wi-Fi module for remote monitoring via smartphone app</a:t>
            </a:r>
            <a:endParaRPr lang="en-US" sz="1300" dirty="0"/>
          </a:p>
        </p:txBody>
      </p:sp>
      <p:sp>
        <p:nvSpPr>
          <p:cNvPr id="12" name="Shape 9"/>
          <p:cNvSpPr/>
          <p:nvPr/>
        </p:nvSpPr>
        <p:spPr>
          <a:xfrm>
            <a:off x="5441990" y="6057781"/>
            <a:ext cx="3746302" cy="1173004"/>
          </a:xfrm>
          <a:prstGeom prst="roundRect">
            <a:avLst>
              <a:gd name="adj" fmla="val 9354"/>
            </a:avLst>
          </a:prstGeom>
          <a:solidFill>
            <a:srgbClr val="F3F3F7"/>
          </a:solidFill>
          <a:ln w="22860">
            <a:solidFill>
              <a:srgbClr val="C6C6D2"/>
            </a:solidFill>
            <a:prstDash val="solid"/>
          </a:ln>
        </p:spPr>
      </p:sp>
      <p:sp>
        <p:nvSpPr>
          <p:cNvPr id="13" name="Shape 10"/>
          <p:cNvSpPr/>
          <p:nvPr/>
        </p:nvSpPr>
        <p:spPr>
          <a:xfrm>
            <a:off x="5419130" y="6057781"/>
            <a:ext cx="91440" cy="1173004"/>
          </a:xfrm>
          <a:prstGeom prst="roundRect">
            <a:avLst>
              <a:gd name="adj" fmla="val 27300"/>
            </a:avLst>
          </a:prstGeom>
          <a:solidFill>
            <a:srgbClr val="101014"/>
          </a:solidFill>
          <a:ln/>
        </p:spPr>
      </p:sp>
      <p:sp>
        <p:nvSpPr>
          <p:cNvPr id="14" name="Text 11"/>
          <p:cNvSpPr/>
          <p:nvPr/>
        </p:nvSpPr>
        <p:spPr>
          <a:xfrm>
            <a:off x="5699760" y="6246971"/>
            <a:ext cx="2080260" cy="259913"/>
          </a:xfrm>
          <a:prstGeom prst="rect">
            <a:avLst/>
          </a:prstGeom>
          <a:noFill/>
          <a:ln/>
        </p:spPr>
        <p:txBody>
          <a:bodyPr wrap="none" lIns="0" tIns="0" rIns="0" bIns="0" rtlCol="0" anchor="t"/>
          <a:lstStyle/>
          <a:p>
            <a:pPr marL="0" indent="0" algn="l">
              <a:lnSpc>
                <a:spcPts val="2000"/>
              </a:lnSpc>
              <a:buNone/>
            </a:pPr>
            <a:r>
              <a:rPr lang="en-US" sz="1600" b="1" dirty="0">
                <a:solidFill>
                  <a:srgbClr val="39393C"/>
                </a:solidFill>
                <a:latin typeface="Playfair Display Bold" pitchFamily="34" charset="0"/>
                <a:ea typeface="Playfair Display Bold" pitchFamily="34" charset="-122"/>
                <a:cs typeface="Playfair Display Bold" pitchFamily="34" charset="-120"/>
              </a:rPr>
              <a:t>Cloud Connectivity</a:t>
            </a:r>
            <a:endParaRPr lang="en-US" sz="1600" dirty="0"/>
          </a:p>
        </p:txBody>
      </p:sp>
      <p:sp>
        <p:nvSpPr>
          <p:cNvPr id="15" name="Text 12"/>
          <p:cNvSpPr/>
          <p:nvPr/>
        </p:nvSpPr>
        <p:spPr>
          <a:xfrm>
            <a:off x="5699760" y="6580108"/>
            <a:ext cx="3299341" cy="461486"/>
          </a:xfrm>
          <a:prstGeom prst="rect">
            <a:avLst/>
          </a:prstGeom>
          <a:noFill/>
          <a:ln/>
        </p:spPr>
        <p:txBody>
          <a:bodyPr wrap="square" lIns="0" tIns="0" rIns="0" bIns="0" rtlCol="0" anchor="t"/>
          <a:lstStyle/>
          <a:p>
            <a:pPr marL="0" indent="0" algn="l">
              <a:lnSpc>
                <a:spcPts val="1800"/>
              </a:lnSpc>
              <a:buNone/>
            </a:pPr>
            <a:r>
              <a:rPr lang="en-US" sz="1300" dirty="0">
                <a:solidFill>
                  <a:srgbClr val="39393C"/>
                </a:solidFill>
                <a:latin typeface="Open Sans" pitchFamily="34" charset="0"/>
                <a:ea typeface="Open Sans" pitchFamily="34" charset="-122"/>
                <a:cs typeface="Open Sans" pitchFamily="34" charset="-120"/>
              </a:rPr>
              <a:t>Store historical data and analyze usage patterns in the cloud</a:t>
            </a:r>
            <a:endParaRPr lang="en-US" sz="1300" dirty="0"/>
          </a:p>
        </p:txBody>
      </p:sp>
      <p:sp>
        <p:nvSpPr>
          <p:cNvPr id="16" name="Shape 13"/>
          <p:cNvSpPr/>
          <p:nvPr/>
        </p:nvSpPr>
        <p:spPr>
          <a:xfrm>
            <a:off x="9310330" y="6057781"/>
            <a:ext cx="3746421" cy="1173004"/>
          </a:xfrm>
          <a:prstGeom prst="roundRect">
            <a:avLst>
              <a:gd name="adj" fmla="val 9354"/>
            </a:avLst>
          </a:prstGeom>
          <a:solidFill>
            <a:srgbClr val="F3F3F7"/>
          </a:solidFill>
          <a:ln w="22860">
            <a:solidFill>
              <a:srgbClr val="C6C6D2"/>
            </a:solidFill>
            <a:prstDash val="solid"/>
          </a:ln>
        </p:spPr>
      </p:sp>
      <p:sp>
        <p:nvSpPr>
          <p:cNvPr id="17" name="Shape 14"/>
          <p:cNvSpPr/>
          <p:nvPr/>
        </p:nvSpPr>
        <p:spPr>
          <a:xfrm>
            <a:off x="9287470" y="6057781"/>
            <a:ext cx="91440" cy="1173004"/>
          </a:xfrm>
          <a:prstGeom prst="roundRect">
            <a:avLst>
              <a:gd name="adj" fmla="val 27300"/>
            </a:avLst>
          </a:prstGeom>
          <a:solidFill>
            <a:srgbClr val="101014"/>
          </a:solidFill>
          <a:ln/>
        </p:spPr>
      </p:sp>
      <p:sp>
        <p:nvSpPr>
          <p:cNvPr id="18" name="Text 15"/>
          <p:cNvSpPr/>
          <p:nvPr/>
        </p:nvSpPr>
        <p:spPr>
          <a:xfrm>
            <a:off x="9568101" y="6246971"/>
            <a:ext cx="2454950" cy="259913"/>
          </a:xfrm>
          <a:prstGeom prst="rect">
            <a:avLst/>
          </a:prstGeom>
          <a:noFill/>
          <a:ln/>
        </p:spPr>
        <p:txBody>
          <a:bodyPr wrap="none" lIns="0" tIns="0" rIns="0" bIns="0" rtlCol="0" anchor="t"/>
          <a:lstStyle/>
          <a:p>
            <a:pPr marL="0" indent="0" algn="l">
              <a:lnSpc>
                <a:spcPts val="2000"/>
              </a:lnSpc>
              <a:buNone/>
            </a:pPr>
            <a:r>
              <a:rPr lang="en-US" sz="1600" b="1" dirty="0">
                <a:solidFill>
                  <a:srgbClr val="39393C"/>
                </a:solidFill>
                <a:latin typeface="Playfair Display Bold" pitchFamily="34" charset="0"/>
                <a:ea typeface="Playfair Display Bold" pitchFamily="34" charset="-122"/>
                <a:cs typeface="Playfair Display Bold" pitchFamily="34" charset="-120"/>
              </a:rPr>
              <a:t>Automated Pump Control</a:t>
            </a:r>
            <a:endParaRPr lang="en-US" sz="1600" dirty="0"/>
          </a:p>
        </p:txBody>
      </p:sp>
      <p:sp>
        <p:nvSpPr>
          <p:cNvPr id="19" name="Text 16"/>
          <p:cNvSpPr/>
          <p:nvPr/>
        </p:nvSpPr>
        <p:spPr>
          <a:xfrm>
            <a:off x="9568101" y="6580108"/>
            <a:ext cx="3299460" cy="461486"/>
          </a:xfrm>
          <a:prstGeom prst="rect">
            <a:avLst/>
          </a:prstGeom>
          <a:noFill/>
          <a:ln/>
        </p:spPr>
        <p:txBody>
          <a:bodyPr wrap="square" lIns="0" tIns="0" rIns="0" bIns="0" rtlCol="0" anchor="t"/>
          <a:lstStyle/>
          <a:p>
            <a:pPr marL="0" indent="0" algn="l">
              <a:lnSpc>
                <a:spcPts val="1800"/>
              </a:lnSpc>
              <a:buNone/>
            </a:pPr>
            <a:r>
              <a:rPr lang="en-US" sz="1300" dirty="0">
                <a:solidFill>
                  <a:srgbClr val="39393C"/>
                </a:solidFill>
                <a:latin typeface="Open Sans" pitchFamily="34" charset="0"/>
                <a:ea typeface="Open Sans" pitchFamily="34" charset="-122"/>
                <a:cs typeface="Open Sans" pitchFamily="34" charset="-120"/>
              </a:rPr>
              <a:t>Integrate relay to automatically start/stop water pump based on level</a:t>
            </a:r>
            <a:endParaRPr lang="en-US" sz="1300" dirty="0"/>
          </a:p>
        </p:txBody>
      </p:sp>
      <p:sp>
        <p:nvSpPr>
          <p:cNvPr id="21" name="Rectangle 20">
            <a:extLst>
              <a:ext uri="{FF2B5EF4-FFF2-40B4-BE49-F238E27FC236}">
                <a16:creationId xmlns:a16="http://schemas.microsoft.com/office/drawing/2014/main" id="{13A18EB9-86F7-4D66-BFB4-47A49258ACD0}"/>
              </a:ext>
            </a:extLst>
          </p:cNvPr>
          <p:cNvSpPr/>
          <p:nvPr/>
        </p:nvSpPr>
        <p:spPr>
          <a:xfrm>
            <a:off x="12847320" y="7802880"/>
            <a:ext cx="1783080" cy="362903"/>
          </a:xfrm>
          <a:prstGeom prst="rect">
            <a:avLst/>
          </a:prstGeom>
          <a:solidFill>
            <a:srgbClr val="F3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635</Words>
  <Application>Microsoft Office PowerPoint</Application>
  <PresentationFormat>Custom</PresentationFormat>
  <Paragraphs>121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Playfair Display Bold</vt:lpstr>
      <vt:lpstr>Arial</vt:lpstr>
      <vt:lpstr>Times New Roman</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ISAWK</dc:creator>
  <cp:lastModifiedBy>Kwasi Boateng</cp:lastModifiedBy>
  <cp:revision>2</cp:revision>
  <dcterms:created xsi:type="dcterms:W3CDTF">2026-03-29T22:03:41Z</dcterms:created>
  <dcterms:modified xsi:type="dcterms:W3CDTF">2026-03-29T22:53:26Z</dcterms:modified>
</cp:coreProperties>
</file>