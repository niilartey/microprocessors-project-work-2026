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alibri (MS) Bold" charset="1" panose="020F0702030404030204"/>
      <p:regular r:id="rId19"/>
    </p:embeddedFont>
    <p:embeddedFont>
      <p:font typeface="Calibri (MS) Italics" charset="1" panose="020F05020202040A0204"/>
      <p:regular r:id="rId20"/>
    </p:embeddedFont>
    <p:embeddedFont>
      <p:font typeface="Canva Sans Bold" charset="1" panose="020B0803030501040103"/>
      <p:regular r:id="rId21"/>
    </p:embeddedFont>
    <p:embeddedFont>
      <p:font typeface="Calibri (MS)" charset="1" panose="020F0502020204030204"/>
      <p:regular r:id="rId22"/>
    </p:embeddedFont>
    <p:embeddedFont>
      <p:font typeface="Calibri (MS) Bold Italics" charset="1" panose="020F07020304040A0204"/>
      <p:regular r:id="rId24"/>
    </p:embeddedFont>
    <p:embeddedFont>
      <p:font typeface="Atkinson Hyperlegible Bold Italics" charset="1" panose="00000000000000000000"/>
      <p:regular r:id="rId27"/>
    </p:embeddedFont>
    <p:embeddedFont>
      <p:font typeface="Poppins" charset="1" panose="00000500000000000000"/>
      <p:regular r:id="rId28"/>
    </p:embeddedFont>
    <p:embeddedFont>
      <p:font typeface="Poppins Bold" charset="1" panose="00000800000000000000"/>
      <p:regular r:id="rId29"/>
    </p:embeddedFont>
    <p:embeddedFont>
      <p:font typeface="Arial MT Pro Bold Italics" charset="1" panose="020B0802020202090204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fonts/font24.fntdata" Type="http://schemas.openxmlformats.org/officeDocument/2006/relationships/font"/><Relationship Id="rId25" Target="notesSlides/notesSlide3.xml" Type="http://schemas.openxmlformats.org/officeDocument/2006/relationships/notesSlide"/><Relationship Id="rId26" Target="notesSlides/notesSlide4.xml" Type="http://schemas.openxmlformats.org/officeDocument/2006/relationships/notes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Slides/notesSlide5.xml" Type="http://schemas.openxmlformats.org/officeDocument/2006/relationships/notesSlide"/><Relationship Id="rId31" Target="notesSlides/notesSlide6.xml" Type="http://schemas.openxmlformats.org/officeDocument/2006/relationships/notesSlide"/><Relationship Id="rId32" Target="notesSlides/notesSlide7.xml" Type="http://schemas.openxmlformats.org/officeDocument/2006/relationships/notesSlide"/><Relationship Id="rId33" Target="notesSlides/notesSlide8.xml" Type="http://schemas.openxmlformats.org/officeDocument/2006/relationships/notesSlide"/><Relationship Id="rId34" Target="notesSlides/notesSlide9.xml" Type="http://schemas.openxmlformats.org/officeDocument/2006/relationships/notesSlide"/><Relationship Id="rId35" Target="notesSlides/notesSlide10.xml" Type="http://schemas.openxmlformats.org/officeDocument/2006/relationships/notesSlide"/><Relationship Id="rId36" Target="fonts/font36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6.png" Type="http://schemas.openxmlformats.org/officeDocument/2006/relationships/image"/><Relationship Id="rId4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8.jpeg" Type="http://schemas.openxmlformats.org/officeDocument/2006/relationships/image"/><Relationship Id="rId4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9.png" Type="http://schemas.openxmlformats.org/officeDocument/2006/relationships/image"/><Relationship Id="rId4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C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47625" cy="10312403"/>
            <a:chOff x="0" y="0"/>
            <a:chExt cx="63500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881" y="16891"/>
              <a:ext cx="59729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59729">
                  <a:moveTo>
                    <a:pt x="0" y="0"/>
                  </a:moveTo>
                  <a:lnTo>
                    <a:pt x="59728" y="0"/>
                  </a:lnTo>
                  <a:lnTo>
                    <a:pt x="59728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A8DADC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490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63490">
                  <a:moveTo>
                    <a:pt x="1881" y="0"/>
                  </a:moveTo>
                  <a:lnTo>
                    <a:pt x="61609" y="0"/>
                  </a:lnTo>
                  <a:cubicBezTo>
                    <a:pt x="62656" y="0"/>
                    <a:pt x="63490" y="7620"/>
                    <a:pt x="63490" y="16891"/>
                  </a:cubicBezTo>
                  <a:lnTo>
                    <a:pt x="63490" y="13732890"/>
                  </a:lnTo>
                  <a:cubicBezTo>
                    <a:pt x="63490" y="13742290"/>
                    <a:pt x="62642" y="13749782"/>
                    <a:pt x="61609" y="13749782"/>
                  </a:cubicBezTo>
                  <a:lnTo>
                    <a:pt x="1881" y="13749782"/>
                  </a:lnTo>
                  <a:cubicBezTo>
                    <a:pt x="834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848" y="0"/>
                    <a:pt x="1881" y="0"/>
                  </a:cubicBezTo>
                  <a:moveTo>
                    <a:pt x="1881" y="33909"/>
                  </a:moveTo>
                  <a:lnTo>
                    <a:pt x="1881" y="16891"/>
                  </a:lnTo>
                  <a:lnTo>
                    <a:pt x="3775" y="16891"/>
                  </a:lnTo>
                  <a:lnTo>
                    <a:pt x="3775" y="13732890"/>
                  </a:lnTo>
                  <a:lnTo>
                    <a:pt x="1881" y="13732890"/>
                  </a:lnTo>
                  <a:lnTo>
                    <a:pt x="1881" y="13716000"/>
                  </a:lnTo>
                  <a:lnTo>
                    <a:pt x="61609" y="13716000"/>
                  </a:lnTo>
                  <a:lnTo>
                    <a:pt x="61609" y="13732890"/>
                  </a:lnTo>
                  <a:lnTo>
                    <a:pt x="59729" y="13732890"/>
                  </a:lnTo>
                  <a:lnTo>
                    <a:pt x="59729" y="16891"/>
                  </a:lnTo>
                  <a:lnTo>
                    <a:pt x="61609" y="16891"/>
                  </a:lnTo>
                  <a:lnTo>
                    <a:pt x="61609" y="33909"/>
                  </a:lnTo>
                  <a:lnTo>
                    <a:pt x="1881" y="33909"/>
                  </a:lnTo>
                  <a:close/>
                </a:path>
              </a:pathLst>
            </a:custGeom>
            <a:solidFill>
              <a:srgbClr val="A8DADC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2064" y="422148"/>
            <a:ext cx="17007840" cy="640080"/>
            <a:chOff x="0" y="0"/>
            <a:chExt cx="22677120" cy="8534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677120" cy="853440"/>
            </a:xfrm>
            <a:custGeom>
              <a:avLst/>
              <a:gdLst/>
              <a:ahLst/>
              <a:cxnLst/>
              <a:rect r="r" b="b" t="t" l="l"/>
              <a:pathLst>
                <a:path h="85344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7745" r="0" b="-46774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67712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b="true" sz="1900" spc="600">
                  <a:solidFill>
                    <a:srgbClr val="015C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MICROPROCESSORS  |  BIOMEDICAL ENGINEERING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657600" y="1192342"/>
            <a:ext cx="10972800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b="true" sz="6999">
                <a:solidFill>
                  <a:srgbClr val="015C5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AuraFlowIV 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31520" y="3546759"/>
            <a:ext cx="14385944" cy="737696"/>
            <a:chOff x="0" y="0"/>
            <a:chExt cx="19334023" cy="99142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334023" cy="991428"/>
            </a:xfrm>
            <a:custGeom>
              <a:avLst/>
              <a:gdLst/>
              <a:ahLst/>
              <a:cxnLst/>
              <a:rect r="r" b="b" t="t" l="l"/>
              <a:pathLst>
                <a:path h="991428" w="19334023">
                  <a:moveTo>
                    <a:pt x="0" y="0"/>
                  </a:moveTo>
                  <a:lnTo>
                    <a:pt x="19334023" y="0"/>
                  </a:lnTo>
                  <a:lnTo>
                    <a:pt x="19334023" y="991428"/>
                  </a:lnTo>
                  <a:lnTo>
                    <a:pt x="0" y="9914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843" r="23067" b="-25381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9334023" cy="10485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i="true">
                  <a:solidFill>
                    <a:srgbClr val="014D4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Hardware: </a:t>
              </a:r>
              <a:r>
                <a:rPr lang="en-US" sz="3200" i="true">
                  <a:solidFill>
                    <a:srgbClr val="014D4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Arduino UNO R3 |Software Simulation: Tinkercad | Language: Vscode C++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31520" y="3550837"/>
            <a:ext cx="15579946" cy="56438"/>
            <a:chOff x="0" y="0"/>
            <a:chExt cx="14671040" cy="5314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20320" y="0"/>
              <a:ext cx="14630400" cy="53146"/>
            </a:xfrm>
            <a:custGeom>
              <a:avLst/>
              <a:gdLst/>
              <a:ahLst/>
              <a:cxnLst/>
              <a:rect r="r" b="b" t="t" l="l"/>
              <a:pathLst>
                <a:path h="53146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3146"/>
                  </a:lnTo>
                  <a:lnTo>
                    <a:pt x="0" y="53146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80324" y="3828640"/>
            <a:ext cx="11067536" cy="516387"/>
            <a:chOff x="0" y="0"/>
            <a:chExt cx="14874240" cy="69399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874239" cy="694000"/>
            </a:xfrm>
            <a:custGeom>
              <a:avLst/>
              <a:gdLst/>
              <a:ahLst/>
              <a:cxnLst/>
              <a:rect r="r" b="b" t="t" l="l"/>
              <a:pathLst>
                <a:path h="694000" w="14874239">
                  <a:moveTo>
                    <a:pt x="0" y="0"/>
                  </a:moveTo>
                  <a:lnTo>
                    <a:pt x="14874239" y="0"/>
                  </a:lnTo>
                  <a:lnTo>
                    <a:pt x="14874239" y="694000"/>
                  </a:lnTo>
                  <a:lnTo>
                    <a:pt x="0" y="694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6128" r="0" b="-37910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4874240" cy="7320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439095" y="4263753"/>
            <a:ext cx="6728425" cy="577030"/>
            <a:chOff x="0" y="0"/>
            <a:chExt cx="8971233" cy="76937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971234" cy="769373"/>
            </a:xfrm>
            <a:custGeom>
              <a:avLst/>
              <a:gdLst/>
              <a:ahLst/>
              <a:cxnLst/>
              <a:rect r="r" b="b" t="t" l="l"/>
              <a:pathLst>
                <a:path h="769373" w="8971234">
                  <a:moveTo>
                    <a:pt x="0" y="0"/>
                  </a:moveTo>
                  <a:lnTo>
                    <a:pt x="8971234" y="0"/>
                  </a:lnTo>
                  <a:lnTo>
                    <a:pt x="8971234" y="769373"/>
                  </a:lnTo>
                  <a:lnTo>
                    <a:pt x="0" y="7693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6520" r="26613" b="-12695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8971233" cy="7693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b="true" sz="2200" spc="399">
                  <a:solidFill>
                    <a:srgbClr val="015C5E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GROUP MEMBERS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817514" y="9394714"/>
            <a:ext cx="7315200" cy="642930"/>
            <a:chOff x="0" y="0"/>
            <a:chExt cx="9753600" cy="8572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753600" cy="857240"/>
            </a:xfrm>
            <a:custGeom>
              <a:avLst/>
              <a:gdLst/>
              <a:ahLst/>
              <a:cxnLst/>
              <a:rect r="r" b="b" t="t" l="l"/>
              <a:pathLst>
                <a:path h="85724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57240"/>
                  </a:lnTo>
                  <a:lnTo>
                    <a:pt x="0" y="857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876" r="0" b="-16152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9753600" cy="904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2299" i="true">
                  <a:solidFill>
                    <a:srgbClr val="015C5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Submission Deadline: March 29, 2026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4992624" y="2118009"/>
            <a:ext cx="8046720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  <a:spcBef>
                <a:spcPct val="0"/>
              </a:spcBef>
            </a:pPr>
            <a:r>
              <a:rPr lang="en-US" sz="3399">
                <a:solidFill>
                  <a:srgbClr val="015C5E"/>
                </a:solidFill>
                <a:latin typeface="Calibri (MS)"/>
                <a:ea typeface="Calibri (MS)"/>
                <a:cs typeface="Calibri (MS)"/>
                <a:sym typeface="Calibri (MS)"/>
              </a:rPr>
              <a:t>An Automated IV Drip Monitoring and Control System 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5439095" y="4772412"/>
            <a:ext cx="6592798" cy="68371"/>
            <a:chOff x="0" y="0"/>
            <a:chExt cx="6123089" cy="635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3589" y="0"/>
              <a:ext cx="6096000" cy="63411"/>
            </a:xfrm>
            <a:custGeom>
              <a:avLst/>
              <a:gdLst/>
              <a:ahLst/>
              <a:cxnLst/>
              <a:rect r="r" b="b" t="t" l="l"/>
              <a:pathLst>
                <a:path h="63411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3411"/>
                  </a:lnTo>
                  <a:lnTo>
                    <a:pt x="0" y="63411"/>
                  </a:lnTo>
                  <a:close/>
                </a:path>
              </a:pathLst>
            </a:custGeom>
            <a:solidFill>
              <a:srgbClr val="2D6A6B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696225" y="5036094"/>
            <a:ext cx="6613335" cy="1347698"/>
            <a:chOff x="0" y="0"/>
            <a:chExt cx="8817780" cy="179693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22180" y="31601"/>
              <a:ext cx="8773303" cy="1733562"/>
            </a:xfrm>
            <a:custGeom>
              <a:avLst/>
              <a:gdLst/>
              <a:ahLst/>
              <a:cxnLst/>
              <a:rect r="r" b="b" t="t" l="l"/>
              <a:pathLst>
                <a:path h="1733562" w="8773303">
                  <a:moveTo>
                    <a:pt x="0" y="0"/>
                  </a:moveTo>
                  <a:lnTo>
                    <a:pt x="8773303" y="0"/>
                  </a:lnTo>
                  <a:lnTo>
                    <a:pt x="8773303" y="1733562"/>
                  </a:lnTo>
                  <a:lnTo>
                    <a:pt x="0" y="1733562"/>
                  </a:lnTo>
                  <a:close/>
                </a:path>
              </a:pathLst>
            </a:custGeom>
            <a:solidFill>
              <a:srgbClr val="2D6A6B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817663" cy="1796767"/>
            </a:xfrm>
            <a:custGeom>
              <a:avLst/>
              <a:gdLst/>
              <a:ahLst/>
              <a:cxnLst/>
              <a:rect r="r" b="b" t="t" l="l"/>
              <a:pathLst>
                <a:path h="1796767" w="8817663">
                  <a:moveTo>
                    <a:pt x="22180" y="0"/>
                  </a:moveTo>
                  <a:lnTo>
                    <a:pt x="8795483" y="0"/>
                  </a:lnTo>
                  <a:cubicBezTo>
                    <a:pt x="8807824" y="0"/>
                    <a:pt x="8817663" y="14256"/>
                    <a:pt x="8817663" y="31601"/>
                  </a:cubicBezTo>
                  <a:lnTo>
                    <a:pt x="8817663" y="1765163"/>
                  </a:lnTo>
                  <a:cubicBezTo>
                    <a:pt x="8817663" y="1782746"/>
                    <a:pt x="8807657" y="1796764"/>
                    <a:pt x="8795483" y="1796764"/>
                  </a:cubicBezTo>
                  <a:lnTo>
                    <a:pt x="22180" y="1796764"/>
                  </a:lnTo>
                  <a:cubicBezTo>
                    <a:pt x="10006" y="1796969"/>
                    <a:pt x="0" y="1782746"/>
                    <a:pt x="0" y="1765163"/>
                  </a:cubicBezTo>
                  <a:lnTo>
                    <a:pt x="0" y="31601"/>
                  </a:lnTo>
                  <a:cubicBezTo>
                    <a:pt x="0" y="14256"/>
                    <a:pt x="10006" y="0"/>
                    <a:pt x="22180" y="0"/>
                  </a:cubicBezTo>
                  <a:moveTo>
                    <a:pt x="22180" y="63440"/>
                  </a:moveTo>
                  <a:lnTo>
                    <a:pt x="22180" y="31601"/>
                  </a:lnTo>
                  <a:lnTo>
                    <a:pt x="44527" y="31601"/>
                  </a:lnTo>
                  <a:lnTo>
                    <a:pt x="44527" y="1765163"/>
                  </a:lnTo>
                  <a:lnTo>
                    <a:pt x="22180" y="1765163"/>
                  </a:lnTo>
                  <a:lnTo>
                    <a:pt x="22180" y="1733562"/>
                  </a:lnTo>
                  <a:lnTo>
                    <a:pt x="8795483" y="1733562"/>
                  </a:lnTo>
                  <a:lnTo>
                    <a:pt x="8795483" y="1765163"/>
                  </a:lnTo>
                  <a:lnTo>
                    <a:pt x="8773302" y="1765163"/>
                  </a:lnTo>
                  <a:lnTo>
                    <a:pt x="8773302" y="31601"/>
                  </a:lnTo>
                  <a:lnTo>
                    <a:pt x="8795483" y="31601"/>
                  </a:lnTo>
                  <a:lnTo>
                    <a:pt x="8795483" y="63440"/>
                  </a:lnTo>
                  <a:lnTo>
                    <a:pt x="22180" y="63440"/>
                  </a:lnTo>
                  <a:close/>
                </a:path>
              </a:pathLst>
            </a:custGeom>
            <a:solidFill>
              <a:srgbClr val="015C5E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675688" y="6486972"/>
            <a:ext cx="6613335" cy="1347698"/>
            <a:chOff x="0" y="0"/>
            <a:chExt cx="8817780" cy="179693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22180" y="31601"/>
              <a:ext cx="8773303" cy="1733562"/>
            </a:xfrm>
            <a:custGeom>
              <a:avLst/>
              <a:gdLst/>
              <a:ahLst/>
              <a:cxnLst/>
              <a:rect r="r" b="b" t="t" l="l"/>
              <a:pathLst>
                <a:path h="1733562" w="8773303">
                  <a:moveTo>
                    <a:pt x="0" y="0"/>
                  </a:moveTo>
                  <a:lnTo>
                    <a:pt x="8773303" y="0"/>
                  </a:lnTo>
                  <a:lnTo>
                    <a:pt x="8773303" y="1733562"/>
                  </a:lnTo>
                  <a:lnTo>
                    <a:pt x="0" y="1733562"/>
                  </a:lnTo>
                  <a:close/>
                </a:path>
              </a:pathLst>
            </a:custGeom>
            <a:solidFill>
              <a:srgbClr val="2D6A6B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817663" cy="1796767"/>
            </a:xfrm>
            <a:custGeom>
              <a:avLst/>
              <a:gdLst/>
              <a:ahLst/>
              <a:cxnLst/>
              <a:rect r="r" b="b" t="t" l="l"/>
              <a:pathLst>
                <a:path h="1796767" w="8817663">
                  <a:moveTo>
                    <a:pt x="22180" y="0"/>
                  </a:moveTo>
                  <a:lnTo>
                    <a:pt x="8795483" y="0"/>
                  </a:lnTo>
                  <a:cubicBezTo>
                    <a:pt x="8807824" y="0"/>
                    <a:pt x="8817663" y="14256"/>
                    <a:pt x="8817663" y="31601"/>
                  </a:cubicBezTo>
                  <a:lnTo>
                    <a:pt x="8817663" y="1765163"/>
                  </a:lnTo>
                  <a:cubicBezTo>
                    <a:pt x="8817663" y="1782746"/>
                    <a:pt x="8807657" y="1796764"/>
                    <a:pt x="8795483" y="1796764"/>
                  </a:cubicBezTo>
                  <a:lnTo>
                    <a:pt x="22180" y="1796764"/>
                  </a:lnTo>
                  <a:cubicBezTo>
                    <a:pt x="10006" y="1796969"/>
                    <a:pt x="0" y="1782746"/>
                    <a:pt x="0" y="1765163"/>
                  </a:cubicBezTo>
                  <a:lnTo>
                    <a:pt x="0" y="31601"/>
                  </a:lnTo>
                  <a:cubicBezTo>
                    <a:pt x="0" y="14256"/>
                    <a:pt x="10006" y="0"/>
                    <a:pt x="22180" y="0"/>
                  </a:cubicBezTo>
                  <a:moveTo>
                    <a:pt x="22180" y="63440"/>
                  </a:moveTo>
                  <a:lnTo>
                    <a:pt x="22180" y="31601"/>
                  </a:lnTo>
                  <a:lnTo>
                    <a:pt x="44527" y="31601"/>
                  </a:lnTo>
                  <a:lnTo>
                    <a:pt x="44527" y="1765163"/>
                  </a:lnTo>
                  <a:lnTo>
                    <a:pt x="22180" y="1765163"/>
                  </a:lnTo>
                  <a:lnTo>
                    <a:pt x="22180" y="1733562"/>
                  </a:lnTo>
                  <a:lnTo>
                    <a:pt x="8795483" y="1733562"/>
                  </a:lnTo>
                  <a:lnTo>
                    <a:pt x="8795483" y="1765163"/>
                  </a:lnTo>
                  <a:lnTo>
                    <a:pt x="8773302" y="1765163"/>
                  </a:lnTo>
                  <a:lnTo>
                    <a:pt x="8773302" y="31601"/>
                  </a:lnTo>
                  <a:lnTo>
                    <a:pt x="8795483" y="31601"/>
                  </a:lnTo>
                  <a:lnTo>
                    <a:pt x="8795483" y="63440"/>
                  </a:lnTo>
                  <a:lnTo>
                    <a:pt x="22180" y="63440"/>
                  </a:lnTo>
                  <a:close/>
                </a:path>
              </a:pathLst>
            </a:custGeom>
            <a:solidFill>
              <a:srgbClr val="015C5E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808956" y="7249610"/>
            <a:ext cx="6387861" cy="566039"/>
            <a:chOff x="0" y="0"/>
            <a:chExt cx="8517149" cy="75471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517148" cy="754719"/>
            </a:xfrm>
            <a:custGeom>
              <a:avLst/>
              <a:gdLst/>
              <a:ahLst/>
              <a:cxnLst/>
              <a:rect r="r" b="b" t="t" l="l"/>
              <a:pathLst>
                <a:path h="754719" w="8517148">
                  <a:moveTo>
                    <a:pt x="0" y="0"/>
                  </a:moveTo>
                  <a:lnTo>
                    <a:pt x="8517148" y="0"/>
                  </a:lnTo>
                  <a:lnTo>
                    <a:pt x="8517148" y="754719"/>
                  </a:lnTo>
                  <a:lnTo>
                    <a:pt x="0" y="7547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609" r="23846" b="-93303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8517149" cy="8023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i="true">
                  <a:solidFill>
                    <a:srgbClr val="A8DAD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Clinical Lead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696225" y="8047016"/>
            <a:ext cx="6613335" cy="1347698"/>
            <a:chOff x="0" y="0"/>
            <a:chExt cx="8817780" cy="179693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22180" y="31601"/>
              <a:ext cx="8773303" cy="1733562"/>
            </a:xfrm>
            <a:custGeom>
              <a:avLst/>
              <a:gdLst/>
              <a:ahLst/>
              <a:cxnLst/>
              <a:rect r="r" b="b" t="t" l="l"/>
              <a:pathLst>
                <a:path h="1733562" w="8773303">
                  <a:moveTo>
                    <a:pt x="0" y="0"/>
                  </a:moveTo>
                  <a:lnTo>
                    <a:pt x="8773303" y="0"/>
                  </a:lnTo>
                  <a:lnTo>
                    <a:pt x="8773303" y="1733562"/>
                  </a:lnTo>
                  <a:lnTo>
                    <a:pt x="0" y="1733562"/>
                  </a:lnTo>
                  <a:close/>
                </a:path>
              </a:pathLst>
            </a:custGeom>
            <a:solidFill>
              <a:srgbClr val="2D6A6B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817663" cy="1796767"/>
            </a:xfrm>
            <a:custGeom>
              <a:avLst/>
              <a:gdLst/>
              <a:ahLst/>
              <a:cxnLst/>
              <a:rect r="r" b="b" t="t" l="l"/>
              <a:pathLst>
                <a:path h="1796767" w="8817663">
                  <a:moveTo>
                    <a:pt x="22180" y="0"/>
                  </a:moveTo>
                  <a:lnTo>
                    <a:pt x="8795483" y="0"/>
                  </a:lnTo>
                  <a:cubicBezTo>
                    <a:pt x="8807824" y="0"/>
                    <a:pt x="8817663" y="14256"/>
                    <a:pt x="8817663" y="31601"/>
                  </a:cubicBezTo>
                  <a:lnTo>
                    <a:pt x="8817663" y="1765163"/>
                  </a:lnTo>
                  <a:cubicBezTo>
                    <a:pt x="8817663" y="1782746"/>
                    <a:pt x="8807657" y="1796764"/>
                    <a:pt x="8795483" y="1796764"/>
                  </a:cubicBezTo>
                  <a:lnTo>
                    <a:pt x="22180" y="1796764"/>
                  </a:lnTo>
                  <a:cubicBezTo>
                    <a:pt x="10006" y="1796969"/>
                    <a:pt x="0" y="1782746"/>
                    <a:pt x="0" y="1765163"/>
                  </a:cubicBezTo>
                  <a:lnTo>
                    <a:pt x="0" y="31601"/>
                  </a:lnTo>
                  <a:cubicBezTo>
                    <a:pt x="0" y="14256"/>
                    <a:pt x="10006" y="0"/>
                    <a:pt x="22180" y="0"/>
                  </a:cubicBezTo>
                  <a:moveTo>
                    <a:pt x="22180" y="63440"/>
                  </a:moveTo>
                  <a:lnTo>
                    <a:pt x="22180" y="31601"/>
                  </a:lnTo>
                  <a:lnTo>
                    <a:pt x="44527" y="31601"/>
                  </a:lnTo>
                  <a:lnTo>
                    <a:pt x="44527" y="1765163"/>
                  </a:lnTo>
                  <a:lnTo>
                    <a:pt x="22180" y="1765163"/>
                  </a:lnTo>
                  <a:lnTo>
                    <a:pt x="22180" y="1733562"/>
                  </a:lnTo>
                  <a:lnTo>
                    <a:pt x="8795483" y="1733562"/>
                  </a:lnTo>
                  <a:lnTo>
                    <a:pt x="8795483" y="1765163"/>
                  </a:lnTo>
                  <a:lnTo>
                    <a:pt x="8773302" y="1765163"/>
                  </a:lnTo>
                  <a:lnTo>
                    <a:pt x="8773302" y="31601"/>
                  </a:lnTo>
                  <a:lnTo>
                    <a:pt x="8795483" y="31601"/>
                  </a:lnTo>
                  <a:lnTo>
                    <a:pt x="8795483" y="63440"/>
                  </a:lnTo>
                  <a:lnTo>
                    <a:pt x="22180" y="63440"/>
                  </a:lnTo>
                  <a:close/>
                </a:path>
              </a:pathLst>
            </a:custGeom>
            <a:solidFill>
              <a:srgbClr val="015C5E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808956" y="8139201"/>
            <a:ext cx="6387861" cy="752731"/>
            <a:chOff x="0" y="0"/>
            <a:chExt cx="8517149" cy="100364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517148" cy="1003641"/>
            </a:xfrm>
            <a:custGeom>
              <a:avLst/>
              <a:gdLst/>
              <a:ahLst/>
              <a:cxnLst/>
              <a:rect r="r" b="b" t="t" l="l"/>
              <a:pathLst>
                <a:path h="1003641" w="8517148">
                  <a:moveTo>
                    <a:pt x="0" y="0"/>
                  </a:moveTo>
                  <a:lnTo>
                    <a:pt x="8517148" y="0"/>
                  </a:lnTo>
                  <a:lnTo>
                    <a:pt x="8517148" y="1003641"/>
                  </a:lnTo>
                  <a:lnTo>
                    <a:pt x="0" y="10036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199" r="23846" b="-52649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8517149" cy="1051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7295923  —  Kwarteng Samuel Darkwah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808956" y="8755071"/>
            <a:ext cx="6387861" cy="566039"/>
            <a:chOff x="0" y="0"/>
            <a:chExt cx="8517149" cy="75471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517148" cy="754719"/>
            </a:xfrm>
            <a:custGeom>
              <a:avLst/>
              <a:gdLst/>
              <a:ahLst/>
              <a:cxnLst/>
              <a:rect r="r" b="b" t="t" l="l"/>
              <a:pathLst>
                <a:path h="754719" w="8517148">
                  <a:moveTo>
                    <a:pt x="0" y="0"/>
                  </a:moveTo>
                  <a:lnTo>
                    <a:pt x="8517148" y="0"/>
                  </a:lnTo>
                  <a:lnTo>
                    <a:pt x="8517148" y="754719"/>
                  </a:lnTo>
                  <a:lnTo>
                    <a:pt x="0" y="7547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609" r="23846" b="-93303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8517149" cy="8023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i="true">
                  <a:solidFill>
                    <a:srgbClr val="A8DAD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Software Architect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808956" y="6633739"/>
            <a:ext cx="6387861" cy="752731"/>
            <a:chOff x="0" y="0"/>
            <a:chExt cx="8517149" cy="100364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517148" cy="1003641"/>
            </a:xfrm>
            <a:custGeom>
              <a:avLst/>
              <a:gdLst/>
              <a:ahLst/>
              <a:cxnLst/>
              <a:rect r="r" b="b" t="t" l="l"/>
              <a:pathLst>
                <a:path h="1003641" w="8517148">
                  <a:moveTo>
                    <a:pt x="0" y="0"/>
                  </a:moveTo>
                  <a:lnTo>
                    <a:pt x="8517148" y="0"/>
                  </a:lnTo>
                  <a:lnTo>
                    <a:pt x="8517148" y="1003641"/>
                  </a:lnTo>
                  <a:lnTo>
                    <a:pt x="0" y="10036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199" r="23846" b="-52649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8517149" cy="1051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7297723  —  Opoku Peggy Amoakwaa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808956" y="5128278"/>
            <a:ext cx="6387861" cy="752731"/>
            <a:chOff x="0" y="0"/>
            <a:chExt cx="8517149" cy="100364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517148" cy="1003641"/>
            </a:xfrm>
            <a:custGeom>
              <a:avLst/>
              <a:gdLst/>
              <a:ahLst/>
              <a:cxnLst/>
              <a:rect r="r" b="b" t="t" l="l"/>
              <a:pathLst>
                <a:path h="1003641" w="8517148">
                  <a:moveTo>
                    <a:pt x="0" y="0"/>
                  </a:moveTo>
                  <a:lnTo>
                    <a:pt x="8517148" y="0"/>
                  </a:lnTo>
                  <a:lnTo>
                    <a:pt x="8517148" y="1003641"/>
                  </a:lnTo>
                  <a:lnTo>
                    <a:pt x="0" y="10036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199" r="23846" b="-52649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8517149" cy="1060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sz="2399" strike="noStrike" u="none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7298723 — Claresta Gytha Mawusenam Quist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808956" y="5744149"/>
            <a:ext cx="6387861" cy="566039"/>
            <a:chOff x="0" y="0"/>
            <a:chExt cx="8517149" cy="75471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517148" cy="754719"/>
            </a:xfrm>
            <a:custGeom>
              <a:avLst/>
              <a:gdLst/>
              <a:ahLst/>
              <a:cxnLst/>
              <a:rect r="r" b="b" t="t" l="l"/>
              <a:pathLst>
                <a:path h="754719" w="8517148">
                  <a:moveTo>
                    <a:pt x="0" y="0"/>
                  </a:moveTo>
                  <a:lnTo>
                    <a:pt x="8517148" y="0"/>
                  </a:lnTo>
                  <a:lnTo>
                    <a:pt x="8517148" y="754719"/>
                  </a:lnTo>
                  <a:lnTo>
                    <a:pt x="0" y="7547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609" r="23846" b="-93303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8517149" cy="8023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i="true">
                  <a:solidFill>
                    <a:srgbClr val="A8DAD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Team Lead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0142472" y="5876425"/>
            <a:ext cx="6168994" cy="1221095"/>
            <a:chOff x="0" y="0"/>
            <a:chExt cx="7179746" cy="142116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8060" y="24993"/>
              <a:ext cx="7143532" cy="1371046"/>
            </a:xfrm>
            <a:custGeom>
              <a:avLst/>
              <a:gdLst/>
              <a:ahLst/>
              <a:cxnLst/>
              <a:rect r="r" b="b" t="t" l="l"/>
              <a:pathLst>
                <a:path h="1371046" w="7143532">
                  <a:moveTo>
                    <a:pt x="0" y="0"/>
                  </a:moveTo>
                  <a:lnTo>
                    <a:pt x="7143532" y="0"/>
                  </a:lnTo>
                  <a:lnTo>
                    <a:pt x="7143532" y="1371046"/>
                  </a:lnTo>
                  <a:lnTo>
                    <a:pt x="0" y="1371046"/>
                  </a:lnTo>
                  <a:close/>
                </a:path>
              </a:pathLst>
            </a:custGeom>
            <a:solidFill>
              <a:srgbClr val="2D6A6B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179651" cy="1421034"/>
            </a:xfrm>
            <a:custGeom>
              <a:avLst/>
              <a:gdLst/>
              <a:ahLst/>
              <a:cxnLst/>
              <a:rect r="r" b="b" t="t" l="l"/>
              <a:pathLst>
                <a:path h="1421034" w="7179651">
                  <a:moveTo>
                    <a:pt x="18060" y="0"/>
                  </a:moveTo>
                  <a:lnTo>
                    <a:pt x="7161592" y="0"/>
                  </a:lnTo>
                  <a:cubicBezTo>
                    <a:pt x="7171640" y="0"/>
                    <a:pt x="7179651" y="11275"/>
                    <a:pt x="7179651" y="24993"/>
                  </a:cubicBezTo>
                  <a:lnTo>
                    <a:pt x="7179651" y="1396039"/>
                  </a:lnTo>
                  <a:cubicBezTo>
                    <a:pt x="7179651" y="1409945"/>
                    <a:pt x="7171503" y="1421033"/>
                    <a:pt x="7161592" y="1421033"/>
                  </a:cubicBezTo>
                  <a:lnTo>
                    <a:pt x="18060" y="1421033"/>
                  </a:lnTo>
                  <a:cubicBezTo>
                    <a:pt x="8147" y="1421202"/>
                    <a:pt x="0" y="1409945"/>
                    <a:pt x="0" y="1396039"/>
                  </a:cubicBezTo>
                  <a:lnTo>
                    <a:pt x="0" y="24993"/>
                  </a:lnTo>
                  <a:cubicBezTo>
                    <a:pt x="0" y="11275"/>
                    <a:pt x="8147" y="0"/>
                    <a:pt x="18060" y="0"/>
                  </a:cubicBezTo>
                  <a:moveTo>
                    <a:pt x="18060" y="50174"/>
                  </a:moveTo>
                  <a:lnTo>
                    <a:pt x="18060" y="24993"/>
                  </a:lnTo>
                  <a:lnTo>
                    <a:pt x="36255" y="24993"/>
                  </a:lnTo>
                  <a:lnTo>
                    <a:pt x="36255" y="1396039"/>
                  </a:lnTo>
                  <a:lnTo>
                    <a:pt x="18060" y="1396039"/>
                  </a:lnTo>
                  <a:lnTo>
                    <a:pt x="18060" y="1371046"/>
                  </a:lnTo>
                  <a:lnTo>
                    <a:pt x="7161592" y="1371046"/>
                  </a:lnTo>
                  <a:lnTo>
                    <a:pt x="7161592" y="1396039"/>
                  </a:lnTo>
                  <a:lnTo>
                    <a:pt x="7143531" y="1396039"/>
                  </a:lnTo>
                  <a:lnTo>
                    <a:pt x="7143531" y="24993"/>
                  </a:lnTo>
                  <a:lnTo>
                    <a:pt x="7161592" y="24993"/>
                  </a:lnTo>
                  <a:lnTo>
                    <a:pt x="7161592" y="50174"/>
                  </a:lnTo>
                  <a:lnTo>
                    <a:pt x="18060" y="50174"/>
                  </a:lnTo>
                  <a:close/>
                </a:path>
              </a:pathLst>
            </a:custGeom>
            <a:solidFill>
              <a:srgbClr val="2D6A6B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0123315" y="7242836"/>
            <a:ext cx="6168994" cy="1303812"/>
            <a:chOff x="0" y="0"/>
            <a:chExt cx="7179746" cy="151743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8060" y="26686"/>
              <a:ext cx="7143532" cy="1463922"/>
            </a:xfrm>
            <a:custGeom>
              <a:avLst/>
              <a:gdLst/>
              <a:ahLst/>
              <a:cxnLst/>
              <a:rect r="r" b="b" t="t" l="l"/>
              <a:pathLst>
                <a:path h="1463922" w="7143532">
                  <a:moveTo>
                    <a:pt x="0" y="0"/>
                  </a:moveTo>
                  <a:lnTo>
                    <a:pt x="7143532" y="0"/>
                  </a:lnTo>
                  <a:lnTo>
                    <a:pt x="7143532" y="1463922"/>
                  </a:lnTo>
                  <a:lnTo>
                    <a:pt x="0" y="1463922"/>
                  </a:lnTo>
                  <a:close/>
                </a:path>
              </a:pathLst>
            </a:custGeom>
            <a:solidFill>
              <a:srgbClr val="2D6A6B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179651" cy="1517296"/>
            </a:xfrm>
            <a:custGeom>
              <a:avLst/>
              <a:gdLst/>
              <a:ahLst/>
              <a:cxnLst/>
              <a:rect r="r" b="b" t="t" l="l"/>
              <a:pathLst>
                <a:path h="1517296" w="7179651">
                  <a:moveTo>
                    <a:pt x="18060" y="0"/>
                  </a:moveTo>
                  <a:lnTo>
                    <a:pt x="7161592" y="0"/>
                  </a:lnTo>
                  <a:cubicBezTo>
                    <a:pt x="7171640" y="0"/>
                    <a:pt x="7179651" y="12039"/>
                    <a:pt x="7179651" y="26686"/>
                  </a:cubicBezTo>
                  <a:lnTo>
                    <a:pt x="7179651" y="1490608"/>
                  </a:lnTo>
                  <a:cubicBezTo>
                    <a:pt x="7179651" y="1505455"/>
                    <a:pt x="7171503" y="1517294"/>
                    <a:pt x="7161592" y="1517294"/>
                  </a:cubicBezTo>
                  <a:lnTo>
                    <a:pt x="18060" y="1517294"/>
                  </a:lnTo>
                  <a:cubicBezTo>
                    <a:pt x="8147" y="1517472"/>
                    <a:pt x="0" y="1505455"/>
                    <a:pt x="0" y="1490608"/>
                  </a:cubicBezTo>
                  <a:lnTo>
                    <a:pt x="0" y="26686"/>
                  </a:lnTo>
                  <a:cubicBezTo>
                    <a:pt x="0" y="12039"/>
                    <a:pt x="8147" y="0"/>
                    <a:pt x="18060" y="0"/>
                  </a:cubicBezTo>
                  <a:moveTo>
                    <a:pt x="18060" y="53573"/>
                  </a:moveTo>
                  <a:lnTo>
                    <a:pt x="18060" y="26686"/>
                  </a:lnTo>
                  <a:lnTo>
                    <a:pt x="36255" y="26686"/>
                  </a:lnTo>
                  <a:lnTo>
                    <a:pt x="36255" y="1490608"/>
                  </a:lnTo>
                  <a:lnTo>
                    <a:pt x="18060" y="1490608"/>
                  </a:lnTo>
                  <a:lnTo>
                    <a:pt x="18060" y="1463922"/>
                  </a:lnTo>
                  <a:lnTo>
                    <a:pt x="7161592" y="1463922"/>
                  </a:lnTo>
                  <a:lnTo>
                    <a:pt x="7161592" y="1490608"/>
                  </a:lnTo>
                  <a:lnTo>
                    <a:pt x="7143531" y="1490608"/>
                  </a:lnTo>
                  <a:lnTo>
                    <a:pt x="7143531" y="26686"/>
                  </a:lnTo>
                  <a:lnTo>
                    <a:pt x="7161592" y="26686"/>
                  </a:lnTo>
                  <a:lnTo>
                    <a:pt x="7161592" y="53573"/>
                  </a:lnTo>
                  <a:lnTo>
                    <a:pt x="18060" y="53573"/>
                  </a:lnTo>
                  <a:close/>
                </a:path>
              </a:pathLst>
            </a:custGeom>
            <a:solidFill>
              <a:srgbClr val="015C5E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0247634" y="6486972"/>
            <a:ext cx="5958669" cy="521356"/>
            <a:chOff x="0" y="0"/>
            <a:chExt cx="6934962" cy="606777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934961" cy="606777"/>
            </a:xfrm>
            <a:custGeom>
              <a:avLst/>
              <a:gdLst/>
              <a:ahLst/>
              <a:cxnLst/>
              <a:rect r="r" b="b" t="t" l="l"/>
              <a:pathLst>
                <a:path h="606777" w="6934961">
                  <a:moveTo>
                    <a:pt x="0" y="0"/>
                  </a:moveTo>
                  <a:lnTo>
                    <a:pt x="6934961" y="0"/>
                  </a:lnTo>
                  <a:lnTo>
                    <a:pt x="6934961" y="606777"/>
                  </a:lnTo>
                  <a:lnTo>
                    <a:pt x="0" y="6067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136" r="6471" b="-140434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6934962" cy="6544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i="true">
                  <a:solidFill>
                    <a:srgbClr val="A8DAD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Structural Engineer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0228471" y="7257760"/>
            <a:ext cx="5958669" cy="646116"/>
            <a:chOff x="0" y="0"/>
            <a:chExt cx="6934962" cy="75197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934961" cy="751979"/>
            </a:xfrm>
            <a:custGeom>
              <a:avLst/>
              <a:gdLst/>
              <a:ahLst/>
              <a:cxnLst/>
              <a:rect r="r" b="b" t="t" l="l"/>
              <a:pathLst>
                <a:path h="751979" w="6934961">
                  <a:moveTo>
                    <a:pt x="0" y="0"/>
                  </a:moveTo>
                  <a:lnTo>
                    <a:pt x="6934961" y="0"/>
                  </a:lnTo>
                  <a:lnTo>
                    <a:pt x="6934961" y="751979"/>
                  </a:lnTo>
                  <a:lnTo>
                    <a:pt x="0" y="75197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2397" r="6471" b="-103736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6934962" cy="7996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7292923  —  Appiah Kwakye Nana Yaw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0266988" y="6056703"/>
            <a:ext cx="5538404" cy="552292"/>
            <a:chOff x="0" y="0"/>
            <a:chExt cx="6486144" cy="64680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486144" cy="646801"/>
            </a:xfrm>
            <a:custGeom>
              <a:avLst/>
              <a:gdLst/>
              <a:ahLst/>
              <a:cxnLst/>
              <a:rect r="r" b="b" t="t" l="l"/>
              <a:pathLst>
                <a:path h="646801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646801"/>
                  </a:lnTo>
                  <a:lnTo>
                    <a:pt x="0" y="6468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927" r="0" b="-136866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6486144" cy="6944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7297523  —  Bernard Nana Ofosu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C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47625" cy="1945643"/>
            <a:chOff x="0" y="0"/>
            <a:chExt cx="63500" cy="25941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269" y="16891"/>
              <a:ext cx="58951" cy="2560320"/>
            </a:xfrm>
            <a:custGeom>
              <a:avLst/>
              <a:gdLst/>
              <a:ahLst/>
              <a:cxnLst/>
              <a:rect r="r" b="b" t="t" l="l"/>
              <a:pathLst>
                <a:path h="2560320" w="58951">
                  <a:moveTo>
                    <a:pt x="0" y="0"/>
                  </a:moveTo>
                  <a:lnTo>
                    <a:pt x="58950" y="0"/>
                  </a:lnTo>
                  <a:lnTo>
                    <a:pt x="58950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A8DADC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488" cy="2594102"/>
            </a:xfrm>
            <a:custGeom>
              <a:avLst/>
              <a:gdLst/>
              <a:ahLst/>
              <a:cxnLst/>
              <a:rect r="r" b="b" t="t" l="l"/>
              <a:pathLst>
                <a:path h="2594102" w="63488">
                  <a:moveTo>
                    <a:pt x="2269" y="0"/>
                  </a:moveTo>
                  <a:lnTo>
                    <a:pt x="61219" y="0"/>
                  </a:lnTo>
                  <a:cubicBezTo>
                    <a:pt x="62482" y="0"/>
                    <a:pt x="63488" y="7620"/>
                    <a:pt x="63488" y="16891"/>
                  </a:cubicBezTo>
                  <a:lnTo>
                    <a:pt x="63488" y="2577211"/>
                  </a:lnTo>
                  <a:cubicBezTo>
                    <a:pt x="63488" y="2586609"/>
                    <a:pt x="62465" y="2594102"/>
                    <a:pt x="61219" y="2594102"/>
                  </a:cubicBezTo>
                  <a:lnTo>
                    <a:pt x="2269" y="2594102"/>
                  </a:lnTo>
                  <a:cubicBezTo>
                    <a:pt x="1006" y="2594102"/>
                    <a:pt x="0" y="2586482"/>
                    <a:pt x="0" y="2577211"/>
                  </a:cubicBezTo>
                  <a:lnTo>
                    <a:pt x="0" y="16891"/>
                  </a:lnTo>
                  <a:cubicBezTo>
                    <a:pt x="0" y="7620"/>
                    <a:pt x="1023" y="0"/>
                    <a:pt x="2269" y="0"/>
                  </a:cubicBezTo>
                  <a:moveTo>
                    <a:pt x="2269" y="33909"/>
                  </a:moveTo>
                  <a:lnTo>
                    <a:pt x="2269" y="16891"/>
                  </a:lnTo>
                  <a:lnTo>
                    <a:pt x="4554" y="16891"/>
                  </a:lnTo>
                  <a:lnTo>
                    <a:pt x="4554" y="2577211"/>
                  </a:lnTo>
                  <a:lnTo>
                    <a:pt x="2269" y="2577211"/>
                  </a:lnTo>
                  <a:lnTo>
                    <a:pt x="2269" y="2560320"/>
                  </a:lnTo>
                  <a:lnTo>
                    <a:pt x="61219" y="2560320"/>
                  </a:lnTo>
                  <a:lnTo>
                    <a:pt x="61219" y="2577211"/>
                  </a:lnTo>
                  <a:lnTo>
                    <a:pt x="58951" y="2577211"/>
                  </a:lnTo>
                  <a:lnTo>
                    <a:pt x="58951" y="16891"/>
                  </a:lnTo>
                  <a:lnTo>
                    <a:pt x="61219" y="16891"/>
                  </a:lnTo>
                  <a:lnTo>
                    <a:pt x="61219" y="33909"/>
                  </a:lnTo>
                  <a:lnTo>
                    <a:pt x="2269" y="33909"/>
                  </a:lnTo>
                  <a:close/>
                </a:path>
              </a:pathLst>
            </a:custGeom>
            <a:solidFill>
              <a:srgbClr val="A8DADC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640080" y="449323"/>
            <a:ext cx="17190720" cy="1554480"/>
            <a:chOff x="0" y="0"/>
            <a:chExt cx="22920960" cy="2072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920961" cy="2072640"/>
            </a:xfrm>
            <a:custGeom>
              <a:avLst/>
              <a:gdLst/>
              <a:ahLst/>
              <a:cxnLst/>
              <a:rect r="r" b="b" t="t" l="l"/>
              <a:pathLst>
                <a:path h="207264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481" r="0" b="-16548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23825"/>
              <a:ext cx="22920960" cy="2196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839"/>
                </a:lnSpc>
              </a:pPr>
              <a:r>
                <a:rPr lang="en-US" b="true" sz="5699" i="true">
                  <a:solidFill>
                    <a:srgbClr val="0D2B2B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Presentation Outline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40080" y="2594353"/>
            <a:ext cx="8255003" cy="1451867"/>
            <a:chOff x="0" y="0"/>
            <a:chExt cx="11006671" cy="193582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10972800" cy="1901952"/>
            </a:xfrm>
            <a:custGeom>
              <a:avLst/>
              <a:gdLst/>
              <a:ahLst/>
              <a:cxnLst/>
              <a:rect r="r" b="b" t="t" l="l"/>
              <a:pathLst>
                <a:path h="190195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006582" cy="1935734"/>
            </a:xfrm>
            <a:custGeom>
              <a:avLst/>
              <a:gdLst/>
              <a:ahLst/>
              <a:cxnLst/>
              <a:rect r="r" b="b" t="t" l="l"/>
              <a:pathLst>
                <a:path h="1935734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918843"/>
                  </a:lnTo>
                  <a:cubicBezTo>
                    <a:pt x="11006582" y="1928241"/>
                    <a:pt x="10998962" y="1935734"/>
                    <a:pt x="1098969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0989691" y="1901952"/>
                  </a:lnTo>
                  <a:lnTo>
                    <a:pt x="10989691" y="1918843"/>
                  </a:lnTo>
                  <a:lnTo>
                    <a:pt x="10972800" y="1918843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8DADC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40080" y="2594353"/>
            <a:ext cx="1031243" cy="1451867"/>
            <a:chOff x="0" y="0"/>
            <a:chExt cx="1374991" cy="193582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341120" cy="1901952"/>
            </a:xfrm>
            <a:custGeom>
              <a:avLst/>
              <a:gdLst/>
              <a:ahLst/>
              <a:cxnLst/>
              <a:rect r="r" b="b" t="t" l="l"/>
              <a:pathLst>
                <a:path h="1901952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2D6A6B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74902" cy="1935734"/>
            </a:xfrm>
            <a:custGeom>
              <a:avLst/>
              <a:gdLst/>
              <a:ahLst/>
              <a:cxnLst/>
              <a:rect r="r" b="b" t="t" l="l"/>
              <a:pathLst>
                <a:path h="1935734" w="1374902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1918843"/>
                  </a:lnTo>
                  <a:cubicBezTo>
                    <a:pt x="1374902" y="1928241"/>
                    <a:pt x="1367282" y="1935734"/>
                    <a:pt x="135801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358011" y="1901952"/>
                  </a:lnTo>
                  <a:lnTo>
                    <a:pt x="1358011" y="1918843"/>
                  </a:lnTo>
                  <a:lnTo>
                    <a:pt x="1341120" y="1918843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17374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52777" y="2826506"/>
            <a:ext cx="1005840" cy="914400"/>
            <a:chOff x="0" y="0"/>
            <a:chExt cx="1341120" cy="1219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411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639" t="0" r="-66639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134112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841497" y="2881370"/>
            <a:ext cx="6858000" cy="914400"/>
            <a:chOff x="0" y="0"/>
            <a:chExt cx="9144000" cy="1219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144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91440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0D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Problem Statement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40080" y="4331713"/>
            <a:ext cx="8255003" cy="1451867"/>
            <a:chOff x="0" y="0"/>
            <a:chExt cx="11006671" cy="193582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10972800" cy="1901952"/>
            </a:xfrm>
            <a:custGeom>
              <a:avLst/>
              <a:gdLst/>
              <a:ahLst/>
              <a:cxnLst/>
              <a:rect r="r" b="b" t="t" l="l"/>
              <a:pathLst>
                <a:path h="190195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006582" cy="1935734"/>
            </a:xfrm>
            <a:custGeom>
              <a:avLst/>
              <a:gdLst/>
              <a:ahLst/>
              <a:cxnLst/>
              <a:rect r="r" b="b" t="t" l="l"/>
              <a:pathLst>
                <a:path h="1935734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918843"/>
                  </a:lnTo>
                  <a:cubicBezTo>
                    <a:pt x="11006582" y="1928241"/>
                    <a:pt x="10998962" y="1935734"/>
                    <a:pt x="1098969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0989691" y="1901952"/>
                  </a:lnTo>
                  <a:lnTo>
                    <a:pt x="10989691" y="1918843"/>
                  </a:lnTo>
                  <a:lnTo>
                    <a:pt x="10972800" y="1918843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8DADC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40080" y="4331713"/>
            <a:ext cx="1031243" cy="1451867"/>
            <a:chOff x="0" y="0"/>
            <a:chExt cx="1374991" cy="193582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1341120" cy="1901952"/>
            </a:xfrm>
            <a:custGeom>
              <a:avLst/>
              <a:gdLst/>
              <a:ahLst/>
              <a:cxnLst/>
              <a:rect r="r" b="b" t="t" l="l"/>
              <a:pathLst>
                <a:path h="1901952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2D6A6B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74902" cy="1935734"/>
            </a:xfrm>
            <a:custGeom>
              <a:avLst/>
              <a:gdLst/>
              <a:ahLst/>
              <a:cxnLst/>
              <a:rect r="r" b="b" t="t" l="l"/>
              <a:pathLst>
                <a:path h="1935734" w="1374902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1918843"/>
                  </a:lnTo>
                  <a:cubicBezTo>
                    <a:pt x="1374902" y="1928241"/>
                    <a:pt x="1367282" y="1935734"/>
                    <a:pt x="135801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358011" y="1901952"/>
                  </a:lnTo>
                  <a:lnTo>
                    <a:pt x="1358011" y="1918843"/>
                  </a:lnTo>
                  <a:lnTo>
                    <a:pt x="1341120" y="1918843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17374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52777" y="4563866"/>
            <a:ext cx="1005840" cy="914400"/>
            <a:chOff x="0" y="0"/>
            <a:chExt cx="1341120" cy="1219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411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639" t="0" r="-66639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66675"/>
              <a:ext cx="134112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841497" y="4618730"/>
            <a:ext cx="6858000" cy="914400"/>
            <a:chOff x="0" y="0"/>
            <a:chExt cx="9144000" cy="1219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91440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0D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Aim &amp; Objectives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40080" y="6069073"/>
            <a:ext cx="8255003" cy="1451867"/>
            <a:chOff x="0" y="0"/>
            <a:chExt cx="11006671" cy="1935823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11006671" cy="1935823"/>
              <a:chOff x="0" y="0"/>
              <a:chExt cx="11006671" cy="1935823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16891" y="16891"/>
                <a:ext cx="10972800" cy="1901952"/>
              </a:xfrm>
              <a:custGeom>
                <a:avLst/>
                <a:gdLst/>
                <a:ahLst/>
                <a:cxnLst/>
                <a:rect r="r" b="b" t="t" l="l"/>
                <a:pathLst>
                  <a:path h="1901952" w="10972800">
                    <a:moveTo>
                      <a:pt x="0" y="0"/>
                    </a:moveTo>
                    <a:lnTo>
                      <a:pt x="10972800" y="0"/>
                    </a:lnTo>
                    <a:lnTo>
                      <a:pt x="10972800" y="1901952"/>
                    </a:lnTo>
                    <a:lnTo>
                      <a:pt x="0" y="190195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1006582" cy="1935734"/>
              </a:xfrm>
              <a:custGeom>
                <a:avLst/>
                <a:gdLst/>
                <a:ahLst/>
                <a:cxnLst/>
                <a:rect r="r" b="b" t="t" l="l"/>
                <a:pathLst>
                  <a:path h="1935734" w="11006582">
                    <a:moveTo>
                      <a:pt x="16891" y="0"/>
                    </a:moveTo>
                    <a:lnTo>
                      <a:pt x="10989691" y="0"/>
                    </a:lnTo>
                    <a:cubicBezTo>
                      <a:pt x="10999089" y="0"/>
                      <a:pt x="11006582" y="7620"/>
                      <a:pt x="11006582" y="16891"/>
                    </a:cubicBezTo>
                    <a:lnTo>
                      <a:pt x="11006582" y="1918843"/>
                    </a:lnTo>
                    <a:cubicBezTo>
                      <a:pt x="11006582" y="1928241"/>
                      <a:pt x="10998962" y="1935734"/>
                      <a:pt x="10989691" y="1935734"/>
                    </a:cubicBezTo>
                    <a:lnTo>
                      <a:pt x="16891" y="1935734"/>
                    </a:lnTo>
                    <a:cubicBezTo>
                      <a:pt x="7493" y="1935734"/>
                      <a:pt x="0" y="1928114"/>
                      <a:pt x="0" y="1918843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918843"/>
                    </a:lnTo>
                    <a:lnTo>
                      <a:pt x="16891" y="1918843"/>
                    </a:lnTo>
                    <a:lnTo>
                      <a:pt x="16891" y="1901952"/>
                    </a:lnTo>
                    <a:lnTo>
                      <a:pt x="10989691" y="1901952"/>
                    </a:lnTo>
                    <a:lnTo>
                      <a:pt x="10989691" y="1918843"/>
                    </a:lnTo>
                    <a:lnTo>
                      <a:pt x="10972800" y="1918843"/>
                    </a:lnTo>
                    <a:lnTo>
                      <a:pt x="10972800" y="16891"/>
                    </a:lnTo>
                    <a:lnTo>
                      <a:pt x="10989691" y="16891"/>
                    </a:lnTo>
                    <a:lnTo>
                      <a:pt x="1098969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A8DADC"/>
              </a:solidFill>
            </p:spPr>
          </p:sp>
        </p:grpSp>
        <p:grpSp>
          <p:nvGrpSpPr>
            <p:cNvPr name="Group 36" id="36"/>
            <p:cNvGrpSpPr/>
            <p:nvPr/>
          </p:nvGrpSpPr>
          <p:grpSpPr>
            <a:xfrm rot="0">
              <a:off x="0" y="0"/>
              <a:ext cx="1374991" cy="1935823"/>
              <a:chOff x="0" y="0"/>
              <a:chExt cx="1374991" cy="1935823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16891" y="16891"/>
                <a:ext cx="1341120" cy="1901952"/>
              </a:xfrm>
              <a:custGeom>
                <a:avLst/>
                <a:gdLst/>
                <a:ahLst/>
                <a:cxnLst/>
                <a:rect r="r" b="b" t="t" l="l"/>
                <a:pathLst>
                  <a:path h="1901952" w="1341120">
                    <a:moveTo>
                      <a:pt x="0" y="0"/>
                    </a:moveTo>
                    <a:lnTo>
                      <a:pt x="1341120" y="0"/>
                    </a:lnTo>
                    <a:lnTo>
                      <a:pt x="1341120" y="1901952"/>
                    </a:lnTo>
                    <a:lnTo>
                      <a:pt x="0" y="1901952"/>
                    </a:lnTo>
                    <a:close/>
                  </a:path>
                </a:pathLst>
              </a:custGeom>
              <a:solidFill>
                <a:srgbClr val="2D6A6B"/>
              </a:solidFill>
            </p:spPr>
          </p:sp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374902" cy="1935734"/>
              </a:xfrm>
              <a:custGeom>
                <a:avLst/>
                <a:gdLst/>
                <a:ahLst/>
                <a:cxnLst/>
                <a:rect r="r" b="b" t="t" l="l"/>
                <a:pathLst>
                  <a:path h="1935734" w="1374902">
                    <a:moveTo>
                      <a:pt x="16891" y="0"/>
                    </a:moveTo>
                    <a:lnTo>
                      <a:pt x="1358011" y="0"/>
                    </a:lnTo>
                    <a:cubicBezTo>
                      <a:pt x="1367409" y="0"/>
                      <a:pt x="1374902" y="7620"/>
                      <a:pt x="1374902" y="16891"/>
                    </a:cubicBezTo>
                    <a:lnTo>
                      <a:pt x="1374902" y="1918843"/>
                    </a:lnTo>
                    <a:cubicBezTo>
                      <a:pt x="1374902" y="1928241"/>
                      <a:pt x="1367282" y="1935734"/>
                      <a:pt x="1358011" y="1935734"/>
                    </a:cubicBezTo>
                    <a:lnTo>
                      <a:pt x="16891" y="1935734"/>
                    </a:lnTo>
                    <a:cubicBezTo>
                      <a:pt x="7493" y="1935734"/>
                      <a:pt x="0" y="1928114"/>
                      <a:pt x="0" y="1918843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1918843"/>
                    </a:lnTo>
                    <a:lnTo>
                      <a:pt x="16891" y="1918843"/>
                    </a:lnTo>
                    <a:lnTo>
                      <a:pt x="16891" y="1901952"/>
                    </a:lnTo>
                    <a:lnTo>
                      <a:pt x="1358011" y="1901952"/>
                    </a:lnTo>
                    <a:lnTo>
                      <a:pt x="1358011" y="1918843"/>
                    </a:lnTo>
                    <a:lnTo>
                      <a:pt x="1341120" y="1918843"/>
                    </a:lnTo>
                    <a:lnTo>
                      <a:pt x="1341120" y="16891"/>
                    </a:lnTo>
                    <a:lnTo>
                      <a:pt x="1358011" y="16891"/>
                    </a:lnTo>
                    <a:lnTo>
                      <a:pt x="135801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017374"/>
              </a:solidFill>
            </p:spPr>
          </p:sp>
        </p:grpSp>
        <p:grpSp>
          <p:nvGrpSpPr>
            <p:cNvPr name="Group 39" id="39"/>
            <p:cNvGrpSpPr/>
            <p:nvPr/>
          </p:nvGrpSpPr>
          <p:grpSpPr>
            <a:xfrm rot="0">
              <a:off x="16929" y="309537"/>
              <a:ext cx="1341120" cy="1219200"/>
              <a:chOff x="0" y="0"/>
              <a:chExt cx="1341120" cy="12192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1341120" cy="1219200"/>
              </a:xfrm>
              <a:custGeom>
                <a:avLst/>
                <a:gdLst/>
                <a:ahLst/>
                <a:cxnLst/>
                <a:rect r="r" b="b" t="t" l="l"/>
                <a:pathLst>
                  <a:path h="1219200" w="1341120">
                    <a:moveTo>
                      <a:pt x="0" y="0"/>
                    </a:moveTo>
                    <a:lnTo>
                      <a:pt x="1341120" y="0"/>
                    </a:lnTo>
                    <a:lnTo>
                      <a:pt x="1341120" y="1219200"/>
                    </a:lnTo>
                    <a:lnTo>
                      <a:pt x="0" y="12192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66639" t="0" r="-66639" b="0"/>
                </a:stretch>
              </a:blip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66675"/>
                <a:ext cx="1341120" cy="128587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320"/>
                  </a:lnSpc>
                </a:pPr>
                <a:r>
                  <a:rPr lang="en-US" sz="3600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03</a:t>
                </a:r>
              </a:p>
            </p:txBody>
          </p:sp>
        </p:grpSp>
      </p:grpSp>
      <p:grpSp>
        <p:nvGrpSpPr>
          <p:cNvPr name="Group 42" id="42"/>
          <p:cNvGrpSpPr/>
          <p:nvPr/>
        </p:nvGrpSpPr>
        <p:grpSpPr>
          <a:xfrm rot="0">
            <a:off x="1841497" y="6356090"/>
            <a:ext cx="6858000" cy="914400"/>
            <a:chOff x="0" y="0"/>
            <a:chExt cx="9144000" cy="12192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144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57150"/>
              <a:ext cx="91440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0D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System Overview &amp; Components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640080" y="7806433"/>
            <a:ext cx="8255003" cy="1451867"/>
            <a:chOff x="0" y="0"/>
            <a:chExt cx="11006671" cy="193582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16891" y="16891"/>
              <a:ext cx="10972800" cy="1901952"/>
            </a:xfrm>
            <a:custGeom>
              <a:avLst/>
              <a:gdLst/>
              <a:ahLst/>
              <a:cxnLst/>
              <a:rect r="r" b="b" t="t" l="l"/>
              <a:pathLst>
                <a:path h="190195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1006582" cy="1935734"/>
            </a:xfrm>
            <a:custGeom>
              <a:avLst/>
              <a:gdLst/>
              <a:ahLst/>
              <a:cxnLst/>
              <a:rect r="r" b="b" t="t" l="l"/>
              <a:pathLst>
                <a:path h="1935734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918843"/>
                  </a:lnTo>
                  <a:cubicBezTo>
                    <a:pt x="11006582" y="1928241"/>
                    <a:pt x="10998962" y="1935734"/>
                    <a:pt x="1098969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0989691" y="1901952"/>
                  </a:lnTo>
                  <a:lnTo>
                    <a:pt x="10989691" y="1918843"/>
                  </a:lnTo>
                  <a:lnTo>
                    <a:pt x="10972800" y="1918843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8DADC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640080" y="7806433"/>
            <a:ext cx="1031243" cy="1451867"/>
            <a:chOff x="0" y="0"/>
            <a:chExt cx="1374991" cy="1935823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16891" y="16891"/>
              <a:ext cx="1341120" cy="1901952"/>
            </a:xfrm>
            <a:custGeom>
              <a:avLst/>
              <a:gdLst/>
              <a:ahLst/>
              <a:cxnLst/>
              <a:rect r="r" b="b" t="t" l="l"/>
              <a:pathLst>
                <a:path h="1901952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2D6A6B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374902" cy="1935734"/>
            </a:xfrm>
            <a:custGeom>
              <a:avLst/>
              <a:gdLst/>
              <a:ahLst/>
              <a:cxnLst/>
              <a:rect r="r" b="b" t="t" l="l"/>
              <a:pathLst>
                <a:path h="1935734" w="1374902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1918843"/>
                  </a:lnTo>
                  <a:cubicBezTo>
                    <a:pt x="1374902" y="1928241"/>
                    <a:pt x="1367282" y="1935734"/>
                    <a:pt x="135801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358011" y="1901952"/>
                  </a:lnTo>
                  <a:lnTo>
                    <a:pt x="1358011" y="1918843"/>
                  </a:lnTo>
                  <a:lnTo>
                    <a:pt x="1341120" y="1918843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17374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652777" y="8038586"/>
            <a:ext cx="1005840" cy="914400"/>
            <a:chOff x="0" y="0"/>
            <a:chExt cx="1341120" cy="12192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3411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639" t="0" r="-66639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66675"/>
              <a:ext cx="134112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841497" y="8093450"/>
            <a:ext cx="6858000" cy="914400"/>
            <a:chOff x="0" y="0"/>
            <a:chExt cx="9144000" cy="12192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144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57150"/>
              <a:ext cx="91440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0D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Circuit Design &amp; Connections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575797" y="3392419"/>
            <a:ext cx="8255003" cy="1451867"/>
            <a:chOff x="0" y="0"/>
            <a:chExt cx="11006671" cy="1935823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16891" y="16891"/>
              <a:ext cx="10972800" cy="1901952"/>
            </a:xfrm>
            <a:custGeom>
              <a:avLst/>
              <a:gdLst/>
              <a:ahLst/>
              <a:cxnLst/>
              <a:rect r="r" b="b" t="t" l="l"/>
              <a:pathLst>
                <a:path h="190195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1006582" cy="1935734"/>
            </a:xfrm>
            <a:custGeom>
              <a:avLst/>
              <a:gdLst/>
              <a:ahLst/>
              <a:cxnLst/>
              <a:rect r="r" b="b" t="t" l="l"/>
              <a:pathLst>
                <a:path h="1935734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918843"/>
                  </a:lnTo>
                  <a:cubicBezTo>
                    <a:pt x="11006582" y="1928241"/>
                    <a:pt x="10998962" y="1935734"/>
                    <a:pt x="1098969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0989691" y="1901952"/>
                  </a:lnTo>
                  <a:lnTo>
                    <a:pt x="10989691" y="1918843"/>
                  </a:lnTo>
                  <a:lnTo>
                    <a:pt x="10972800" y="1918843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8DADC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9575797" y="3392419"/>
            <a:ext cx="1031243" cy="1451867"/>
            <a:chOff x="0" y="0"/>
            <a:chExt cx="1374991" cy="1935823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16891" y="16891"/>
              <a:ext cx="1341120" cy="1901952"/>
            </a:xfrm>
            <a:custGeom>
              <a:avLst/>
              <a:gdLst/>
              <a:ahLst/>
              <a:cxnLst/>
              <a:rect r="r" b="b" t="t" l="l"/>
              <a:pathLst>
                <a:path h="1901952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2D6A6B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374902" cy="1935734"/>
            </a:xfrm>
            <a:custGeom>
              <a:avLst/>
              <a:gdLst/>
              <a:ahLst/>
              <a:cxnLst/>
              <a:rect r="r" b="b" t="t" l="l"/>
              <a:pathLst>
                <a:path h="1935734" w="1374902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1918843"/>
                  </a:lnTo>
                  <a:cubicBezTo>
                    <a:pt x="1374902" y="1928241"/>
                    <a:pt x="1367282" y="1935734"/>
                    <a:pt x="135801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358011" y="1901952"/>
                  </a:lnTo>
                  <a:lnTo>
                    <a:pt x="1358011" y="1918843"/>
                  </a:lnTo>
                  <a:lnTo>
                    <a:pt x="1341120" y="1918843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17374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9588494" y="3624572"/>
            <a:ext cx="1005840" cy="914400"/>
            <a:chOff x="0" y="0"/>
            <a:chExt cx="1341120" cy="12192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3411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639" t="0" r="-66639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66675"/>
              <a:ext cx="134112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0777214" y="3679436"/>
            <a:ext cx="6858000" cy="914400"/>
            <a:chOff x="0" y="0"/>
            <a:chExt cx="9144000" cy="12192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144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57150"/>
              <a:ext cx="91440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0D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Methodology &amp; Code Walkthrough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9575797" y="5129779"/>
            <a:ext cx="8255003" cy="1451867"/>
            <a:chOff x="0" y="0"/>
            <a:chExt cx="11006671" cy="1935823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16891" y="16891"/>
              <a:ext cx="10972800" cy="1901952"/>
            </a:xfrm>
            <a:custGeom>
              <a:avLst/>
              <a:gdLst/>
              <a:ahLst/>
              <a:cxnLst/>
              <a:rect r="r" b="b" t="t" l="l"/>
              <a:pathLst>
                <a:path h="190195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1006582" cy="1935734"/>
            </a:xfrm>
            <a:custGeom>
              <a:avLst/>
              <a:gdLst/>
              <a:ahLst/>
              <a:cxnLst/>
              <a:rect r="r" b="b" t="t" l="l"/>
              <a:pathLst>
                <a:path h="1935734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918843"/>
                  </a:lnTo>
                  <a:cubicBezTo>
                    <a:pt x="11006582" y="1928241"/>
                    <a:pt x="10998962" y="1935734"/>
                    <a:pt x="1098969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0989691" y="1901952"/>
                  </a:lnTo>
                  <a:lnTo>
                    <a:pt x="10989691" y="1918843"/>
                  </a:lnTo>
                  <a:lnTo>
                    <a:pt x="10972800" y="1918843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8DADC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9575797" y="5129779"/>
            <a:ext cx="1031243" cy="1451867"/>
            <a:chOff x="0" y="0"/>
            <a:chExt cx="1374991" cy="1935823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16891" y="16891"/>
              <a:ext cx="1341120" cy="1901952"/>
            </a:xfrm>
            <a:custGeom>
              <a:avLst/>
              <a:gdLst/>
              <a:ahLst/>
              <a:cxnLst/>
              <a:rect r="r" b="b" t="t" l="l"/>
              <a:pathLst>
                <a:path h="1901952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2D6A6B"/>
            </a:solidFill>
          </p:spPr>
        </p:sp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374902" cy="1935734"/>
            </a:xfrm>
            <a:custGeom>
              <a:avLst/>
              <a:gdLst/>
              <a:ahLst/>
              <a:cxnLst/>
              <a:rect r="r" b="b" t="t" l="l"/>
              <a:pathLst>
                <a:path h="1935734" w="1374902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1918843"/>
                  </a:lnTo>
                  <a:cubicBezTo>
                    <a:pt x="1374902" y="1928241"/>
                    <a:pt x="1367282" y="1935734"/>
                    <a:pt x="135801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358011" y="1901952"/>
                  </a:lnTo>
                  <a:lnTo>
                    <a:pt x="1358011" y="1918843"/>
                  </a:lnTo>
                  <a:lnTo>
                    <a:pt x="1341120" y="1918843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17374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9588494" y="5361932"/>
            <a:ext cx="1005840" cy="914400"/>
            <a:chOff x="0" y="0"/>
            <a:chExt cx="1341120" cy="12192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3411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639" t="0" r="-66639" b="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66675"/>
              <a:ext cx="134112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0777214" y="5416796"/>
            <a:ext cx="6858000" cy="914400"/>
            <a:chOff x="0" y="0"/>
            <a:chExt cx="9144000" cy="12192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9144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57150"/>
              <a:ext cx="91440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0D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Simulation &amp; Demonstration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9575797" y="6867139"/>
            <a:ext cx="8255003" cy="1451867"/>
            <a:chOff x="0" y="0"/>
            <a:chExt cx="11006671" cy="1935823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16891" y="16891"/>
              <a:ext cx="10972800" cy="1901952"/>
            </a:xfrm>
            <a:custGeom>
              <a:avLst/>
              <a:gdLst/>
              <a:ahLst/>
              <a:cxnLst/>
              <a:rect r="r" b="b" t="t" l="l"/>
              <a:pathLst>
                <a:path h="190195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1006582" cy="1935734"/>
            </a:xfrm>
            <a:custGeom>
              <a:avLst/>
              <a:gdLst/>
              <a:ahLst/>
              <a:cxnLst/>
              <a:rect r="r" b="b" t="t" l="l"/>
              <a:pathLst>
                <a:path h="1935734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918843"/>
                  </a:lnTo>
                  <a:cubicBezTo>
                    <a:pt x="11006582" y="1928241"/>
                    <a:pt x="10998962" y="1935734"/>
                    <a:pt x="1098969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0989691" y="1901952"/>
                  </a:lnTo>
                  <a:lnTo>
                    <a:pt x="10989691" y="1918843"/>
                  </a:lnTo>
                  <a:lnTo>
                    <a:pt x="10972800" y="1918843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8DADC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9575797" y="6867139"/>
            <a:ext cx="1031243" cy="1451867"/>
            <a:chOff x="0" y="0"/>
            <a:chExt cx="1374991" cy="1935823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16891" y="16891"/>
              <a:ext cx="1341120" cy="1901952"/>
            </a:xfrm>
            <a:custGeom>
              <a:avLst/>
              <a:gdLst/>
              <a:ahLst/>
              <a:cxnLst/>
              <a:rect r="r" b="b" t="t" l="l"/>
              <a:pathLst>
                <a:path h="1901952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2D6A6B"/>
            </a:solidFill>
          </p:spPr>
        </p:sp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374902" cy="1935734"/>
            </a:xfrm>
            <a:custGeom>
              <a:avLst/>
              <a:gdLst/>
              <a:ahLst/>
              <a:cxnLst/>
              <a:rect r="r" b="b" t="t" l="l"/>
              <a:pathLst>
                <a:path h="1935734" w="1374902">
                  <a:moveTo>
                    <a:pt x="16891" y="0"/>
                  </a:moveTo>
                  <a:lnTo>
                    <a:pt x="1358011" y="0"/>
                  </a:lnTo>
                  <a:cubicBezTo>
                    <a:pt x="1367409" y="0"/>
                    <a:pt x="1374902" y="7620"/>
                    <a:pt x="1374902" y="16891"/>
                  </a:cubicBezTo>
                  <a:lnTo>
                    <a:pt x="1374902" y="1918843"/>
                  </a:lnTo>
                  <a:cubicBezTo>
                    <a:pt x="1374902" y="1928241"/>
                    <a:pt x="1367282" y="1935734"/>
                    <a:pt x="135801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358011" y="1901952"/>
                  </a:lnTo>
                  <a:lnTo>
                    <a:pt x="1358011" y="1918843"/>
                  </a:lnTo>
                  <a:lnTo>
                    <a:pt x="1341120" y="1918843"/>
                  </a:lnTo>
                  <a:lnTo>
                    <a:pt x="1341120" y="16891"/>
                  </a:lnTo>
                  <a:lnTo>
                    <a:pt x="1358011" y="16891"/>
                  </a:lnTo>
                  <a:lnTo>
                    <a:pt x="1358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17374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9588494" y="7099292"/>
            <a:ext cx="1005840" cy="914400"/>
            <a:chOff x="0" y="0"/>
            <a:chExt cx="1341120" cy="12192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3411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639" t="0" r="-66639" b="0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66675"/>
              <a:ext cx="134112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07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0777214" y="7154156"/>
            <a:ext cx="6858000" cy="914400"/>
            <a:chOff x="0" y="0"/>
            <a:chExt cx="9144000" cy="12192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9144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57150"/>
              <a:ext cx="91440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0D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Conclusion, Challenges &amp; Future Work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C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40080" y="182880"/>
            <a:ext cx="17190720" cy="1554480"/>
            <a:chOff x="0" y="0"/>
            <a:chExt cx="22920960" cy="2072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920961" cy="2072640"/>
            </a:xfrm>
            <a:custGeom>
              <a:avLst/>
              <a:gdLst/>
              <a:ahLst/>
              <a:cxnLst/>
              <a:rect r="r" b="b" t="t" l="l"/>
              <a:pathLst>
                <a:path h="207264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481" r="0" b="-16548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33350"/>
              <a:ext cx="22920960" cy="2205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b="true" sz="5599" i="true">
                  <a:solidFill>
                    <a:srgbClr val="015C5E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Problem Statement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35943" y="2181863"/>
            <a:ext cx="10083803" cy="6974843"/>
            <a:chOff x="0" y="0"/>
            <a:chExt cx="13445071" cy="92997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13411199" cy="9265920"/>
            </a:xfrm>
            <a:custGeom>
              <a:avLst/>
              <a:gdLst/>
              <a:ahLst/>
              <a:cxnLst/>
              <a:rect r="r" b="b" t="t" l="l"/>
              <a:pathLst>
                <a:path h="9265920" w="13411199">
                  <a:moveTo>
                    <a:pt x="0" y="0"/>
                  </a:moveTo>
                  <a:lnTo>
                    <a:pt x="13411199" y="0"/>
                  </a:lnTo>
                  <a:lnTo>
                    <a:pt x="13411199" y="9265920"/>
                  </a:lnTo>
                  <a:lnTo>
                    <a:pt x="0" y="92659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444982" cy="9299701"/>
            </a:xfrm>
            <a:custGeom>
              <a:avLst/>
              <a:gdLst/>
              <a:ahLst/>
              <a:cxnLst/>
              <a:rect r="r" b="b" t="t" l="l"/>
              <a:pathLst>
                <a:path h="9299701" w="13444982">
                  <a:moveTo>
                    <a:pt x="16891" y="0"/>
                  </a:moveTo>
                  <a:lnTo>
                    <a:pt x="13428090" y="0"/>
                  </a:lnTo>
                  <a:cubicBezTo>
                    <a:pt x="13437490" y="0"/>
                    <a:pt x="13444982" y="7620"/>
                    <a:pt x="13444982" y="16891"/>
                  </a:cubicBezTo>
                  <a:lnTo>
                    <a:pt x="13444982" y="9282811"/>
                  </a:lnTo>
                  <a:cubicBezTo>
                    <a:pt x="13444982" y="9292209"/>
                    <a:pt x="13437363" y="9299701"/>
                    <a:pt x="13428090" y="9299701"/>
                  </a:cubicBezTo>
                  <a:lnTo>
                    <a:pt x="16891" y="9299701"/>
                  </a:lnTo>
                  <a:cubicBezTo>
                    <a:pt x="7493" y="9299701"/>
                    <a:pt x="0" y="9292082"/>
                    <a:pt x="0" y="9282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282811"/>
                  </a:lnTo>
                  <a:lnTo>
                    <a:pt x="16891" y="9282811"/>
                  </a:lnTo>
                  <a:lnTo>
                    <a:pt x="16891" y="9265920"/>
                  </a:lnTo>
                  <a:lnTo>
                    <a:pt x="13428090" y="9265920"/>
                  </a:lnTo>
                  <a:lnTo>
                    <a:pt x="13428090" y="9282811"/>
                  </a:lnTo>
                  <a:lnTo>
                    <a:pt x="13411200" y="9282811"/>
                  </a:lnTo>
                  <a:lnTo>
                    <a:pt x="13411200" y="16891"/>
                  </a:lnTo>
                  <a:lnTo>
                    <a:pt x="13428090" y="16891"/>
                  </a:lnTo>
                  <a:lnTo>
                    <a:pt x="134280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8DADC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2377440"/>
            <a:ext cx="9326880" cy="731520"/>
            <a:chOff x="0" y="0"/>
            <a:chExt cx="12435840" cy="9753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435840" cy="975360"/>
            </a:xfrm>
            <a:custGeom>
              <a:avLst/>
              <a:gdLst/>
              <a:ahLst/>
              <a:cxnLst/>
              <a:rect r="r" b="b" t="t" l="l"/>
              <a:pathLst>
                <a:path h="975360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5609" r="0" b="-52560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1243584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01737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Medical </a:t>
              </a:r>
              <a:r>
                <a:rPr lang="en-US" sz="3000" b="true">
                  <a:solidFill>
                    <a:srgbClr val="01737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Challenge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142983" y="6881879"/>
            <a:ext cx="6609083" cy="2128523"/>
            <a:chOff x="0" y="0"/>
            <a:chExt cx="8812111" cy="283803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8778240" cy="2804160"/>
            </a:xfrm>
            <a:custGeom>
              <a:avLst/>
              <a:gdLst/>
              <a:ahLst/>
              <a:cxnLst/>
              <a:rect r="r" b="b" t="t" l="l"/>
              <a:pathLst>
                <a:path h="280416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812022" cy="2837942"/>
            </a:xfrm>
            <a:custGeom>
              <a:avLst/>
              <a:gdLst/>
              <a:ahLst/>
              <a:cxnLst/>
              <a:rect r="r" b="b" t="t" l="l"/>
              <a:pathLst>
                <a:path h="2837942" w="8812022">
                  <a:moveTo>
                    <a:pt x="16891" y="0"/>
                  </a:moveTo>
                  <a:lnTo>
                    <a:pt x="8795131" y="0"/>
                  </a:lnTo>
                  <a:cubicBezTo>
                    <a:pt x="8804529" y="0"/>
                    <a:pt x="8812022" y="7620"/>
                    <a:pt x="8812022" y="16891"/>
                  </a:cubicBezTo>
                  <a:lnTo>
                    <a:pt x="8812022" y="2821051"/>
                  </a:lnTo>
                  <a:cubicBezTo>
                    <a:pt x="8812022" y="2830449"/>
                    <a:pt x="8804402" y="2837942"/>
                    <a:pt x="8795131" y="2837942"/>
                  </a:cubicBezTo>
                  <a:lnTo>
                    <a:pt x="16891" y="2837942"/>
                  </a:lnTo>
                  <a:cubicBezTo>
                    <a:pt x="7493" y="2837942"/>
                    <a:pt x="0" y="2830322"/>
                    <a:pt x="0" y="28210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21051"/>
                  </a:lnTo>
                  <a:lnTo>
                    <a:pt x="16891" y="2821051"/>
                  </a:lnTo>
                  <a:lnTo>
                    <a:pt x="16891" y="2804160"/>
                  </a:lnTo>
                  <a:lnTo>
                    <a:pt x="8795131" y="2804160"/>
                  </a:lnTo>
                  <a:lnTo>
                    <a:pt x="8795131" y="2821051"/>
                  </a:lnTo>
                  <a:lnTo>
                    <a:pt x="8778240" y="2821051"/>
                  </a:lnTo>
                  <a:lnTo>
                    <a:pt x="8778240" y="16891"/>
                  </a:lnTo>
                  <a:lnTo>
                    <a:pt x="8795131" y="16891"/>
                  </a:lnTo>
                  <a:lnTo>
                    <a:pt x="8795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8DADC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614007" y="7078349"/>
            <a:ext cx="4937760" cy="640080"/>
            <a:chOff x="0" y="0"/>
            <a:chExt cx="6583680" cy="8534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583680" cy="853440"/>
            </a:xfrm>
            <a:custGeom>
              <a:avLst/>
              <a:gdLst/>
              <a:ahLst/>
              <a:cxnLst/>
              <a:rect r="r" b="b" t="t" l="l"/>
              <a:pathLst>
                <a:path h="8534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313" r="0" b="-10031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65836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</a:t>
              </a:r>
              <a:r>
                <a:rPr lang="en-US" b="true" sz="2400" i="true">
                  <a:solidFill>
                    <a:srgbClr val="000000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 Medical Need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142983" y="4559301"/>
            <a:ext cx="6609083" cy="2128523"/>
            <a:chOff x="0" y="0"/>
            <a:chExt cx="8812111" cy="283803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8778240" cy="2804160"/>
            </a:xfrm>
            <a:custGeom>
              <a:avLst/>
              <a:gdLst/>
              <a:ahLst/>
              <a:cxnLst/>
              <a:rect r="r" b="b" t="t" l="l"/>
              <a:pathLst>
                <a:path h="280416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812022" cy="2837942"/>
            </a:xfrm>
            <a:custGeom>
              <a:avLst/>
              <a:gdLst/>
              <a:ahLst/>
              <a:cxnLst/>
              <a:rect r="r" b="b" t="t" l="l"/>
              <a:pathLst>
                <a:path h="2837942" w="8812022">
                  <a:moveTo>
                    <a:pt x="16891" y="0"/>
                  </a:moveTo>
                  <a:lnTo>
                    <a:pt x="8795131" y="0"/>
                  </a:lnTo>
                  <a:cubicBezTo>
                    <a:pt x="8804529" y="0"/>
                    <a:pt x="8812022" y="7620"/>
                    <a:pt x="8812022" y="16891"/>
                  </a:cubicBezTo>
                  <a:lnTo>
                    <a:pt x="8812022" y="2821051"/>
                  </a:lnTo>
                  <a:cubicBezTo>
                    <a:pt x="8812022" y="2830449"/>
                    <a:pt x="8804402" y="2837942"/>
                    <a:pt x="8795131" y="2837942"/>
                  </a:cubicBezTo>
                  <a:lnTo>
                    <a:pt x="16891" y="2837942"/>
                  </a:lnTo>
                  <a:cubicBezTo>
                    <a:pt x="7493" y="2837942"/>
                    <a:pt x="0" y="2830322"/>
                    <a:pt x="0" y="28210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21051"/>
                  </a:lnTo>
                  <a:lnTo>
                    <a:pt x="16891" y="2821051"/>
                  </a:lnTo>
                  <a:lnTo>
                    <a:pt x="16891" y="2804160"/>
                  </a:lnTo>
                  <a:lnTo>
                    <a:pt x="8795131" y="2804160"/>
                  </a:lnTo>
                  <a:lnTo>
                    <a:pt x="8795131" y="2821051"/>
                  </a:lnTo>
                  <a:lnTo>
                    <a:pt x="8778240" y="2821051"/>
                  </a:lnTo>
                  <a:lnTo>
                    <a:pt x="8778240" y="16891"/>
                  </a:lnTo>
                  <a:lnTo>
                    <a:pt x="8795131" y="16891"/>
                  </a:lnTo>
                  <a:lnTo>
                    <a:pt x="8795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8DADC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614007" y="4754878"/>
            <a:ext cx="4937760" cy="640080"/>
            <a:chOff x="0" y="0"/>
            <a:chExt cx="6583680" cy="853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583680" cy="853440"/>
            </a:xfrm>
            <a:custGeom>
              <a:avLst/>
              <a:gdLst/>
              <a:ahLst/>
              <a:cxnLst/>
              <a:rect r="r" b="b" t="t" l="l"/>
              <a:pathLst>
                <a:path h="8534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313" r="0" b="-10031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65836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 i="true">
                  <a:solidFill>
                    <a:srgbClr val="0D2B2B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Healthcare gap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1321792" y="4914770"/>
            <a:ext cx="1077472" cy="801247"/>
          </a:xfrm>
          <a:custGeom>
            <a:avLst/>
            <a:gdLst/>
            <a:ahLst/>
            <a:cxnLst/>
            <a:rect r="r" b="b" t="t" l="l"/>
            <a:pathLst>
              <a:path h="801247" w="1077472">
                <a:moveTo>
                  <a:pt x="0" y="0"/>
                </a:moveTo>
                <a:lnTo>
                  <a:pt x="1077472" y="0"/>
                </a:lnTo>
                <a:lnTo>
                  <a:pt x="1077472" y="801247"/>
                </a:lnTo>
                <a:lnTo>
                  <a:pt x="0" y="80124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005840" y="3253359"/>
            <a:ext cx="9095747" cy="465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00">
                <a:solidFill>
                  <a:srgbClr val="0D2B2B"/>
                </a:solidFill>
                <a:latin typeface="Calibri (MS)"/>
                <a:ea typeface="Calibri (MS)"/>
                <a:cs typeface="Calibri (MS)"/>
                <a:sym typeface="Calibri (MS)"/>
              </a:rPr>
              <a:t>​</a:t>
            </a:r>
            <a:r>
              <a:rPr lang="en-US" sz="2800">
                <a:solidFill>
                  <a:srgbClr val="0D2B2B"/>
                </a:solidFill>
                <a:latin typeface="Calibri (MS)"/>
                <a:ea typeface="Calibri (MS)"/>
                <a:cs typeface="Calibri (MS)"/>
                <a:sym typeface="Calibri (MS)"/>
              </a:rPr>
              <a:t>In most clinical settings in developing regions, IV therapy is managed via a gravity-fed system using a manual roller clamp.</a:t>
            </a:r>
          </a:p>
          <a:p>
            <a:pPr algn="l">
              <a:lnSpc>
                <a:spcPts val="3360"/>
              </a:lnSpc>
            </a:pPr>
          </a:p>
          <a:p>
            <a:pPr algn="l">
              <a:lnSpc>
                <a:spcPts val="3360"/>
              </a:lnSpc>
            </a:pPr>
            <a:r>
              <a:rPr lang="en-US" sz="2800">
                <a:solidFill>
                  <a:srgbClr val="0D2B2B"/>
                </a:solidFill>
                <a:latin typeface="Calibri (MS)"/>
                <a:ea typeface="Calibri (MS)"/>
                <a:cs typeface="Calibri (MS)"/>
                <a:sym typeface="Calibri (MS)"/>
              </a:rPr>
              <a:t>​As the volume of fluid in the IV bag decreases, the pressure changes, causing the drip rate to slow down. Conversely, patient movement can accidentally loosen the clamp.</a:t>
            </a:r>
          </a:p>
          <a:p>
            <a:pPr algn="l">
              <a:lnSpc>
                <a:spcPts val="3360"/>
              </a:lnSpc>
            </a:pPr>
            <a:r>
              <a:rPr lang="en-US" sz="2800">
                <a:solidFill>
                  <a:srgbClr val="0D2B2B"/>
                </a:solidFill>
                <a:latin typeface="Calibri (MS)"/>
                <a:ea typeface="Calibri (MS)"/>
                <a:cs typeface="Calibri (MS)"/>
                <a:sym typeface="Calibri (MS)"/>
              </a:rPr>
              <a:t>​</a:t>
            </a:r>
          </a:p>
          <a:p>
            <a:pPr algn="l">
              <a:lnSpc>
                <a:spcPts val="3360"/>
              </a:lnSpc>
            </a:pPr>
            <a:r>
              <a:rPr lang="en-US" sz="2800">
                <a:solidFill>
                  <a:srgbClr val="0D2B2B"/>
                </a:solidFill>
                <a:latin typeface="Calibri (MS)"/>
                <a:ea typeface="Calibri (MS)"/>
                <a:cs typeface="Calibri (MS)"/>
                <a:sym typeface="Calibri (MS)"/>
              </a:rPr>
              <a:t>Nurses are required to manually count drops using a stopwatch. In a busy ward with a high patient-to-nurse ratio, this monitoring happens infrequently, leading to "Set and Forget" behavior.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1142983" y="2236722"/>
            <a:ext cx="6609083" cy="2128523"/>
            <a:chOff x="0" y="0"/>
            <a:chExt cx="8812111" cy="283803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6891" y="16891"/>
              <a:ext cx="8778240" cy="2804160"/>
            </a:xfrm>
            <a:custGeom>
              <a:avLst/>
              <a:gdLst/>
              <a:ahLst/>
              <a:cxnLst/>
              <a:rect r="r" b="b" t="t" l="l"/>
              <a:pathLst>
                <a:path h="280416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812022" cy="2837942"/>
            </a:xfrm>
            <a:custGeom>
              <a:avLst/>
              <a:gdLst/>
              <a:ahLst/>
              <a:cxnLst/>
              <a:rect r="r" b="b" t="t" l="l"/>
              <a:pathLst>
                <a:path h="2837942" w="8812022">
                  <a:moveTo>
                    <a:pt x="16891" y="0"/>
                  </a:moveTo>
                  <a:lnTo>
                    <a:pt x="8795131" y="0"/>
                  </a:lnTo>
                  <a:cubicBezTo>
                    <a:pt x="8804529" y="0"/>
                    <a:pt x="8812022" y="7620"/>
                    <a:pt x="8812022" y="16891"/>
                  </a:cubicBezTo>
                  <a:lnTo>
                    <a:pt x="8812022" y="2821051"/>
                  </a:lnTo>
                  <a:cubicBezTo>
                    <a:pt x="8812022" y="2830449"/>
                    <a:pt x="8804402" y="2837942"/>
                    <a:pt x="8795131" y="2837942"/>
                  </a:cubicBezTo>
                  <a:lnTo>
                    <a:pt x="16891" y="2837942"/>
                  </a:lnTo>
                  <a:cubicBezTo>
                    <a:pt x="7493" y="2837942"/>
                    <a:pt x="0" y="2830322"/>
                    <a:pt x="0" y="28210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21051"/>
                  </a:lnTo>
                  <a:lnTo>
                    <a:pt x="16891" y="2821051"/>
                  </a:lnTo>
                  <a:lnTo>
                    <a:pt x="16891" y="2804160"/>
                  </a:lnTo>
                  <a:lnTo>
                    <a:pt x="8795131" y="2804160"/>
                  </a:lnTo>
                  <a:lnTo>
                    <a:pt x="8795131" y="2821051"/>
                  </a:lnTo>
                  <a:lnTo>
                    <a:pt x="8778240" y="2821051"/>
                  </a:lnTo>
                  <a:lnTo>
                    <a:pt x="8778240" y="16891"/>
                  </a:lnTo>
                  <a:lnTo>
                    <a:pt x="8795131" y="16891"/>
                  </a:lnTo>
                  <a:lnTo>
                    <a:pt x="8795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8DADC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166816" y="3108960"/>
            <a:ext cx="5206784" cy="1046504"/>
            <a:chOff x="0" y="0"/>
            <a:chExt cx="6942378" cy="13953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942379" cy="1395338"/>
            </a:xfrm>
            <a:custGeom>
              <a:avLst/>
              <a:gdLst/>
              <a:ahLst/>
              <a:cxnLst/>
              <a:rect r="r" b="b" t="t" l="l"/>
              <a:pathLst>
                <a:path h="1395338" w="6942379">
                  <a:moveTo>
                    <a:pt x="0" y="0"/>
                  </a:moveTo>
                  <a:lnTo>
                    <a:pt x="6942379" y="0"/>
                  </a:lnTo>
                  <a:lnTo>
                    <a:pt x="6942379" y="1395338"/>
                  </a:lnTo>
                  <a:lnTo>
                    <a:pt x="0" y="13953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879" r="5166" b="-39994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6942378" cy="1442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D6A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Manual gravity-fed IV sets lack closed loop feedback, leading to risks of fluid overload and undetected occlusions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551664" y="2480946"/>
            <a:ext cx="4937760" cy="640080"/>
            <a:chOff x="0" y="0"/>
            <a:chExt cx="6583680" cy="8534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583680" cy="853440"/>
            </a:xfrm>
            <a:custGeom>
              <a:avLst/>
              <a:gdLst/>
              <a:ahLst/>
              <a:cxnLst/>
              <a:rect r="r" b="b" t="t" l="l"/>
              <a:pathLst>
                <a:path h="8534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313" r="0" b="-100313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65836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 i="true">
                  <a:solidFill>
                    <a:srgbClr val="0D2B2B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Clinical Problem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166816" y="5295014"/>
            <a:ext cx="5206784" cy="1005840"/>
            <a:chOff x="0" y="0"/>
            <a:chExt cx="6942378" cy="13411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942379" cy="1341120"/>
            </a:xfrm>
            <a:custGeom>
              <a:avLst/>
              <a:gdLst/>
              <a:ahLst/>
              <a:cxnLst/>
              <a:rect r="r" b="b" t="t" l="l"/>
              <a:pathLst>
                <a:path h="1341120" w="6942379">
                  <a:moveTo>
                    <a:pt x="0" y="0"/>
                  </a:moveTo>
                  <a:lnTo>
                    <a:pt x="6942379" y="0"/>
                  </a:lnTo>
                  <a:lnTo>
                    <a:pt x="694237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653" r="5166" b="-4565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6942378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D6A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Existing electronic pumps are costly for many healthcare facilities</a:t>
              </a: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11418823" y="2377440"/>
            <a:ext cx="883411" cy="1001806"/>
          </a:xfrm>
          <a:custGeom>
            <a:avLst/>
            <a:gdLst/>
            <a:ahLst/>
            <a:cxnLst/>
            <a:rect r="r" b="b" t="t" l="l"/>
            <a:pathLst>
              <a:path h="1001806" w="883411">
                <a:moveTo>
                  <a:pt x="0" y="0"/>
                </a:moveTo>
                <a:lnTo>
                  <a:pt x="883411" y="0"/>
                </a:lnTo>
                <a:lnTo>
                  <a:pt x="883411" y="1001806"/>
                </a:lnTo>
                <a:lnTo>
                  <a:pt x="0" y="100180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1418823" y="7240274"/>
            <a:ext cx="980441" cy="925180"/>
          </a:xfrm>
          <a:custGeom>
            <a:avLst/>
            <a:gdLst/>
            <a:ahLst/>
            <a:cxnLst/>
            <a:rect r="r" b="b" t="t" l="l"/>
            <a:pathLst>
              <a:path h="925180" w="980441">
                <a:moveTo>
                  <a:pt x="0" y="0"/>
                </a:moveTo>
                <a:lnTo>
                  <a:pt x="980441" y="0"/>
                </a:lnTo>
                <a:lnTo>
                  <a:pt x="980441" y="925180"/>
                </a:lnTo>
                <a:lnTo>
                  <a:pt x="0" y="9251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12417152" y="7649574"/>
            <a:ext cx="5413648" cy="1360829"/>
            <a:chOff x="0" y="0"/>
            <a:chExt cx="7218197" cy="181443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218197" cy="1814438"/>
            </a:xfrm>
            <a:custGeom>
              <a:avLst/>
              <a:gdLst/>
              <a:ahLst/>
              <a:cxnLst/>
              <a:rect r="r" b="b" t="t" l="l"/>
              <a:pathLst>
                <a:path h="1814438" w="7218197">
                  <a:moveTo>
                    <a:pt x="0" y="0"/>
                  </a:moveTo>
                  <a:lnTo>
                    <a:pt x="7218197" y="0"/>
                  </a:lnTo>
                  <a:lnTo>
                    <a:pt x="7218197" y="1814438"/>
                  </a:lnTo>
                  <a:lnTo>
                    <a:pt x="0" y="18144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744" r="8790" b="-7658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7218197" cy="18620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D6A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A reliable, automated safety solution that prevents life-threatening fluid complications through real-time monitoring and active occlusion detection</a:t>
              </a:r>
            </a:p>
          </p:txBody>
        </p:sp>
      </p:grpSp>
    </p:spTree>
  </p:cSld>
  <p:clrMapOvr>
    <a:masterClrMapping/>
  </p:clrMapOvr>
  <p:transition spd="slow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73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2773" y="4683437"/>
            <a:ext cx="3507337" cy="4574863"/>
            <a:chOff x="0" y="0"/>
            <a:chExt cx="923766" cy="12049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23766" cy="1204964"/>
            </a:xfrm>
            <a:custGeom>
              <a:avLst/>
              <a:gdLst/>
              <a:ahLst/>
              <a:cxnLst/>
              <a:rect r="r" b="b" t="t" l="l"/>
              <a:pathLst>
                <a:path h="1204964" w="923766">
                  <a:moveTo>
                    <a:pt x="923766" y="66220"/>
                  </a:moveTo>
                  <a:lnTo>
                    <a:pt x="923766" y="1138744"/>
                  </a:lnTo>
                  <a:cubicBezTo>
                    <a:pt x="923766" y="1175316"/>
                    <a:pt x="894118" y="1204964"/>
                    <a:pt x="857545" y="1204964"/>
                  </a:cubicBezTo>
                  <a:lnTo>
                    <a:pt x="66220" y="1204964"/>
                  </a:lnTo>
                  <a:cubicBezTo>
                    <a:pt x="29648" y="1204964"/>
                    <a:pt x="0" y="1175316"/>
                    <a:pt x="0" y="1138744"/>
                  </a:cubicBezTo>
                  <a:lnTo>
                    <a:pt x="0" y="66220"/>
                  </a:lnTo>
                  <a:cubicBezTo>
                    <a:pt x="0" y="29648"/>
                    <a:pt x="29648" y="0"/>
                    <a:pt x="66220" y="0"/>
                  </a:cubicBezTo>
                  <a:lnTo>
                    <a:pt x="857545" y="0"/>
                  </a:lnTo>
                  <a:cubicBezTo>
                    <a:pt x="894118" y="0"/>
                    <a:pt x="923766" y="29648"/>
                    <a:pt x="923766" y="66220"/>
                  </a:cubicBezTo>
                  <a:close/>
                </a:path>
              </a:pathLst>
            </a:custGeom>
            <a:solidFill>
              <a:srgbClr val="015C5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923766" cy="12621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817804" y="4683437"/>
            <a:ext cx="3396906" cy="4574863"/>
            <a:chOff x="0" y="0"/>
            <a:chExt cx="894680" cy="12049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94680" cy="1204964"/>
            </a:xfrm>
            <a:custGeom>
              <a:avLst/>
              <a:gdLst/>
              <a:ahLst/>
              <a:cxnLst/>
              <a:rect r="r" b="b" t="t" l="l"/>
              <a:pathLst>
                <a:path h="1204964" w="894680">
                  <a:moveTo>
                    <a:pt x="894680" y="68373"/>
                  </a:moveTo>
                  <a:lnTo>
                    <a:pt x="894680" y="1136591"/>
                  </a:lnTo>
                  <a:cubicBezTo>
                    <a:pt x="894680" y="1174352"/>
                    <a:pt x="864068" y="1204964"/>
                    <a:pt x="826307" y="1204964"/>
                  </a:cubicBezTo>
                  <a:lnTo>
                    <a:pt x="68373" y="1204964"/>
                  </a:lnTo>
                  <a:cubicBezTo>
                    <a:pt x="30612" y="1204964"/>
                    <a:pt x="0" y="1174352"/>
                    <a:pt x="0" y="1136591"/>
                  </a:cubicBezTo>
                  <a:lnTo>
                    <a:pt x="0" y="68373"/>
                  </a:lnTo>
                  <a:cubicBezTo>
                    <a:pt x="0" y="30612"/>
                    <a:pt x="30612" y="0"/>
                    <a:pt x="68373" y="0"/>
                  </a:cubicBezTo>
                  <a:lnTo>
                    <a:pt x="826307" y="0"/>
                  </a:lnTo>
                  <a:cubicBezTo>
                    <a:pt x="864068" y="0"/>
                    <a:pt x="894680" y="30612"/>
                    <a:pt x="894680" y="68373"/>
                  </a:cubicBezTo>
                  <a:close/>
                </a:path>
              </a:pathLst>
            </a:custGeom>
            <a:solidFill>
              <a:srgbClr val="015C5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894680" cy="12621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812891" y="4683437"/>
            <a:ext cx="3316808" cy="4574863"/>
            <a:chOff x="0" y="0"/>
            <a:chExt cx="873584" cy="12049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73584" cy="1204964"/>
            </a:xfrm>
            <a:custGeom>
              <a:avLst/>
              <a:gdLst/>
              <a:ahLst/>
              <a:cxnLst/>
              <a:rect r="r" b="b" t="t" l="l"/>
              <a:pathLst>
                <a:path h="1204964" w="873584">
                  <a:moveTo>
                    <a:pt x="873584" y="70024"/>
                  </a:moveTo>
                  <a:lnTo>
                    <a:pt x="873584" y="1134940"/>
                  </a:lnTo>
                  <a:cubicBezTo>
                    <a:pt x="873584" y="1153511"/>
                    <a:pt x="866207" y="1171322"/>
                    <a:pt x="853074" y="1184454"/>
                  </a:cubicBezTo>
                  <a:cubicBezTo>
                    <a:pt x="839942" y="1197586"/>
                    <a:pt x="822131" y="1204964"/>
                    <a:pt x="803560" y="1204964"/>
                  </a:cubicBezTo>
                  <a:lnTo>
                    <a:pt x="70024" y="1204964"/>
                  </a:lnTo>
                  <a:cubicBezTo>
                    <a:pt x="51453" y="1204964"/>
                    <a:pt x="33642" y="1197586"/>
                    <a:pt x="20510" y="1184454"/>
                  </a:cubicBezTo>
                  <a:cubicBezTo>
                    <a:pt x="7378" y="1171322"/>
                    <a:pt x="0" y="1153511"/>
                    <a:pt x="0" y="1134940"/>
                  </a:cubicBezTo>
                  <a:lnTo>
                    <a:pt x="0" y="70024"/>
                  </a:lnTo>
                  <a:cubicBezTo>
                    <a:pt x="0" y="51453"/>
                    <a:pt x="7378" y="33642"/>
                    <a:pt x="20510" y="20510"/>
                  </a:cubicBezTo>
                  <a:cubicBezTo>
                    <a:pt x="33642" y="7378"/>
                    <a:pt x="51453" y="0"/>
                    <a:pt x="70024" y="0"/>
                  </a:cubicBezTo>
                  <a:lnTo>
                    <a:pt x="803560" y="0"/>
                  </a:lnTo>
                  <a:cubicBezTo>
                    <a:pt x="822131" y="0"/>
                    <a:pt x="839942" y="7378"/>
                    <a:pt x="853074" y="20510"/>
                  </a:cubicBezTo>
                  <a:cubicBezTo>
                    <a:pt x="866207" y="33642"/>
                    <a:pt x="873584" y="51453"/>
                    <a:pt x="873584" y="70024"/>
                  </a:cubicBezTo>
                  <a:close/>
                </a:path>
              </a:pathLst>
            </a:custGeom>
            <a:solidFill>
              <a:srgbClr val="015C5E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873584" cy="12621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74866" y="4175529"/>
            <a:ext cx="1015815" cy="101581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4ECD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537785" y="4175529"/>
            <a:ext cx="1015815" cy="1015815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4ECD4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612866" y="4175529"/>
            <a:ext cx="1015815" cy="1015815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4ECD4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789957" y="995418"/>
            <a:ext cx="12267256" cy="951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352"/>
              </a:lnSpc>
              <a:spcBef>
                <a:spcPct val="0"/>
              </a:spcBef>
            </a:pPr>
            <a:r>
              <a:rPr lang="en-US" b="true" sz="6683" i="true">
                <a:solidFill>
                  <a:srgbClr val="D4ECD4"/>
                </a:solidFill>
                <a:latin typeface="Atkinson Hyperlegible Bold Italics"/>
                <a:ea typeface="Atkinson Hyperlegible Bold Italics"/>
                <a:cs typeface="Atkinson Hyperlegible Bold Italics"/>
                <a:sym typeface="Atkinson Hyperlegible Bold Italics"/>
              </a:rPr>
              <a:t>Aim and Objectives</a:t>
            </a:r>
          </a:p>
        </p:txBody>
      </p:sp>
      <p:sp>
        <p:nvSpPr>
          <p:cNvPr name="Freeform 21" id="21"/>
          <p:cNvSpPr/>
          <p:nvPr/>
        </p:nvSpPr>
        <p:spPr>
          <a:xfrm flipH="false" flipV="true" rot="0">
            <a:off x="371059" y="455559"/>
            <a:ext cx="2220444" cy="2220444"/>
          </a:xfrm>
          <a:custGeom>
            <a:avLst/>
            <a:gdLst/>
            <a:ahLst/>
            <a:cxnLst/>
            <a:rect r="r" b="b" t="t" l="l"/>
            <a:pathLst>
              <a:path h="2220444" w="2220444">
                <a:moveTo>
                  <a:pt x="0" y="2220444"/>
                </a:moveTo>
                <a:lnTo>
                  <a:pt x="2220444" y="2220444"/>
                </a:lnTo>
                <a:lnTo>
                  <a:pt x="2220444" y="0"/>
                </a:lnTo>
                <a:lnTo>
                  <a:pt x="0" y="0"/>
                </a:lnTo>
                <a:lnTo>
                  <a:pt x="0" y="222044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true" flipV="false" rot="0">
            <a:off x="15617339" y="7518225"/>
            <a:ext cx="2220444" cy="2220444"/>
          </a:xfrm>
          <a:custGeom>
            <a:avLst/>
            <a:gdLst/>
            <a:ahLst/>
            <a:cxnLst/>
            <a:rect r="r" b="b" t="t" l="l"/>
            <a:pathLst>
              <a:path h="2220444" w="2220444">
                <a:moveTo>
                  <a:pt x="2220444" y="0"/>
                </a:moveTo>
                <a:lnTo>
                  <a:pt x="0" y="0"/>
                </a:lnTo>
                <a:lnTo>
                  <a:pt x="0" y="2220444"/>
                </a:lnTo>
                <a:lnTo>
                  <a:pt x="2220444" y="2220444"/>
                </a:lnTo>
                <a:lnTo>
                  <a:pt x="222044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4082199" y="5770198"/>
            <a:ext cx="2353315" cy="2401341"/>
          </a:xfrm>
          <a:custGeom>
            <a:avLst/>
            <a:gdLst/>
            <a:ahLst/>
            <a:cxnLst/>
            <a:rect r="r" b="b" t="t" l="l"/>
            <a:pathLst>
              <a:path h="2401341" w="2353315">
                <a:moveTo>
                  <a:pt x="0" y="0"/>
                </a:moveTo>
                <a:lnTo>
                  <a:pt x="2353315" y="0"/>
                </a:lnTo>
                <a:lnTo>
                  <a:pt x="2353315" y="2401341"/>
                </a:lnTo>
                <a:lnTo>
                  <a:pt x="0" y="24013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4382420" y="-104931"/>
            <a:ext cx="5215813" cy="4618365"/>
          </a:xfrm>
          <a:custGeom>
            <a:avLst/>
            <a:gdLst/>
            <a:ahLst/>
            <a:cxnLst/>
            <a:rect r="r" b="b" t="t" l="l"/>
            <a:pathLst>
              <a:path h="4618365" w="5215813">
                <a:moveTo>
                  <a:pt x="0" y="0"/>
                </a:moveTo>
                <a:lnTo>
                  <a:pt x="5215813" y="0"/>
                </a:lnTo>
                <a:lnTo>
                  <a:pt x="5215813" y="4618365"/>
                </a:lnTo>
                <a:lnTo>
                  <a:pt x="0" y="461836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2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841949" y="5793172"/>
            <a:ext cx="2966205" cy="3041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8"/>
              </a:lnSpc>
            </a:pPr>
            <a:r>
              <a:rPr lang="en-US" sz="21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 achieve real-time, non-invasive detection of gravity fed drops using interrupt driven signal processing using an infrared sensor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110318" y="4904616"/>
            <a:ext cx="2698334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9"/>
              </a:lnSpc>
            </a:pPr>
            <a:r>
              <a:rPr lang="en-US" b="true" sz="2400">
                <a:solidFill>
                  <a:srgbClr val="D4ECD4"/>
                </a:solidFill>
                <a:latin typeface="Poppins Bold"/>
                <a:ea typeface="Poppins Bold"/>
                <a:cs typeface="Poppins Bold"/>
                <a:sym typeface="Poppins Bold"/>
              </a:rPr>
              <a:t>PD Control System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841949" y="4847466"/>
            <a:ext cx="2698334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b="true" sz="2599">
                <a:solidFill>
                  <a:srgbClr val="D4ECD4"/>
                </a:solidFill>
                <a:latin typeface="Poppins Bold"/>
                <a:ea typeface="Poppins Bold"/>
                <a:cs typeface="Poppins Bold"/>
                <a:sym typeface="Poppins Bold"/>
              </a:rPr>
              <a:t>IR Optical Sensing Modul</a:t>
            </a:r>
            <a:r>
              <a:rPr lang="en-US" b="true" sz="25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98772" y="4478826"/>
            <a:ext cx="368001" cy="380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3"/>
              </a:lnSpc>
            </a:pPr>
            <a:r>
              <a:rPr lang="en-US" sz="2352" b="true">
                <a:solidFill>
                  <a:srgbClr val="1C1C1C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854330" y="4471783"/>
            <a:ext cx="382724" cy="394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6"/>
              </a:lnSpc>
            </a:pPr>
            <a:r>
              <a:rPr lang="en-US" sz="2446" b="true">
                <a:solidFill>
                  <a:srgbClr val="1C1C1C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953035" y="4494384"/>
            <a:ext cx="335476" cy="340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3"/>
              </a:lnSpc>
            </a:pPr>
            <a:r>
              <a:rPr lang="en-US" sz="2144" b="true">
                <a:solidFill>
                  <a:srgbClr val="1C1C1C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582773" y="2128051"/>
            <a:ext cx="11376145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  <a:spcBef>
                <a:spcPct val="0"/>
              </a:spcBef>
            </a:pPr>
            <a:r>
              <a:rPr lang="en-US" sz="31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To design and prototype AuraflowIV, an automated, low-cost infusion monitoring and control system that maintains a prescribed drip rate and alerts clinical staff to occlusion or flow-rate instability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045692" y="5838066"/>
            <a:ext cx="2877892" cy="2952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8"/>
              </a:lnSpc>
            </a:pPr>
            <a:r>
              <a:rPr lang="en-US" sz="208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Create a closed loop mechanism that automatically modulates an SG90 servo to maintain the target infusion rate despite hydrostatic pressure change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288511" y="4904616"/>
            <a:ext cx="2698334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9"/>
              </a:lnSpc>
            </a:pPr>
            <a:r>
              <a:rPr lang="en-US" b="true" sz="2400">
                <a:solidFill>
                  <a:srgbClr val="D4ECD4"/>
                </a:solidFill>
                <a:latin typeface="Poppins Bold"/>
                <a:ea typeface="Poppins Bold"/>
                <a:cs typeface="Poppins Bold"/>
                <a:sym typeface="Poppins Bold"/>
              </a:rPr>
              <a:t>Alert System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027737" y="5793172"/>
            <a:ext cx="2959108" cy="3034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1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Program the system with a 12 second timeout window, ensuring prompt detection and audible notification of occlusion or drip-flow cessation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C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97802" y="2267907"/>
            <a:ext cx="10972800" cy="640080"/>
            <a:chOff x="0" y="0"/>
            <a:chExt cx="14630400" cy="8534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853440"/>
            </a:xfrm>
            <a:custGeom>
              <a:avLst/>
              <a:gdLst/>
              <a:ahLst/>
              <a:cxnLst/>
              <a:rect r="r" b="b" t="t" l="l"/>
              <a:pathLst>
                <a:path h="8534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463040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999" b="true">
                  <a:solidFill>
                    <a:srgbClr val="01737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Hardware Components 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915722" y="4133715"/>
            <a:ext cx="4937760" cy="542682"/>
            <a:chOff x="0" y="0"/>
            <a:chExt cx="6583680" cy="72357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583680" cy="723577"/>
            </a:xfrm>
            <a:custGeom>
              <a:avLst/>
              <a:gdLst/>
              <a:ahLst/>
              <a:cxnLst/>
              <a:rect r="r" b="b" t="t" l="l"/>
              <a:pathLst>
                <a:path h="723577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23577"/>
                  </a:lnTo>
                  <a:lnTo>
                    <a:pt x="0" y="7235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221" r="0" b="-11435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6583680" cy="7807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651506" indent="-325753" lvl="1">
                <a:lnSpc>
                  <a:spcPts val="3239"/>
                </a:lnSpc>
                <a:buFont typeface="Arial"/>
                <a:buChar char="•"/>
              </a:pPr>
              <a:r>
                <a:rPr lang="en-US" sz="2699">
                  <a:solidFill>
                    <a:srgbClr val="0D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Arduino Uno R3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48640" y="8149103"/>
            <a:ext cx="4937760" cy="518703"/>
            <a:chOff x="0" y="0"/>
            <a:chExt cx="6583680" cy="6916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83680" cy="691603"/>
            </a:xfrm>
            <a:custGeom>
              <a:avLst/>
              <a:gdLst/>
              <a:ahLst/>
              <a:cxnLst/>
              <a:rect r="r" b="b" t="t" l="l"/>
              <a:pathLst>
                <a:path h="691603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91603"/>
                  </a:lnTo>
                  <a:lnTo>
                    <a:pt x="0" y="691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6703" r="0" b="-12426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6583680" cy="748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627377" indent="-313688" lvl="1">
                <a:lnSpc>
                  <a:spcPts val="3119"/>
                </a:lnSpc>
                <a:buFont typeface="Arial"/>
                <a:buChar char="•"/>
              </a:pPr>
              <a:r>
                <a:rPr lang="en-US" sz="2599">
                  <a:solidFill>
                    <a:srgbClr val="0D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Breadboard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348277" y="4052254"/>
            <a:ext cx="4937760" cy="952257"/>
            <a:chOff x="0" y="0"/>
            <a:chExt cx="6583680" cy="126967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583680" cy="1269677"/>
            </a:xfrm>
            <a:custGeom>
              <a:avLst/>
              <a:gdLst/>
              <a:ahLst/>
              <a:cxnLst/>
              <a:rect r="r" b="b" t="t" l="l"/>
              <a:pathLst>
                <a:path h="1269677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269677"/>
                  </a:lnTo>
                  <a:lnTo>
                    <a:pt x="0" y="12696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10" r="0" b="-2216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6583680" cy="13268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651506" indent="-325753" lvl="1">
                <a:lnSpc>
                  <a:spcPts val="3239"/>
                </a:lnSpc>
                <a:buFont typeface="Arial"/>
                <a:buChar char="•"/>
              </a:pPr>
              <a:r>
                <a:rPr lang="en-US" sz="2699">
                  <a:solidFill>
                    <a:srgbClr val="0D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16×2 LCD Display with I2C backpack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348277" y="5107417"/>
            <a:ext cx="4937760" cy="542682"/>
            <a:chOff x="0" y="0"/>
            <a:chExt cx="6583680" cy="72357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583680" cy="723577"/>
            </a:xfrm>
            <a:custGeom>
              <a:avLst/>
              <a:gdLst/>
              <a:ahLst/>
              <a:cxnLst/>
              <a:rect r="r" b="b" t="t" l="l"/>
              <a:pathLst>
                <a:path h="723577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23577"/>
                  </a:lnTo>
                  <a:lnTo>
                    <a:pt x="0" y="7235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221" r="0" b="-11435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6583680" cy="7807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651506" indent="-325753" lvl="1">
                <a:lnSpc>
                  <a:spcPts val="3239"/>
                </a:lnSpc>
                <a:buFont typeface="Arial"/>
                <a:buChar char="•"/>
              </a:pPr>
              <a:r>
                <a:rPr lang="en-US" sz="2699">
                  <a:solidFill>
                    <a:srgbClr val="0D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Buzzer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48640" y="4052254"/>
            <a:ext cx="4937760" cy="542682"/>
            <a:chOff x="0" y="0"/>
            <a:chExt cx="6583680" cy="72357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583680" cy="723577"/>
            </a:xfrm>
            <a:custGeom>
              <a:avLst/>
              <a:gdLst/>
              <a:ahLst/>
              <a:cxnLst/>
              <a:rect r="r" b="b" t="t" l="l"/>
              <a:pathLst>
                <a:path h="723577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23577"/>
                  </a:lnTo>
                  <a:lnTo>
                    <a:pt x="0" y="7235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221" r="0" b="-11435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6583680" cy="7807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651506" indent="-325753" lvl="1">
                <a:lnSpc>
                  <a:spcPts val="3239"/>
                </a:lnSpc>
                <a:buFont typeface="Arial"/>
                <a:buChar char="•"/>
              </a:pPr>
              <a:r>
                <a:rPr lang="en-US" sz="2699">
                  <a:solidFill>
                    <a:srgbClr val="0D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IR Sensor Module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48640" y="4733170"/>
            <a:ext cx="4937760" cy="542682"/>
            <a:chOff x="0" y="0"/>
            <a:chExt cx="6583680" cy="72357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583680" cy="723577"/>
            </a:xfrm>
            <a:custGeom>
              <a:avLst/>
              <a:gdLst/>
              <a:ahLst/>
              <a:cxnLst/>
              <a:rect r="r" b="b" t="t" l="l"/>
              <a:pathLst>
                <a:path h="723577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23577"/>
                  </a:lnTo>
                  <a:lnTo>
                    <a:pt x="0" y="7235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221" r="0" b="-114359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6583680" cy="7807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651506" indent="-325753" lvl="1">
                <a:lnSpc>
                  <a:spcPts val="3239"/>
                </a:lnSpc>
                <a:buFont typeface="Arial"/>
                <a:buChar char="•"/>
              </a:pPr>
              <a:r>
                <a:rPr lang="en-US" sz="2699">
                  <a:solidFill>
                    <a:srgbClr val="0D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10k</a:t>
              </a:r>
              <a:r>
                <a:rPr lang="en-US" sz="2699">
                  <a:solidFill>
                    <a:srgbClr val="0D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Ω Potentiometer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972800" y="8422346"/>
            <a:ext cx="4937760" cy="518703"/>
            <a:chOff x="0" y="0"/>
            <a:chExt cx="6583680" cy="69160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583680" cy="691603"/>
            </a:xfrm>
            <a:custGeom>
              <a:avLst/>
              <a:gdLst/>
              <a:ahLst/>
              <a:cxnLst/>
              <a:rect r="r" b="b" t="t" l="l"/>
              <a:pathLst>
                <a:path h="691603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91603"/>
                  </a:lnTo>
                  <a:lnTo>
                    <a:pt x="0" y="691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6703" r="0" b="-12426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6583680" cy="748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627377" indent="-313688" lvl="1">
                <a:lnSpc>
                  <a:spcPts val="3119"/>
                </a:lnSpc>
                <a:buFont typeface="Arial"/>
                <a:buChar char="•"/>
              </a:pPr>
              <a:r>
                <a:rPr lang="en-US" sz="2599">
                  <a:solidFill>
                    <a:srgbClr val="0D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Fusion 360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48640" y="7644967"/>
            <a:ext cx="4937760" cy="518703"/>
            <a:chOff x="0" y="0"/>
            <a:chExt cx="6583680" cy="69160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583680" cy="691603"/>
            </a:xfrm>
            <a:custGeom>
              <a:avLst/>
              <a:gdLst/>
              <a:ahLst/>
              <a:cxnLst/>
              <a:rect r="r" b="b" t="t" l="l"/>
              <a:pathLst>
                <a:path h="691603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91603"/>
                  </a:lnTo>
                  <a:lnTo>
                    <a:pt x="0" y="691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6703" r="0" b="-12426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6583680" cy="748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627377" indent="-313688" lvl="1">
                <a:lnSpc>
                  <a:spcPts val="3119"/>
                </a:lnSpc>
                <a:buFont typeface="Arial"/>
                <a:buChar char="•"/>
              </a:pPr>
              <a:r>
                <a:rPr lang="en-US" sz="2599">
                  <a:solidFill>
                    <a:srgbClr val="0D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Jumper Wires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232356" y="6926991"/>
            <a:ext cx="5852160" cy="717976"/>
            <a:chOff x="0" y="0"/>
            <a:chExt cx="7802880" cy="95730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802880" cy="957301"/>
            </a:xfrm>
            <a:custGeom>
              <a:avLst/>
              <a:gdLst/>
              <a:ahLst/>
              <a:cxnLst/>
              <a:rect r="r" b="b" t="t" l="l"/>
              <a:pathLst>
                <a:path h="957301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957301"/>
                  </a:lnTo>
                  <a:lnTo>
                    <a:pt x="0" y="9573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245" r="0" b="-10339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7802880" cy="1014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sz="2899" b="true">
                  <a:solidFill>
                    <a:srgbClr val="01737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Simulation and CAD Tools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972800" y="7644967"/>
            <a:ext cx="5669280" cy="574381"/>
            <a:chOff x="0" y="0"/>
            <a:chExt cx="7559040" cy="76584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559040" cy="765841"/>
            </a:xfrm>
            <a:custGeom>
              <a:avLst/>
              <a:gdLst/>
              <a:ahLst/>
              <a:cxnLst/>
              <a:rect r="r" b="b" t="t" l="l"/>
              <a:pathLst>
                <a:path h="765841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765841"/>
                  </a:lnTo>
                  <a:lnTo>
                    <a:pt x="0" y="7658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746" r="0" b="-136897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7559040" cy="82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627377" indent="-313688" lvl="1">
                <a:lnSpc>
                  <a:spcPts val="3119"/>
                </a:lnSpc>
                <a:buFont typeface="Arial"/>
                <a:buChar char="•"/>
              </a:pPr>
              <a:r>
                <a:rPr lang="en-US" sz="2599">
                  <a:solidFill>
                    <a:srgbClr val="0D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Tinkercad Circuits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915722" y="4872159"/>
            <a:ext cx="5669280" cy="542682"/>
            <a:chOff x="0" y="0"/>
            <a:chExt cx="7559040" cy="72357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559040" cy="723577"/>
            </a:xfrm>
            <a:custGeom>
              <a:avLst/>
              <a:gdLst/>
              <a:ahLst/>
              <a:cxnLst/>
              <a:rect r="r" b="b" t="t" l="l"/>
              <a:pathLst>
                <a:path h="723577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723577"/>
                  </a:lnTo>
                  <a:lnTo>
                    <a:pt x="0" y="7235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376" r="0" b="-150734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7559040" cy="7807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651506" indent="-325753" lvl="1">
                <a:lnSpc>
                  <a:spcPts val="3239"/>
                </a:lnSpc>
                <a:buFont typeface="Arial"/>
                <a:buChar char="•"/>
              </a:pPr>
              <a:r>
                <a:rPr lang="en-US" sz="2699">
                  <a:solidFill>
                    <a:srgbClr val="0D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Vscode IDE (</a:t>
              </a:r>
              <a:r>
                <a:rPr lang="en-US" sz="2699">
                  <a:solidFill>
                    <a:srgbClr val="0D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C++)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97802" y="3023554"/>
            <a:ext cx="661796" cy="914400"/>
            <a:chOff x="0" y="0"/>
            <a:chExt cx="882394" cy="12192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82394" cy="1219200"/>
            </a:xfrm>
            <a:custGeom>
              <a:avLst/>
              <a:gdLst/>
              <a:ahLst/>
              <a:cxnLst/>
              <a:rect r="r" b="b" t="t" l="l"/>
              <a:pathLst>
                <a:path h="1219200" w="882394">
                  <a:moveTo>
                    <a:pt x="0" y="0"/>
                  </a:moveTo>
                  <a:lnTo>
                    <a:pt x="882394" y="0"/>
                  </a:lnTo>
                  <a:lnTo>
                    <a:pt x="882394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1283" t="0" r="-153269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85725"/>
              <a:ext cx="882394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39"/>
                </a:lnSpc>
              </a:pPr>
              <a:r>
                <a:rPr lang="en-US" sz="4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-288093" y="3195004"/>
            <a:ext cx="5432555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Input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6915722" y="3023554"/>
            <a:ext cx="661796" cy="914400"/>
            <a:chOff x="0" y="0"/>
            <a:chExt cx="882394" cy="12192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82394" cy="1219200"/>
            </a:xfrm>
            <a:custGeom>
              <a:avLst/>
              <a:gdLst/>
              <a:ahLst/>
              <a:cxnLst/>
              <a:rect r="r" b="b" t="t" l="l"/>
              <a:pathLst>
                <a:path h="1219200" w="882394">
                  <a:moveTo>
                    <a:pt x="0" y="0"/>
                  </a:moveTo>
                  <a:lnTo>
                    <a:pt x="882394" y="0"/>
                  </a:lnTo>
                  <a:lnTo>
                    <a:pt x="882394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1283" t="0" r="-153269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85725"/>
              <a:ext cx="882394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39"/>
                </a:lnSpc>
              </a:pPr>
              <a:r>
                <a:rPr lang="en-US" sz="4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6238047" y="3152142"/>
            <a:ext cx="5432555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Processing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2348277" y="3090256"/>
            <a:ext cx="661796" cy="914400"/>
            <a:chOff x="0" y="0"/>
            <a:chExt cx="882394" cy="12192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82394" cy="1219200"/>
            </a:xfrm>
            <a:custGeom>
              <a:avLst/>
              <a:gdLst/>
              <a:ahLst/>
              <a:cxnLst/>
              <a:rect r="r" b="b" t="t" l="l"/>
              <a:pathLst>
                <a:path h="1219200" w="882394">
                  <a:moveTo>
                    <a:pt x="0" y="0"/>
                  </a:moveTo>
                  <a:lnTo>
                    <a:pt x="882394" y="0"/>
                  </a:lnTo>
                  <a:lnTo>
                    <a:pt x="882394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1283" t="0" r="-153269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85725"/>
              <a:ext cx="882394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39"/>
                </a:lnSpc>
              </a:pPr>
              <a:r>
                <a:rPr lang="en-US" sz="4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11232356" y="3241389"/>
            <a:ext cx="5432555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Output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697802" y="6878824"/>
            <a:ext cx="5852160" cy="717976"/>
            <a:chOff x="0" y="0"/>
            <a:chExt cx="7802880" cy="95730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802880" cy="957301"/>
            </a:xfrm>
            <a:custGeom>
              <a:avLst/>
              <a:gdLst/>
              <a:ahLst/>
              <a:cxnLst/>
              <a:rect r="r" b="b" t="t" l="l"/>
              <a:pathLst>
                <a:path h="957301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957301"/>
                  </a:lnTo>
                  <a:lnTo>
                    <a:pt x="0" y="9573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245" r="0" b="-103396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57150"/>
              <a:ext cx="7802880" cy="1014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sz="2899" b="true">
                  <a:solidFill>
                    <a:srgbClr val="01737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Connection Tools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358964" y="408627"/>
            <a:ext cx="17190720" cy="1554480"/>
            <a:chOff x="0" y="0"/>
            <a:chExt cx="22920960" cy="20726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2920961" cy="2072640"/>
            </a:xfrm>
            <a:custGeom>
              <a:avLst/>
              <a:gdLst/>
              <a:ahLst/>
              <a:cxnLst/>
              <a:rect r="r" b="b" t="t" l="l"/>
              <a:pathLst>
                <a:path h="207264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481" r="0" b="-16548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23825"/>
              <a:ext cx="22920960" cy="2196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839"/>
                </a:lnSpc>
              </a:pPr>
              <a:r>
                <a:rPr lang="en-US" b="true" sz="5699" i="true">
                  <a:solidFill>
                    <a:srgbClr val="0D2B2B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System Components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C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8640" y="2157984"/>
            <a:ext cx="8229600" cy="694944"/>
            <a:chOff x="0" y="0"/>
            <a:chExt cx="10972800" cy="9265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926592"/>
            </a:xfrm>
            <a:custGeom>
              <a:avLst/>
              <a:gdLst/>
              <a:ahLst/>
              <a:cxnLst/>
              <a:rect r="r" b="b" t="t" l="l"/>
              <a:pathLst>
                <a:path h="92659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743" r="0" b="-18074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10972800" cy="1002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39"/>
                </a:lnSpc>
              </a:pPr>
              <a:r>
                <a:rPr lang="en-US" sz="3199" b="true">
                  <a:solidFill>
                    <a:srgbClr val="01737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Connection Key</a:t>
              </a: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413375" y="3081528"/>
          <a:ext cx="6390761" cy="4479925"/>
        </p:xfrm>
        <a:graphic>
          <a:graphicData uri="http://schemas.openxmlformats.org/drawingml/2006/table">
            <a:tbl>
              <a:tblPr/>
              <a:tblGrid>
                <a:gridCol w="3297534"/>
                <a:gridCol w="3093226"/>
              </a:tblGrid>
              <a:tr h="63998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Component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737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Arduino Pin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7374"/>
                    </a:solidFill>
                  </a:tcPr>
                </a:tc>
              </a:tr>
              <a:tr h="63998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2B2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IR Sensor (Out)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2B2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Digital Pin 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EE"/>
                    </a:solidFill>
                  </a:tcPr>
                </a:tc>
              </a:tr>
              <a:tr h="63998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2B2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Buzzer +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2B2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Digital Pin 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998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2B2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SG90 microservo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2B2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Digital Pin 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EE"/>
                    </a:solidFill>
                  </a:tcPr>
                </a:tc>
              </a:tr>
              <a:tr h="63998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2B2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LCD – SDA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2B2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Analog Pin A4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998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2B2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LCD – SCLK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2B2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Analog Pin A5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EE"/>
                    </a:solidFill>
                  </a:tcPr>
                </a:tc>
              </a:tr>
              <a:tr h="63998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2B2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Potentiometer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2B2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Analog Pin A0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A8DA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6" id="6"/>
          <p:cNvGrpSpPr/>
          <p:nvPr/>
        </p:nvGrpSpPr>
        <p:grpSpPr>
          <a:xfrm rot="0">
            <a:off x="16824960" y="9656064"/>
            <a:ext cx="1097280" cy="548640"/>
            <a:chOff x="0" y="0"/>
            <a:chExt cx="1463040" cy="7315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46304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 / 12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241928" y="1932946"/>
            <a:ext cx="11632597" cy="7640803"/>
            <a:chOff x="0" y="0"/>
            <a:chExt cx="15510129" cy="1018773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510129" cy="10187686"/>
            </a:xfrm>
            <a:custGeom>
              <a:avLst/>
              <a:gdLst/>
              <a:ahLst/>
              <a:cxnLst/>
              <a:rect r="r" b="b" t="t" l="l"/>
              <a:pathLst>
                <a:path h="10187686" w="15510129">
                  <a:moveTo>
                    <a:pt x="0" y="0"/>
                  </a:moveTo>
                  <a:lnTo>
                    <a:pt x="15510129" y="0"/>
                  </a:lnTo>
                  <a:lnTo>
                    <a:pt x="15510129" y="10187686"/>
                  </a:lnTo>
                  <a:lnTo>
                    <a:pt x="0" y="101876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418" t="0" r="-9418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48640" y="251460"/>
            <a:ext cx="17190720" cy="1554480"/>
            <a:chOff x="0" y="0"/>
            <a:chExt cx="22920960" cy="2072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920961" cy="2072640"/>
            </a:xfrm>
            <a:custGeom>
              <a:avLst/>
              <a:gdLst/>
              <a:ahLst/>
              <a:cxnLst/>
              <a:rect r="r" b="b" t="t" l="l"/>
              <a:pathLst>
                <a:path h="207264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481" r="0" b="-16548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23825"/>
              <a:ext cx="22920960" cy="2196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839"/>
                </a:lnSpc>
              </a:pPr>
              <a:r>
                <a:rPr lang="en-US" b="true" sz="5699" i="true">
                  <a:solidFill>
                    <a:srgbClr val="0D2B2B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Circuit Connection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C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5287"/>
            <a:ext cx="18101158" cy="7157723"/>
            <a:chOff x="0" y="0"/>
            <a:chExt cx="24134877" cy="95436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2065" y="16891"/>
              <a:ext cx="24070578" cy="9509760"/>
            </a:xfrm>
            <a:custGeom>
              <a:avLst/>
              <a:gdLst/>
              <a:ahLst/>
              <a:cxnLst/>
              <a:rect r="r" b="b" t="t" l="l"/>
              <a:pathLst>
                <a:path h="9509760" w="24070578">
                  <a:moveTo>
                    <a:pt x="0" y="0"/>
                  </a:moveTo>
                  <a:lnTo>
                    <a:pt x="24070579" y="0"/>
                  </a:lnTo>
                  <a:lnTo>
                    <a:pt x="24070579" y="9509760"/>
                  </a:lnTo>
                  <a:lnTo>
                    <a:pt x="0" y="9509760"/>
                  </a:lnTo>
                  <a:close/>
                </a:path>
              </a:pathLst>
            </a:custGeom>
            <a:blipFill>
              <a:blip r:embed="rId3"/>
              <a:stretch>
                <a:fillRect l="-1983" t="-177" r="-1858" b="-178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134710" cy="9543542"/>
            </a:xfrm>
            <a:custGeom>
              <a:avLst/>
              <a:gdLst/>
              <a:ahLst/>
              <a:cxnLst/>
              <a:rect r="r" b="b" t="t" l="l"/>
              <a:pathLst>
                <a:path h="9543542" w="24134710">
                  <a:moveTo>
                    <a:pt x="32065" y="0"/>
                  </a:moveTo>
                  <a:lnTo>
                    <a:pt x="24102644" y="0"/>
                  </a:lnTo>
                  <a:cubicBezTo>
                    <a:pt x="24120484" y="0"/>
                    <a:pt x="24134710" y="7620"/>
                    <a:pt x="24134710" y="16891"/>
                  </a:cubicBezTo>
                  <a:lnTo>
                    <a:pt x="24134710" y="9526651"/>
                  </a:lnTo>
                  <a:cubicBezTo>
                    <a:pt x="24134710" y="9536049"/>
                    <a:pt x="24120242" y="9543542"/>
                    <a:pt x="24102644" y="9543542"/>
                  </a:cubicBezTo>
                  <a:lnTo>
                    <a:pt x="32065" y="9543542"/>
                  </a:lnTo>
                  <a:cubicBezTo>
                    <a:pt x="14224" y="9543542"/>
                    <a:pt x="0" y="9535922"/>
                    <a:pt x="0" y="9526651"/>
                  </a:cubicBezTo>
                  <a:lnTo>
                    <a:pt x="0" y="16891"/>
                  </a:lnTo>
                  <a:cubicBezTo>
                    <a:pt x="0" y="7620"/>
                    <a:pt x="14465" y="0"/>
                    <a:pt x="32065" y="0"/>
                  </a:cubicBezTo>
                  <a:moveTo>
                    <a:pt x="32065" y="33909"/>
                  </a:moveTo>
                  <a:lnTo>
                    <a:pt x="32065" y="16891"/>
                  </a:lnTo>
                  <a:lnTo>
                    <a:pt x="64371" y="16891"/>
                  </a:lnTo>
                  <a:lnTo>
                    <a:pt x="64371" y="9526651"/>
                  </a:lnTo>
                  <a:lnTo>
                    <a:pt x="32065" y="9526651"/>
                  </a:lnTo>
                  <a:lnTo>
                    <a:pt x="32065" y="9509760"/>
                  </a:lnTo>
                  <a:lnTo>
                    <a:pt x="24102644" y="9509760"/>
                  </a:lnTo>
                  <a:lnTo>
                    <a:pt x="24102644" y="9526651"/>
                  </a:lnTo>
                  <a:lnTo>
                    <a:pt x="24070579" y="9526651"/>
                  </a:lnTo>
                  <a:lnTo>
                    <a:pt x="24070579" y="16891"/>
                  </a:lnTo>
                  <a:lnTo>
                    <a:pt x="24102644" y="16891"/>
                  </a:lnTo>
                  <a:lnTo>
                    <a:pt x="24102644" y="33909"/>
                  </a:lnTo>
                  <a:lnTo>
                    <a:pt x="32065" y="33909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502903" y="2145287"/>
            <a:ext cx="7598254" cy="1699260"/>
            <a:chOff x="0" y="0"/>
            <a:chExt cx="10131006" cy="22656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7704" y="18167"/>
              <a:ext cx="10095505" cy="2229250"/>
            </a:xfrm>
            <a:custGeom>
              <a:avLst/>
              <a:gdLst/>
              <a:ahLst/>
              <a:cxnLst/>
              <a:rect r="r" b="b" t="t" l="l"/>
              <a:pathLst>
                <a:path h="2229250" w="10095505">
                  <a:moveTo>
                    <a:pt x="0" y="0"/>
                  </a:moveTo>
                  <a:lnTo>
                    <a:pt x="10095505" y="0"/>
                  </a:lnTo>
                  <a:lnTo>
                    <a:pt x="10095505" y="2229250"/>
                  </a:lnTo>
                  <a:lnTo>
                    <a:pt x="0" y="222925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130913" cy="2265584"/>
            </a:xfrm>
            <a:custGeom>
              <a:avLst/>
              <a:gdLst/>
              <a:ahLst/>
              <a:cxnLst/>
              <a:rect r="r" b="b" t="t" l="l"/>
              <a:pathLst>
                <a:path h="2265584" w="10130913">
                  <a:moveTo>
                    <a:pt x="17704" y="0"/>
                  </a:moveTo>
                  <a:lnTo>
                    <a:pt x="10113209" y="0"/>
                  </a:lnTo>
                  <a:cubicBezTo>
                    <a:pt x="10123060" y="0"/>
                    <a:pt x="10130913" y="8196"/>
                    <a:pt x="10130913" y="18167"/>
                  </a:cubicBezTo>
                  <a:lnTo>
                    <a:pt x="10130913" y="2247417"/>
                  </a:lnTo>
                  <a:cubicBezTo>
                    <a:pt x="10130913" y="2257525"/>
                    <a:pt x="10122926" y="2265584"/>
                    <a:pt x="10113209" y="2265584"/>
                  </a:cubicBezTo>
                  <a:lnTo>
                    <a:pt x="17704" y="2265584"/>
                  </a:lnTo>
                  <a:cubicBezTo>
                    <a:pt x="7854" y="2265584"/>
                    <a:pt x="0" y="2257389"/>
                    <a:pt x="0" y="2247417"/>
                  </a:cubicBezTo>
                  <a:lnTo>
                    <a:pt x="0" y="18167"/>
                  </a:lnTo>
                  <a:cubicBezTo>
                    <a:pt x="0" y="8196"/>
                    <a:pt x="7987" y="0"/>
                    <a:pt x="17704" y="0"/>
                  </a:cubicBezTo>
                  <a:moveTo>
                    <a:pt x="17704" y="36471"/>
                  </a:moveTo>
                  <a:lnTo>
                    <a:pt x="17704" y="18167"/>
                  </a:lnTo>
                  <a:lnTo>
                    <a:pt x="35542" y="18167"/>
                  </a:lnTo>
                  <a:lnTo>
                    <a:pt x="35542" y="2247417"/>
                  </a:lnTo>
                  <a:lnTo>
                    <a:pt x="17704" y="2247417"/>
                  </a:lnTo>
                  <a:lnTo>
                    <a:pt x="17704" y="2229250"/>
                  </a:lnTo>
                  <a:lnTo>
                    <a:pt x="10113209" y="2229250"/>
                  </a:lnTo>
                  <a:lnTo>
                    <a:pt x="10113209" y="2247417"/>
                  </a:lnTo>
                  <a:lnTo>
                    <a:pt x="10095504" y="2247417"/>
                  </a:lnTo>
                  <a:lnTo>
                    <a:pt x="10095504" y="18167"/>
                  </a:lnTo>
                  <a:lnTo>
                    <a:pt x="10113209" y="18167"/>
                  </a:lnTo>
                  <a:lnTo>
                    <a:pt x="10113209" y="36471"/>
                  </a:lnTo>
                  <a:lnTo>
                    <a:pt x="17704" y="36471"/>
                  </a:lnTo>
                  <a:close/>
                </a:path>
              </a:pathLst>
            </a:custGeom>
            <a:solidFill>
              <a:srgbClr val="A8DADC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489929" y="2145287"/>
            <a:ext cx="184681" cy="1699260"/>
            <a:chOff x="0" y="0"/>
            <a:chExt cx="228943" cy="21065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195072" cy="2072640"/>
            </a:xfrm>
            <a:custGeom>
              <a:avLst/>
              <a:gdLst/>
              <a:ahLst/>
              <a:cxnLst/>
              <a:rect r="r" b="b" t="t" l="l"/>
              <a:pathLst>
                <a:path h="207264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017374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8854" cy="2106422"/>
            </a:xfrm>
            <a:custGeom>
              <a:avLst/>
              <a:gdLst/>
              <a:ahLst/>
              <a:cxnLst/>
              <a:rect r="r" b="b" t="t" l="l"/>
              <a:pathLst>
                <a:path h="210642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2089531"/>
                  </a:lnTo>
                  <a:cubicBezTo>
                    <a:pt x="228854" y="2098929"/>
                    <a:pt x="221234" y="2106422"/>
                    <a:pt x="211963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211963" y="2072640"/>
                  </a:lnTo>
                  <a:lnTo>
                    <a:pt x="211963" y="2089531"/>
                  </a:lnTo>
                  <a:lnTo>
                    <a:pt x="195072" y="208953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17374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789920" y="2267712"/>
            <a:ext cx="6675120" cy="548640"/>
            <a:chOff x="0" y="0"/>
            <a:chExt cx="890016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900160" cy="731520"/>
            </a:xfrm>
            <a:custGeom>
              <a:avLst/>
              <a:gdLst/>
              <a:ahLst/>
              <a:cxnLst/>
              <a:rect r="r" b="b" t="t" l="l"/>
              <a:pathLst>
                <a:path h="731520" w="8900160">
                  <a:moveTo>
                    <a:pt x="0" y="0"/>
                  </a:moveTo>
                  <a:lnTo>
                    <a:pt x="8900160" y="0"/>
                  </a:lnTo>
                  <a:lnTo>
                    <a:pt x="8900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7067" r="0" b="-18706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89001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1737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Library Import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789920" y="2852928"/>
            <a:ext cx="6675120" cy="950919"/>
            <a:chOff x="0" y="0"/>
            <a:chExt cx="8900160" cy="126789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900160" cy="1267892"/>
            </a:xfrm>
            <a:custGeom>
              <a:avLst/>
              <a:gdLst/>
              <a:ahLst/>
              <a:cxnLst/>
              <a:rect r="r" b="b" t="t" l="l"/>
              <a:pathLst>
                <a:path h="1267892" w="8900160">
                  <a:moveTo>
                    <a:pt x="0" y="0"/>
                  </a:moveTo>
                  <a:lnTo>
                    <a:pt x="8900160" y="0"/>
                  </a:lnTo>
                  <a:lnTo>
                    <a:pt x="8900160" y="1267892"/>
                  </a:lnTo>
                  <a:lnTo>
                    <a:pt x="0" y="12678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6391" r="0" b="-7716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8900160" cy="1305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0D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LiquidCrystal_I2C.h gives us full control over the 16×2 LCD display with I2C backpack.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D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Servo.h gives us control of the servo motor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489929" y="4040124"/>
            <a:ext cx="7598254" cy="1579883"/>
            <a:chOff x="0" y="0"/>
            <a:chExt cx="10131006" cy="210651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7704" y="16891"/>
              <a:ext cx="10095505" cy="2072640"/>
            </a:xfrm>
            <a:custGeom>
              <a:avLst/>
              <a:gdLst/>
              <a:ahLst/>
              <a:cxnLst/>
              <a:rect r="r" b="b" t="t" l="l"/>
              <a:pathLst>
                <a:path h="2072640" w="10095505">
                  <a:moveTo>
                    <a:pt x="0" y="0"/>
                  </a:moveTo>
                  <a:lnTo>
                    <a:pt x="10095505" y="0"/>
                  </a:lnTo>
                  <a:lnTo>
                    <a:pt x="10095505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130913" cy="2106422"/>
            </a:xfrm>
            <a:custGeom>
              <a:avLst/>
              <a:gdLst/>
              <a:ahLst/>
              <a:cxnLst/>
              <a:rect r="r" b="b" t="t" l="l"/>
              <a:pathLst>
                <a:path h="2106422" w="10130913">
                  <a:moveTo>
                    <a:pt x="17704" y="0"/>
                  </a:moveTo>
                  <a:lnTo>
                    <a:pt x="10113209" y="0"/>
                  </a:lnTo>
                  <a:cubicBezTo>
                    <a:pt x="10123060" y="0"/>
                    <a:pt x="10130913" y="7620"/>
                    <a:pt x="10130913" y="16891"/>
                  </a:cubicBezTo>
                  <a:lnTo>
                    <a:pt x="10130913" y="2089531"/>
                  </a:lnTo>
                  <a:cubicBezTo>
                    <a:pt x="10130913" y="2098929"/>
                    <a:pt x="10122926" y="2106422"/>
                    <a:pt x="10113209" y="2106422"/>
                  </a:cubicBezTo>
                  <a:lnTo>
                    <a:pt x="17704" y="2106422"/>
                  </a:lnTo>
                  <a:cubicBezTo>
                    <a:pt x="7854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987" y="0"/>
                    <a:pt x="17704" y="0"/>
                  </a:cubicBezTo>
                  <a:moveTo>
                    <a:pt x="17704" y="33909"/>
                  </a:moveTo>
                  <a:lnTo>
                    <a:pt x="17704" y="16891"/>
                  </a:lnTo>
                  <a:lnTo>
                    <a:pt x="35542" y="16891"/>
                  </a:lnTo>
                  <a:lnTo>
                    <a:pt x="35542" y="2089531"/>
                  </a:lnTo>
                  <a:lnTo>
                    <a:pt x="17704" y="2089531"/>
                  </a:lnTo>
                  <a:lnTo>
                    <a:pt x="17704" y="2072640"/>
                  </a:lnTo>
                  <a:lnTo>
                    <a:pt x="10113209" y="2072640"/>
                  </a:lnTo>
                  <a:lnTo>
                    <a:pt x="10113209" y="2089531"/>
                  </a:lnTo>
                  <a:lnTo>
                    <a:pt x="10095504" y="2089531"/>
                  </a:lnTo>
                  <a:lnTo>
                    <a:pt x="10095504" y="16891"/>
                  </a:lnTo>
                  <a:lnTo>
                    <a:pt x="10113209" y="16891"/>
                  </a:lnTo>
                  <a:lnTo>
                    <a:pt x="10113209" y="33909"/>
                  </a:lnTo>
                  <a:lnTo>
                    <a:pt x="17704" y="33909"/>
                  </a:lnTo>
                  <a:close/>
                </a:path>
              </a:pathLst>
            </a:custGeom>
            <a:solidFill>
              <a:srgbClr val="A8DADC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502903" y="4040124"/>
            <a:ext cx="171707" cy="1579883"/>
            <a:chOff x="0" y="0"/>
            <a:chExt cx="228943" cy="210651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195072" cy="2072640"/>
            </a:xfrm>
            <a:custGeom>
              <a:avLst/>
              <a:gdLst/>
              <a:ahLst/>
              <a:cxnLst/>
              <a:rect r="r" b="b" t="t" l="l"/>
              <a:pathLst>
                <a:path h="207264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017374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8854" cy="2106422"/>
            </a:xfrm>
            <a:custGeom>
              <a:avLst/>
              <a:gdLst/>
              <a:ahLst/>
              <a:cxnLst/>
              <a:rect r="r" b="b" t="t" l="l"/>
              <a:pathLst>
                <a:path h="210642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2089531"/>
                  </a:lnTo>
                  <a:cubicBezTo>
                    <a:pt x="228854" y="2098929"/>
                    <a:pt x="221234" y="2106422"/>
                    <a:pt x="211963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211963" y="2072640"/>
                  </a:lnTo>
                  <a:lnTo>
                    <a:pt x="211963" y="2089531"/>
                  </a:lnTo>
                  <a:lnTo>
                    <a:pt x="195072" y="208953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17374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789920" y="4085849"/>
            <a:ext cx="6675120" cy="548640"/>
            <a:chOff x="0" y="0"/>
            <a:chExt cx="890016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900160" cy="731520"/>
            </a:xfrm>
            <a:custGeom>
              <a:avLst/>
              <a:gdLst/>
              <a:ahLst/>
              <a:cxnLst/>
              <a:rect r="r" b="b" t="t" l="l"/>
              <a:pathLst>
                <a:path h="731520" w="8900160">
                  <a:moveTo>
                    <a:pt x="0" y="0"/>
                  </a:moveTo>
                  <a:lnTo>
                    <a:pt x="8900160" y="0"/>
                  </a:lnTo>
                  <a:lnTo>
                    <a:pt x="8900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7067" r="0" b="-18706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89001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1737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Pin Declarations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789920" y="4672589"/>
            <a:ext cx="6675120" cy="768096"/>
            <a:chOff x="0" y="0"/>
            <a:chExt cx="8900160" cy="102412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9001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8900160">
                  <a:moveTo>
                    <a:pt x="0" y="0"/>
                  </a:moveTo>
                  <a:lnTo>
                    <a:pt x="8900160" y="0"/>
                  </a:lnTo>
                  <a:lnTo>
                    <a:pt x="89001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9334" r="0" b="-11933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890016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D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Potentiometer </a:t>
              </a:r>
              <a:r>
                <a:rPr lang="en-US" sz="1900">
                  <a:solidFill>
                    <a:srgbClr val="0D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 pin A0, IR sensor on pin 2, Buzzer on pin 8, microservo on pin 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502903" y="5862576"/>
            <a:ext cx="7598254" cy="1579883"/>
            <a:chOff x="0" y="0"/>
            <a:chExt cx="10131006" cy="210651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7704" y="16891"/>
              <a:ext cx="10095505" cy="2072640"/>
            </a:xfrm>
            <a:custGeom>
              <a:avLst/>
              <a:gdLst/>
              <a:ahLst/>
              <a:cxnLst/>
              <a:rect r="r" b="b" t="t" l="l"/>
              <a:pathLst>
                <a:path h="2072640" w="10095505">
                  <a:moveTo>
                    <a:pt x="0" y="0"/>
                  </a:moveTo>
                  <a:lnTo>
                    <a:pt x="10095505" y="0"/>
                  </a:lnTo>
                  <a:lnTo>
                    <a:pt x="10095505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130913" cy="2106422"/>
            </a:xfrm>
            <a:custGeom>
              <a:avLst/>
              <a:gdLst/>
              <a:ahLst/>
              <a:cxnLst/>
              <a:rect r="r" b="b" t="t" l="l"/>
              <a:pathLst>
                <a:path h="2106422" w="10130913">
                  <a:moveTo>
                    <a:pt x="17704" y="0"/>
                  </a:moveTo>
                  <a:lnTo>
                    <a:pt x="10113209" y="0"/>
                  </a:lnTo>
                  <a:cubicBezTo>
                    <a:pt x="10123060" y="0"/>
                    <a:pt x="10130913" y="7620"/>
                    <a:pt x="10130913" y="16891"/>
                  </a:cubicBezTo>
                  <a:lnTo>
                    <a:pt x="10130913" y="2089531"/>
                  </a:lnTo>
                  <a:cubicBezTo>
                    <a:pt x="10130913" y="2098929"/>
                    <a:pt x="10122926" y="2106422"/>
                    <a:pt x="10113209" y="2106422"/>
                  </a:cubicBezTo>
                  <a:lnTo>
                    <a:pt x="17704" y="2106422"/>
                  </a:lnTo>
                  <a:cubicBezTo>
                    <a:pt x="7854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987" y="0"/>
                    <a:pt x="17704" y="0"/>
                  </a:cubicBezTo>
                  <a:moveTo>
                    <a:pt x="17704" y="33909"/>
                  </a:moveTo>
                  <a:lnTo>
                    <a:pt x="17704" y="16891"/>
                  </a:lnTo>
                  <a:lnTo>
                    <a:pt x="35542" y="16891"/>
                  </a:lnTo>
                  <a:lnTo>
                    <a:pt x="35542" y="2089531"/>
                  </a:lnTo>
                  <a:lnTo>
                    <a:pt x="17704" y="2089531"/>
                  </a:lnTo>
                  <a:lnTo>
                    <a:pt x="17704" y="2072640"/>
                  </a:lnTo>
                  <a:lnTo>
                    <a:pt x="10113209" y="2072640"/>
                  </a:lnTo>
                  <a:lnTo>
                    <a:pt x="10113209" y="2089531"/>
                  </a:lnTo>
                  <a:lnTo>
                    <a:pt x="10095504" y="2089531"/>
                  </a:lnTo>
                  <a:lnTo>
                    <a:pt x="10095504" y="16891"/>
                  </a:lnTo>
                  <a:lnTo>
                    <a:pt x="10113209" y="16891"/>
                  </a:lnTo>
                  <a:lnTo>
                    <a:pt x="10113209" y="33909"/>
                  </a:lnTo>
                  <a:lnTo>
                    <a:pt x="17704" y="33909"/>
                  </a:lnTo>
                  <a:close/>
                </a:path>
              </a:pathLst>
            </a:custGeom>
            <a:solidFill>
              <a:srgbClr val="A8DADC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0502903" y="5881626"/>
            <a:ext cx="171707" cy="1579883"/>
            <a:chOff x="0" y="0"/>
            <a:chExt cx="228943" cy="210651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195072" cy="2072640"/>
            </a:xfrm>
            <a:custGeom>
              <a:avLst/>
              <a:gdLst/>
              <a:ahLst/>
              <a:cxnLst/>
              <a:rect r="r" b="b" t="t" l="l"/>
              <a:pathLst>
                <a:path h="207264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017374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28854" cy="2106422"/>
            </a:xfrm>
            <a:custGeom>
              <a:avLst/>
              <a:gdLst/>
              <a:ahLst/>
              <a:cxnLst/>
              <a:rect r="r" b="b" t="t" l="l"/>
              <a:pathLst>
                <a:path h="210642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2089531"/>
                  </a:lnTo>
                  <a:cubicBezTo>
                    <a:pt x="228854" y="2098929"/>
                    <a:pt x="221234" y="2106422"/>
                    <a:pt x="211963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211963" y="2072640"/>
                  </a:lnTo>
                  <a:lnTo>
                    <a:pt x="211963" y="2089531"/>
                  </a:lnTo>
                  <a:lnTo>
                    <a:pt x="195072" y="208953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17374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789920" y="6001007"/>
            <a:ext cx="6675120" cy="651510"/>
            <a:chOff x="0" y="0"/>
            <a:chExt cx="8900160" cy="8686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900160" cy="868680"/>
            </a:xfrm>
            <a:custGeom>
              <a:avLst/>
              <a:gdLst/>
              <a:ahLst/>
              <a:cxnLst/>
              <a:rect r="r" b="b" t="t" l="l"/>
              <a:pathLst>
                <a:path h="868680" w="8900160">
                  <a:moveTo>
                    <a:pt x="0" y="0"/>
                  </a:moveTo>
                  <a:lnTo>
                    <a:pt x="8900160" y="0"/>
                  </a:lnTo>
                  <a:lnTo>
                    <a:pt x="8900160" y="868680"/>
                  </a:lnTo>
                  <a:lnTo>
                    <a:pt x="0" y="868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7530" r="0" b="-14174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8900160" cy="916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1737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Initialising </a:t>
              </a:r>
              <a:r>
                <a:rPr lang="en-US" sz="2200" b="true">
                  <a:solidFill>
                    <a:srgbClr val="01737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Variables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789920" y="6458460"/>
            <a:ext cx="6675120" cy="768096"/>
            <a:chOff x="0" y="0"/>
            <a:chExt cx="8900160" cy="102412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9001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8900160">
                  <a:moveTo>
                    <a:pt x="0" y="0"/>
                  </a:moveTo>
                  <a:lnTo>
                    <a:pt x="8900160" y="0"/>
                  </a:lnTo>
                  <a:lnTo>
                    <a:pt x="89001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9334" r="0" b="-119334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890016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D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ldefines and initialises critical functions and variables necessary for feedback control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502903" y="7723127"/>
            <a:ext cx="7598254" cy="1579883"/>
            <a:chOff x="0" y="0"/>
            <a:chExt cx="10131006" cy="210651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7704" y="16891"/>
              <a:ext cx="10095505" cy="2072640"/>
            </a:xfrm>
            <a:custGeom>
              <a:avLst/>
              <a:gdLst/>
              <a:ahLst/>
              <a:cxnLst/>
              <a:rect r="r" b="b" t="t" l="l"/>
              <a:pathLst>
                <a:path h="2072640" w="10095505">
                  <a:moveTo>
                    <a:pt x="0" y="0"/>
                  </a:moveTo>
                  <a:lnTo>
                    <a:pt x="10095505" y="0"/>
                  </a:lnTo>
                  <a:lnTo>
                    <a:pt x="10095505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130913" cy="2106422"/>
            </a:xfrm>
            <a:custGeom>
              <a:avLst/>
              <a:gdLst/>
              <a:ahLst/>
              <a:cxnLst/>
              <a:rect r="r" b="b" t="t" l="l"/>
              <a:pathLst>
                <a:path h="2106422" w="10130913">
                  <a:moveTo>
                    <a:pt x="17704" y="0"/>
                  </a:moveTo>
                  <a:lnTo>
                    <a:pt x="10113209" y="0"/>
                  </a:lnTo>
                  <a:cubicBezTo>
                    <a:pt x="10123060" y="0"/>
                    <a:pt x="10130913" y="7620"/>
                    <a:pt x="10130913" y="16891"/>
                  </a:cubicBezTo>
                  <a:lnTo>
                    <a:pt x="10130913" y="2089531"/>
                  </a:lnTo>
                  <a:cubicBezTo>
                    <a:pt x="10130913" y="2098929"/>
                    <a:pt x="10122926" y="2106422"/>
                    <a:pt x="10113209" y="2106422"/>
                  </a:cubicBezTo>
                  <a:lnTo>
                    <a:pt x="17704" y="2106422"/>
                  </a:lnTo>
                  <a:cubicBezTo>
                    <a:pt x="7854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987" y="0"/>
                    <a:pt x="17704" y="0"/>
                  </a:cubicBezTo>
                  <a:moveTo>
                    <a:pt x="17704" y="33909"/>
                  </a:moveTo>
                  <a:lnTo>
                    <a:pt x="17704" y="16891"/>
                  </a:lnTo>
                  <a:lnTo>
                    <a:pt x="35542" y="16891"/>
                  </a:lnTo>
                  <a:lnTo>
                    <a:pt x="35542" y="2089531"/>
                  </a:lnTo>
                  <a:lnTo>
                    <a:pt x="17704" y="2089531"/>
                  </a:lnTo>
                  <a:lnTo>
                    <a:pt x="17704" y="2072640"/>
                  </a:lnTo>
                  <a:lnTo>
                    <a:pt x="10113209" y="2072640"/>
                  </a:lnTo>
                  <a:lnTo>
                    <a:pt x="10113209" y="2089531"/>
                  </a:lnTo>
                  <a:lnTo>
                    <a:pt x="10095504" y="2089531"/>
                  </a:lnTo>
                  <a:lnTo>
                    <a:pt x="10095504" y="16891"/>
                  </a:lnTo>
                  <a:lnTo>
                    <a:pt x="10113209" y="16891"/>
                  </a:lnTo>
                  <a:lnTo>
                    <a:pt x="10113209" y="33909"/>
                  </a:lnTo>
                  <a:lnTo>
                    <a:pt x="17704" y="33909"/>
                  </a:lnTo>
                  <a:close/>
                </a:path>
              </a:pathLst>
            </a:custGeom>
            <a:solidFill>
              <a:srgbClr val="A8DADC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0502903" y="7723127"/>
            <a:ext cx="171707" cy="1579883"/>
            <a:chOff x="0" y="0"/>
            <a:chExt cx="228943" cy="210651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195072" cy="2072640"/>
            </a:xfrm>
            <a:custGeom>
              <a:avLst/>
              <a:gdLst/>
              <a:ahLst/>
              <a:cxnLst/>
              <a:rect r="r" b="b" t="t" l="l"/>
              <a:pathLst>
                <a:path h="207264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017374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28854" cy="2106422"/>
            </a:xfrm>
            <a:custGeom>
              <a:avLst/>
              <a:gdLst/>
              <a:ahLst/>
              <a:cxnLst/>
              <a:rect r="r" b="b" t="t" l="l"/>
              <a:pathLst>
                <a:path h="210642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2089531"/>
                  </a:lnTo>
                  <a:cubicBezTo>
                    <a:pt x="228854" y="2098929"/>
                    <a:pt x="221234" y="2106422"/>
                    <a:pt x="211963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211963" y="2072640"/>
                  </a:lnTo>
                  <a:lnTo>
                    <a:pt x="211963" y="2089531"/>
                  </a:lnTo>
                  <a:lnTo>
                    <a:pt x="195072" y="208953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17374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0789920" y="7823459"/>
            <a:ext cx="6675120" cy="448180"/>
            <a:chOff x="0" y="0"/>
            <a:chExt cx="8900160" cy="59757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900160" cy="597573"/>
            </a:xfrm>
            <a:custGeom>
              <a:avLst/>
              <a:gdLst/>
              <a:ahLst/>
              <a:cxnLst/>
              <a:rect r="r" b="b" t="t" l="l"/>
              <a:pathLst>
                <a:path h="597573" w="8900160">
                  <a:moveTo>
                    <a:pt x="0" y="0"/>
                  </a:moveTo>
                  <a:lnTo>
                    <a:pt x="8900160" y="0"/>
                  </a:lnTo>
                  <a:lnTo>
                    <a:pt x="8900160" y="597573"/>
                  </a:lnTo>
                  <a:lnTo>
                    <a:pt x="0" y="59757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8999" r="0" b="-25141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8900160" cy="645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1737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Setup Function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789920" y="8271134"/>
            <a:ext cx="6675120" cy="768096"/>
            <a:chOff x="0" y="0"/>
            <a:chExt cx="8900160" cy="102412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9001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8900160">
                  <a:moveTo>
                    <a:pt x="0" y="0"/>
                  </a:moveTo>
                  <a:lnTo>
                    <a:pt x="8900160" y="0"/>
                  </a:lnTo>
                  <a:lnTo>
                    <a:pt x="89001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9334" r="0" b="-119334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890016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D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Initialises the hardware components, sets pin modes and starting positions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6824960" y="9656064"/>
            <a:ext cx="1097280" cy="548640"/>
            <a:chOff x="0" y="0"/>
            <a:chExt cx="1463040" cy="7315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463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146304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 / 12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731520" y="209807"/>
            <a:ext cx="17190720" cy="1554480"/>
            <a:chOff x="0" y="0"/>
            <a:chExt cx="22920960" cy="20726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2920961" cy="2072640"/>
            </a:xfrm>
            <a:custGeom>
              <a:avLst/>
              <a:gdLst/>
              <a:ahLst/>
              <a:cxnLst/>
              <a:rect r="r" b="b" t="t" l="l"/>
              <a:pathLst>
                <a:path h="207264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5481" r="0" b="-165481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23825"/>
              <a:ext cx="22920960" cy="2196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839"/>
                </a:lnSpc>
              </a:pPr>
              <a:r>
                <a:rPr lang="en-US" b="true" sz="5699" i="true">
                  <a:solidFill>
                    <a:srgbClr val="0D2B2B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Code Walkthrough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C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824960" y="9656064"/>
            <a:ext cx="1097280" cy="548640"/>
            <a:chOff x="0" y="0"/>
            <a:chExt cx="1463040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46304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 / 12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1520" y="209807"/>
            <a:ext cx="17190720" cy="1554480"/>
            <a:chOff x="0" y="0"/>
            <a:chExt cx="22920960" cy="2072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920961" cy="2072640"/>
            </a:xfrm>
            <a:custGeom>
              <a:avLst/>
              <a:gdLst/>
              <a:ahLst/>
              <a:cxnLst/>
              <a:rect r="r" b="b" t="t" l="l"/>
              <a:pathLst>
                <a:path h="207264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481" r="0" b="-16548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23825"/>
              <a:ext cx="22920960" cy="2196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839"/>
                </a:lnSpc>
              </a:pPr>
              <a:r>
                <a:rPr lang="en-US" b="true" sz="5699" i="true">
                  <a:solidFill>
                    <a:srgbClr val="0D2B2B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Code Walkthrough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145915" y="3203288"/>
            <a:ext cx="18433915" cy="5411825"/>
          </a:xfrm>
          <a:custGeom>
            <a:avLst/>
            <a:gdLst/>
            <a:ahLst/>
            <a:cxnLst/>
            <a:rect r="r" b="b" t="t" l="l"/>
            <a:pathLst>
              <a:path h="5411825" w="18433915">
                <a:moveTo>
                  <a:pt x="0" y="0"/>
                </a:moveTo>
                <a:lnTo>
                  <a:pt x="18433915" y="0"/>
                </a:lnTo>
                <a:lnTo>
                  <a:pt x="18433915" y="5411825"/>
                </a:lnTo>
                <a:lnTo>
                  <a:pt x="0" y="54118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708" t="-1856" r="0" b="-1856"/>
            </a:stretch>
          </a:blipFill>
        </p:spPr>
      </p:sp>
    </p:spTree>
  </p:cSld>
  <p:clrMapOvr>
    <a:masterClrMapping/>
  </p:clrMapOvr>
  <p:transition spd="slow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C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1459682"/>
            <a:ext cx="8221889" cy="7962006"/>
            <a:chOff x="0" y="0"/>
            <a:chExt cx="10962519" cy="106160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4565" y="18789"/>
              <a:ext cx="10933314" cy="10578331"/>
            </a:xfrm>
            <a:custGeom>
              <a:avLst/>
              <a:gdLst/>
              <a:ahLst/>
              <a:cxnLst/>
              <a:rect r="r" b="b" t="t" l="l"/>
              <a:pathLst>
                <a:path h="10578331" w="10933314">
                  <a:moveTo>
                    <a:pt x="0" y="0"/>
                  </a:moveTo>
                  <a:lnTo>
                    <a:pt x="10933313" y="0"/>
                  </a:lnTo>
                  <a:lnTo>
                    <a:pt x="10933313" y="10578331"/>
                  </a:lnTo>
                  <a:lnTo>
                    <a:pt x="0" y="10578331"/>
                  </a:lnTo>
                  <a:close/>
                </a:path>
              </a:pathLst>
            </a:custGeom>
            <a:blipFill>
              <a:blip r:embed="rId3"/>
              <a:stretch>
                <a:fillRect l="-133" t="-19033" r="-11568" b="-34133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962443" cy="10615908"/>
            </a:xfrm>
            <a:custGeom>
              <a:avLst/>
              <a:gdLst/>
              <a:ahLst/>
              <a:cxnLst/>
              <a:rect r="r" b="b" t="t" l="l"/>
              <a:pathLst>
                <a:path h="10615908" w="10962443">
                  <a:moveTo>
                    <a:pt x="14565" y="0"/>
                  </a:moveTo>
                  <a:lnTo>
                    <a:pt x="10947878" y="0"/>
                  </a:lnTo>
                  <a:cubicBezTo>
                    <a:pt x="10955982" y="0"/>
                    <a:pt x="10962443" y="8476"/>
                    <a:pt x="10962443" y="18789"/>
                  </a:cubicBezTo>
                  <a:lnTo>
                    <a:pt x="10962443" y="10597120"/>
                  </a:lnTo>
                  <a:cubicBezTo>
                    <a:pt x="10962443" y="10607573"/>
                    <a:pt x="10955872" y="10615908"/>
                    <a:pt x="10947878" y="10615908"/>
                  </a:cubicBezTo>
                  <a:lnTo>
                    <a:pt x="14565" y="10615908"/>
                  </a:lnTo>
                  <a:cubicBezTo>
                    <a:pt x="6461" y="10615908"/>
                    <a:pt x="0" y="10607432"/>
                    <a:pt x="0" y="10597120"/>
                  </a:cubicBezTo>
                  <a:lnTo>
                    <a:pt x="0" y="18789"/>
                  </a:lnTo>
                  <a:cubicBezTo>
                    <a:pt x="0" y="8476"/>
                    <a:pt x="6571" y="0"/>
                    <a:pt x="14565" y="0"/>
                  </a:cubicBezTo>
                  <a:moveTo>
                    <a:pt x="14565" y="37719"/>
                  </a:moveTo>
                  <a:lnTo>
                    <a:pt x="14565" y="18789"/>
                  </a:lnTo>
                  <a:lnTo>
                    <a:pt x="29239" y="18789"/>
                  </a:lnTo>
                  <a:lnTo>
                    <a:pt x="29239" y="10597120"/>
                  </a:lnTo>
                  <a:lnTo>
                    <a:pt x="14565" y="10597120"/>
                  </a:lnTo>
                  <a:lnTo>
                    <a:pt x="14565" y="10578330"/>
                  </a:lnTo>
                  <a:lnTo>
                    <a:pt x="10947878" y="10578330"/>
                  </a:lnTo>
                  <a:lnTo>
                    <a:pt x="10947878" y="10597120"/>
                  </a:lnTo>
                  <a:lnTo>
                    <a:pt x="10933313" y="10597120"/>
                  </a:lnTo>
                  <a:lnTo>
                    <a:pt x="10933313" y="18789"/>
                  </a:lnTo>
                  <a:lnTo>
                    <a:pt x="10947878" y="18789"/>
                  </a:lnTo>
                  <a:lnTo>
                    <a:pt x="10947878" y="37719"/>
                  </a:lnTo>
                  <a:lnTo>
                    <a:pt x="14565" y="37719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502903" y="2145287"/>
            <a:ext cx="7598254" cy="1699260"/>
            <a:chOff x="0" y="0"/>
            <a:chExt cx="10131006" cy="22656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7704" y="18167"/>
              <a:ext cx="10095505" cy="2229250"/>
            </a:xfrm>
            <a:custGeom>
              <a:avLst/>
              <a:gdLst/>
              <a:ahLst/>
              <a:cxnLst/>
              <a:rect r="r" b="b" t="t" l="l"/>
              <a:pathLst>
                <a:path h="2229250" w="10095505">
                  <a:moveTo>
                    <a:pt x="0" y="0"/>
                  </a:moveTo>
                  <a:lnTo>
                    <a:pt x="10095505" y="0"/>
                  </a:lnTo>
                  <a:lnTo>
                    <a:pt x="10095505" y="2229250"/>
                  </a:lnTo>
                  <a:lnTo>
                    <a:pt x="0" y="222925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130913" cy="2265584"/>
            </a:xfrm>
            <a:custGeom>
              <a:avLst/>
              <a:gdLst/>
              <a:ahLst/>
              <a:cxnLst/>
              <a:rect r="r" b="b" t="t" l="l"/>
              <a:pathLst>
                <a:path h="2265584" w="10130913">
                  <a:moveTo>
                    <a:pt x="17704" y="0"/>
                  </a:moveTo>
                  <a:lnTo>
                    <a:pt x="10113209" y="0"/>
                  </a:lnTo>
                  <a:cubicBezTo>
                    <a:pt x="10123060" y="0"/>
                    <a:pt x="10130913" y="8196"/>
                    <a:pt x="10130913" y="18167"/>
                  </a:cubicBezTo>
                  <a:lnTo>
                    <a:pt x="10130913" y="2247417"/>
                  </a:lnTo>
                  <a:cubicBezTo>
                    <a:pt x="10130913" y="2257525"/>
                    <a:pt x="10122926" y="2265584"/>
                    <a:pt x="10113209" y="2265584"/>
                  </a:cubicBezTo>
                  <a:lnTo>
                    <a:pt x="17704" y="2265584"/>
                  </a:lnTo>
                  <a:cubicBezTo>
                    <a:pt x="7854" y="2265584"/>
                    <a:pt x="0" y="2257389"/>
                    <a:pt x="0" y="2247417"/>
                  </a:cubicBezTo>
                  <a:lnTo>
                    <a:pt x="0" y="18167"/>
                  </a:lnTo>
                  <a:cubicBezTo>
                    <a:pt x="0" y="8196"/>
                    <a:pt x="7987" y="0"/>
                    <a:pt x="17704" y="0"/>
                  </a:cubicBezTo>
                  <a:moveTo>
                    <a:pt x="17704" y="36471"/>
                  </a:moveTo>
                  <a:lnTo>
                    <a:pt x="17704" y="18167"/>
                  </a:lnTo>
                  <a:lnTo>
                    <a:pt x="35542" y="18167"/>
                  </a:lnTo>
                  <a:lnTo>
                    <a:pt x="35542" y="2247417"/>
                  </a:lnTo>
                  <a:lnTo>
                    <a:pt x="17704" y="2247417"/>
                  </a:lnTo>
                  <a:lnTo>
                    <a:pt x="17704" y="2229250"/>
                  </a:lnTo>
                  <a:lnTo>
                    <a:pt x="10113209" y="2229250"/>
                  </a:lnTo>
                  <a:lnTo>
                    <a:pt x="10113209" y="2247417"/>
                  </a:lnTo>
                  <a:lnTo>
                    <a:pt x="10095504" y="2247417"/>
                  </a:lnTo>
                  <a:lnTo>
                    <a:pt x="10095504" y="18167"/>
                  </a:lnTo>
                  <a:lnTo>
                    <a:pt x="10113209" y="18167"/>
                  </a:lnTo>
                  <a:lnTo>
                    <a:pt x="10113209" y="36471"/>
                  </a:lnTo>
                  <a:lnTo>
                    <a:pt x="17704" y="36471"/>
                  </a:lnTo>
                  <a:close/>
                </a:path>
              </a:pathLst>
            </a:custGeom>
            <a:solidFill>
              <a:srgbClr val="A8DADC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489929" y="2145287"/>
            <a:ext cx="184681" cy="1699260"/>
            <a:chOff x="0" y="0"/>
            <a:chExt cx="228943" cy="21065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195072" cy="2072640"/>
            </a:xfrm>
            <a:custGeom>
              <a:avLst/>
              <a:gdLst/>
              <a:ahLst/>
              <a:cxnLst/>
              <a:rect r="r" b="b" t="t" l="l"/>
              <a:pathLst>
                <a:path h="207264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017374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8854" cy="2106422"/>
            </a:xfrm>
            <a:custGeom>
              <a:avLst/>
              <a:gdLst/>
              <a:ahLst/>
              <a:cxnLst/>
              <a:rect r="r" b="b" t="t" l="l"/>
              <a:pathLst>
                <a:path h="210642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2089531"/>
                  </a:lnTo>
                  <a:cubicBezTo>
                    <a:pt x="228854" y="2098929"/>
                    <a:pt x="221234" y="2106422"/>
                    <a:pt x="211963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211963" y="2072640"/>
                  </a:lnTo>
                  <a:lnTo>
                    <a:pt x="211963" y="2089531"/>
                  </a:lnTo>
                  <a:lnTo>
                    <a:pt x="195072" y="208953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17374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789920" y="2267712"/>
            <a:ext cx="6675120" cy="548640"/>
            <a:chOff x="0" y="0"/>
            <a:chExt cx="890016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900160" cy="731520"/>
            </a:xfrm>
            <a:custGeom>
              <a:avLst/>
              <a:gdLst/>
              <a:ahLst/>
              <a:cxnLst/>
              <a:rect r="r" b="b" t="t" l="l"/>
              <a:pathLst>
                <a:path h="731520" w="8900160">
                  <a:moveTo>
                    <a:pt x="0" y="0"/>
                  </a:moveTo>
                  <a:lnTo>
                    <a:pt x="8900160" y="0"/>
                  </a:lnTo>
                  <a:lnTo>
                    <a:pt x="8900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7067" r="0" b="-18706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89001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1737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Drip stand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789920" y="2852928"/>
            <a:ext cx="6675120" cy="768096"/>
            <a:chOff x="0" y="0"/>
            <a:chExt cx="8900160" cy="102412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9001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8900160">
                  <a:moveTo>
                    <a:pt x="0" y="0"/>
                  </a:moveTo>
                  <a:lnTo>
                    <a:pt x="8900160" y="0"/>
                  </a:lnTo>
                  <a:lnTo>
                    <a:pt x="89001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9334" r="0" b="-11933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890016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0D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Simulates a clinical drip pole of standard size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674610" y="6124832"/>
            <a:ext cx="7598254" cy="1579883"/>
            <a:chOff x="0" y="0"/>
            <a:chExt cx="10131006" cy="210651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7704" y="16891"/>
              <a:ext cx="10095505" cy="2072640"/>
            </a:xfrm>
            <a:custGeom>
              <a:avLst/>
              <a:gdLst/>
              <a:ahLst/>
              <a:cxnLst/>
              <a:rect r="r" b="b" t="t" l="l"/>
              <a:pathLst>
                <a:path h="2072640" w="10095505">
                  <a:moveTo>
                    <a:pt x="0" y="0"/>
                  </a:moveTo>
                  <a:lnTo>
                    <a:pt x="10095505" y="0"/>
                  </a:lnTo>
                  <a:lnTo>
                    <a:pt x="10095505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130913" cy="2106422"/>
            </a:xfrm>
            <a:custGeom>
              <a:avLst/>
              <a:gdLst/>
              <a:ahLst/>
              <a:cxnLst/>
              <a:rect r="r" b="b" t="t" l="l"/>
              <a:pathLst>
                <a:path h="2106422" w="10130913">
                  <a:moveTo>
                    <a:pt x="17704" y="0"/>
                  </a:moveTo>
                  <a:lnTo>
                    <a:pt x="10113209" y="0"/>
                  </a:lnTo>
                  <a:cubicBezTo>
                    <a:pt x="10123060" y="0"/>
                    <a:pt x="10130913" y="7620"/>
                    <a:pt x="10130913" y="16891"/>
                  </a:cubicBezTo>
                  <a:lnTo>
                    <a:pt x="10130913" y="2089531"/>
                  </a:lnTo>
                  <a:cubicBezTo>
                    <a:pt x="10130913" y="2098929"/>
                    <a:pt x="10122926" y="2106422"/>
                    <a:pt x="10113209" y="2106422"/>
                  </a:cubicBezTo>
                  <a:lnTo>
                    <a:pt x="17704" y="2106422"/>
                  </a:lnTo>
                  <a:cubicBezTo>
                    <a:pt x="7854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987" y="0"/>
                    <a:pt x="17704" y="0"/>
                  </a:cubicBezTo>
                  <a:moveTo>
                    <a:pt x="17704" y="33909"/>
                  </a:moveTo>
                  <a:lnTo>
                    <a:pt x="17704" y="16891"/>
                  </a:lnTo>
                  <a:lnTo>
                    <a:pt x="35542" y="16891"/>
                  </a:lnTo>
                  <a:lnTo>
                    <a:pt x="35542" y="2089531"/>
                  </a:lnTo>
                  <a:lnTo>
                    <a:pt x="17704" y="2089531"/>
                  </a:lnTo>
                  <a:lnTo>
                    <a:pt x="17704" y="2072640"/>
                  </a:lnTo>
                  <a:lnTo>
                    <a:pt x="10113209" y="2072640"/>
                  </a:lnTo>
                  <a:lnTo>
                    <a:pt x="10113209" y="2089531"/>
                  </a:lnTo>
                  <a:lnTo>
                    <a:pt x="10095504" y="2089531"/>
                  </a:lnTo>
                  <a:lnTo>
                    <a:pt x="10095504" y="16891"/>
                  </a:lnTo>
                  <a:lnTo>
                    <a:pt x="10113209" y="16891"/>
                  </a:lnTo>
                  <a:lnTo>
                    <a:pt x="10113209" y="33909"/>
                  </a:lnTo>
                  <a:lnTo>
                    <a:pt x="17704" y="33909"/>
                  </a:lnTo>
                  <a:close/>
                </a:path>
              </a:pathLst>
            </a:custGeom>
            <a:solidFill>
              <a:srgbClr val="A8DADC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502903" y="6124832"/>
            <a:ext cx="171707" cy="1579883"/>
            <a:chOff x="0" y="0"/>
            <a:chExt cx="228943" cy="210651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195072" cy="2072640"/>
            </a:xfrm>
            <a:custGeom>
              <a:avLst/>
              <a:gdLst/>
              <a:ahLst/>
              <a:cxnLst/>
              <a:rect r="r" b="b" t="t" l="l"/>
              <a:pathLst>
                <a:path h="207264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017374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8854" cy="2106422"/>
            </a:xfrm>
            <a:custGeom>
              <a:avLst/>
              <a:gdLst/>
              <a:ahLst/>
              <a:cxnLst/>
              <a:rect r="r" b="b" t="t" l="l"/>
              <a:pathLst>
                <a:path h="210642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2089531"/>
                  </a:lnTo>
                  <a:cubicBezTo>
                    <a:pt x="228854" y="2098929"/>
                    <a:pt x="221234" y="2106422"/>
                    <a:pt x="211963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211963" y="2072640"/>
                  </a:lnTo>
                  <a:lnTo>
                    <a:pt x="211963" y="2089531"/>
                  </a:lnTo>
                  <a:lnTo>
                    <a:pt x="195072" y="208953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17374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964470" y="6364224"/>
            <a:ext cx="6675120" cy="548640"/>
            <a:chOff x="0" y="0"/>
            <a:chExt cx="890016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900160" cy="731520"/>
            </a:xfrm>
            <a:custGeom>
              <a:avLst/>
              <a:gdLst/>
              <a:ahLst/>
              <a:cxnLst/>
              <a:rect r="r" b="b" t="t" l="l"/>
              <a:pathLst>
                <a:path h="731520" w="8900160">
                  <a:moveTo>
                    <a:pt x="0" y="0"/>
                  </a:moveTo>
                  <a:lnTo>
                    <a:pt x="8900160" y="0"/>
                  </a:lnTo>
                  <a:lnTo>
                    <a:pt x="8900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7067" r="0" b="-18706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89001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1737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3d model base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964470" y="6914774"/>
            <a:ext cx="6675120" cy="768096"/>
            <a:chOff x="0" y="0"/>
            <a:chExt cx="8900160" cy="102412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9001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8900160">
                  <a:moveTo>
                    <a:pt x="0" y="0"/>
                  </a:moveTo>
                  <a:lnTo>
                    <a:pt x="8900160" y="0"/>
                  </a:lnTo>
                  <a:lnTo>
                    <a:pt x="89001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9334" r="0" b="-11933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890016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0D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Holds all components in place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6824960" y="9656064"/>
            <a:ext cx="1097280" cy="548640"/>
            <a:chOff x="0" y="0"/>
            <a:chExt cx="1463040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463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146304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 / 12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31839" y="251460"/>
            <a:ext cx="17190720" cy="1554480"/>
            <a:chOff x="0" y="0"/>
            <a:chExt cx="22920960" cy="20726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920961" cy="2072640"/>
            </a:xfrm>
            <a:custGeom>
              <a:avLst/>
              <a:gdLst/>
              <a:ahLst/>
              <a:cxnLst/>
              <a:rect r="r" b="b" t="t" l="l"/>
              <a:pathLst>
                <a:path h="207264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5481" r="0" b="-16548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23825"/>
              <a:ext cx="22920960" cy="2196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839"/>
                </a:lnSpc>
              </a:pPr>
              <a:r>
                <a:rPr lang="en-US" b="true" sz="5699" i="true">
                  <a:solidFill>
                    <a:srgbClr val="0D2B2B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Physical Prototype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C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871402" y="-2074390"/>
            <a:ext cx="9717782" cy="11332690"/>
          </a:xfrm>
          <a:custGeom>
            <a:avLst/>
            <a:gdLst/>
            <a:ahLst/>
            <a:cxnLst/>
            <a:rect r="r" b="b" t="t" l="l"/>
            <a:pathLst>
              <a:path h="11332690" w="9717782">
                <a:moveTo>
                  <a:pt x="0" y="0"/>
                </a:moveTo>
                <a:lnTo>
                  <a:pt x="9717782" y="0"/>
                </a:lnTo>
                <a:lnTo>
                  <a:pt x="9717782" y="11332690"/>
                </a:lnTo>
                <a:lnTo>
                  <a:pt x="0" y="113326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052853" y="2825862"/>
            <a:ext cx="9717782" cy="11332690"/>
          </a:xfrm>
          <a:custGeom>
            <a:avLst/>
            <a:gdLst/>
            <a:ahLst/>
            <a:cxnLst/>
            <a:rect r="r" b="b" t="t" l="l"/>
            <a:pathLst>
              <a:path h="11332690" w="9717782">
                <a:moveTo>
                  <a:pt x="0" y="0"/>
                </a:moveTo>
                <a:lnTo>
                  <a:pt x="9717782" y="0"/>
                </a:lnTo>
                <a:lnTo>
                  <a:pt x="9717782" y="11332690"/>
                </a:lnTo>
                <a:lnTo>
                  <a:pt x="0" y="113326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846380" y="64610"/>
            <a:ext cx="12875703" cy="4727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00"/>
              </a:lnSpc>
            </a:pPr>
            <a:r>
              <a:rPr lang="en-US" b="true" sz="18044" i="true" spc="-884">
                <a:solidFill>
                  <a:srgbClr val="13222B"/>
                </a:solidFill>
                <a:latin typeface="Arial MT Pro Bold Italics"/>
                <a:ea typeface="Arial MT Pro Bold Italics"/>
                <a:cs typeface="Arial MT Pro Bold Italics"/>
                <a:sym typeface="Arial MT Pro Bold Italics"/>
              </a:rPr>
              <a:t>What’s Next?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543988" y="5143500"/>
            <a:ext cx="8574823" cy="4424062"/>
            <a:chOff x="0" y="0"/>
            <a:chExt cx="9643536" cy="49754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643537" cy="4975450"/>
            </a:xfrm>
            <a:custGeom>
              <a:avLst/>
              <a:gdLst/>
              <a:ahLst/>
              <a:cxnLst/>
              <a:rect r="r" b="b" t="t" l="l"/>
              <a:pathLst>
                <a:path h="4975450" w="9643537">
                  <a:moveTo>
                    <a:pt x="0" y="0"/>
                  </a:moveTo>
                  <a:lnTo>
                    <a:pt x="9643537" y="0"/>
                  </a:lnTo>
                  <a:lnTo>
                    <a:pt x="9643537" y="4975450"/>
                  </a:lnTo>
                  <a:lnTo>
                    <a:pt x="0" y="49754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392" r="31729" b="6882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9643536" cy="5042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844542" indent="-422271" lvl="1">
                <a:lnSpc>
                  <a:spcPts val="4199"/>
                </a:lnSpc>
                <a:buFont typeface="Arial"/>
                <a:buChar char="•"/>
              </a:pPr>
              <a:r>
                <a:rPr lang="en-US" sz="3499">
                  <a:solidFill>
                    <a:srgbClr val="0D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Integrate a battery module for power outages</a:t>
              </a:r>
            </a:p>
            <a:p>
              <a:pPr algn="l" marL="844542" indent="-422271" lvl="1">
                <a:lnSpc>
                  <a:spcPts val="4199"/>
                </a:lnSpc>
                <a:buFont typeface="Arial"/>
                <a:buChar char="•"/>
              </a:pPr>
              <a:r>
                <a:rPr lang="en-US" sz="3499">
                  <a:solidFill>
                    <a:srgbClr val="0D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PCB connection for reduced prototype size.</a:t>
              </a:r>
            </a:p>
            <a:p>
              <a:pPr algn="l" marL="941059" indent="-470530" lvl="1">
                <a:lnSpc>
                  <a:spcPts val="4679"/>
                </a:lnSpc>
                <a:buFont typeface="Arial"/>
                <a:buChar char="•"/>
              </a:pPr>
              <a:r>
                <a:rPr lang="en-US" sz="3899">
                  <a:solidFill>
                    <a:srgbClr val="0D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Improved prototype panel for variable drip chambers and drip stand</a:t>
              </a:r>
            </a:p>
            <a:p>
              <a:pPr algn="l" marL="844542" indent="-422271" lvl="1">
                <a:lnSpc>
                  <a:spcPts val="4199"/>
                </a:lnSpc>
                <a:buFont typeface="Arial"/>
                <a:buChar char="•"/>
              </a:pPr>
              <a:r>
                <a:rPr lang="en-US" sz="3499">
                  <a:solidFill>
                    <a:srgbClr val="0D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Mobile app for centralized monitoring 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DAHFQIemd_U</dc:identifier>
  <dcterms:modified xsi:type="dcterms:W3CDTF">2011-08-01T06:04:30Z</dcterms:modified>
  <cp:revision>1</cp:revision>
  <dc:title>Smart IV Drip Monitoring and Control System.pptx</dc:title>
</cp:coreProperties>
</file>