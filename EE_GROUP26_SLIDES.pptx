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9144000" cy="5141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2" d="100"/>
          <a:sy n="82" d="100"/>
        </p:scale>
        <p:origin x="82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1"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652"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65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654"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656"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9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98"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1048599" name="Footer Placeholder 4"/>
          <p:cNvSpPr>
            <a:spLocks noGrp="1"/>
          </p:cNvSpPr>
          <p:nvPr>
            <p:ph type="ftr" sz="quarter" idx="11"/>
          </p:nvPr>
        </p:nvSpPr>
        <p:spPr/>
        <p:txBody>
          <a:bodyPr/>
          <a:lstStyle/>
          <a:p>
            <a:endParaRPr lang="en-US"/>
          </a:p>
        </p:txBody>
      </p:sp>
      <p:sp>
        <p:nvSpPr>
          <p:cNvPr id="1048600"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10" name="Title 1"/>
          <p:cNvSpPr>
            <a:spLocks noGrp="1"/>
          </p:cNvSpPr>
          <p:nvPr>
            <p:ph type="title"/>
          </p:nvPr>
        </p:nvSpPr>
        <p:spPr/>
        <p:txBody>
          <a:bodyPr/>
          <a:lstStyle/>
          <a:p>
            <a:r>
              <a:rPr lang="en-US"/>
              <a:t>Click to edit Master title style</a:t>
            </a:r>
          </a:p>
        </p:txBody>
      </p:sp>
      <p:sp>
        <p:nvSpPr>
          <p:cNvPr id="104861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2"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1048613" name="Footer Placeholder 4"/>
          <p:cNvSpPr>
            <a:spLocks noGrp="1"/>
          </p:cNvSpPr>
          <p:nvPr>
            <p:ph type="ftr" sz="quarter" idx="11"/>
          </p:nvPr>
        </p:nvSpPr>
        <p:spPr/>
        <p:txBody>
          <a:bodyPr/>
          <a:lstStyle/>
          <a:p>
            <a:endParaRPr lang="en-US"/>
          </a:p>
        </p:txBody>
      </p:sp>
      <p:sp>
        <p:nvSpPr>
          <p:cNvPr id="1048614"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26"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27"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28"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1048629" name="Footer Placeholder 4"/>
          <p:cNvSpPr>
            <a:spLocks noGrp="1"/>
          </p:cNvSpPr>
          <p:nvPr>
            <p:ph type="ftr" sz="quarter" idx="11"/>
          </p:nvPr>
        </p:nvSpPr>
        <p:spPr/>
        <p:txBody>
          <a:bodyPr/>
          <a:lstStyle/>
          <a:p>
            <a:endParaRPr lang="en-US"/>
          </a:p>
        </p:txBody>
      </p:sp>
      <p:sp>
        <p:nvSpPr>
          <p:cNvPr id="1048630"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1" name="Title 1"/>
          <p:cNvSpPr>
            <a:spLocks noGrp="1"/>
          </p:cNvSpPr>
          <p:nvPr>
            <p:ph type="title"/>
          </p:nvPr>
        </p:nvSpPr>
        <p:spPr/>
        <p:txBody>
          <a:bodyPr/>
          <a:lstStyle/>
          <a:p>
            <a:r>
              <a:rPr lang="en-US"/>
              <a:t>Click to edit Master title style</a:t>
            </a:r>
          </a:p>
        </p:txBody>
      </p:sp>
      <p:sp>
        <p:nvSpPr>
          <p:cNvPr id="104863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4"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1048635" name="Footer Placeholder 5"/>
          <p:cNvSpPr>
            <a:spLocks noGrp="1"/>
          </p:cNvSpPr>
          <p:nvPr>
            <p:ph type="ftr" sz="quarter" idx="11"/>
          </p:nvPr>
        </p:nvSpPr>
        <p:spPr/>
        <p:txBody>
          <a:bodyPr/>
          <a:lstStyle/>
          <a:p>
            <a:endParaRPr lang="en-US"/>
          </a:p>
        </p:txBody>
      </p:sp>
      <p:sp>
        <p:nvSpPr>
          <p:cNvPr id="104863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r>
              <a:rPr lang="en-US"/>
              <a:t>Click to edit Master title style</a:t>
            </a:r>
          </a:p>
        </p:txBody>
      </p:sp>
      <p:sp>
        <p:nvSpPr>
          <p:cNvPr id="1048638"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3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0"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Date Placeholder 6"/>
          <p:cNvSpPr>
            <a:spLocks noGrp="1"/>
          </p:cNvSpPr>
          <p:nvPr>
            <p:ph type="dt" sz="half" idx="10"/>
          </p:nvPr>
        </p:nvSpPr>
        <p:spPr/>
        <p:txBody>
          <a:bodyPr/>
          <a:lstStyle/>
          <a:p>
            <a:fld id="{5BCAD085-E8A6-8845-BD4E-CB4CCA059FC4}" type="datetimeFigureOut">
              <a:rPr lang="en-US" smtClean="0"/>
              <a:t>3/29/2026</a:t>
            </a:fld>
            <a:endParaRPr lang="en-US"/>
          </a:p>
        </p:txBody>
      </p:sp>
      <p:sp>
        <p:nvSpPr>
          <p:cNvPr id="1048643" name="Footer Placeholder 7"/>
          <p:cNvSpPr>
            <a:spLocks noGrp="1"/>
          </p:cNvSpPr>
          <p:nvPr>
            <p:ph type="ftr" sz="quarter" idx="11"/>
          </p:nvPr>
        </p:nvSpPr>
        <p:spPr/>
        <p:txBody>
          <a:bodyPr/>
          <a:lstStyle/>
          <a:p>
            <a:endParaRPr lang="en-US"/>
          </a:p>
        </p:txBody>
      </p:sp>
      <p:sp>
        <p:nvSpPr>
          <p:cNvPr id="1048644"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r>
              <a:rPr lang="en-US"/>
              <a:t>Click to edit Master title style</a:t>
            </a:r>
          </a:p>
        </p:txBody>
      </p:sp>
      <p:sp>
        <p:nvSpPr>
          <p:cNvPr id="1048602" name="Date Placeholder 2"/>
          <p:cNvSpPr>
            <a:spLocks noGrp="1"/>
          </p:cNvSpPr>
          <p:nvPr>
            <p:ph type="dt" sz="half" idx="10"/>
          </p:nvPr>
        </p:nvSpPr>
        <p:spPr/>
        <p:txBody>
          <a:bodyPr/>
          <a:lstStyle/>
          <a:p>
            <a:fld id="{5BCAD085-E8A6-8845-BD4E-CB4CCA059FC4}" type="datetimeFigureOut">
              <a:rPr lang="en-US" smtClean="0"/>
              <a:t>3/29/2026</a:t>
            </a:fld>
            <a:endParaRPr lang="en-US"/>
          </a:p>
        </p:txBody>
      </p:sp>
      <p:sp>
        <p:nvSpPr>
          <p:cNvPr id="1048603" name="Footer Placeholder 3"/>
          <p:cNvSpPr>
            <a:spLocks noGrp="1"/>
          </p:cNvSpPr>
          <p:nvPr>
            <p:ph type="ftr" sz="quarter" idx="11"/>
          </p:nvPr>
        </p:nvSpPr>
        <p:spPr/>
        <p:txBody>
          <a:bodyPr/>
          <a:lstStyle/>
          <a:p>
            <a:endParaRPr lang="en-US"/>
          </a:p>
        </p:txBody>
      </p:sp>
      <p:sp>
        <p:nvSpPr>
          <p:cNvPr id="1048604"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5BCAD085-E8A6-8845-BD4E-CB4CCA059FC4}" type="datetimeFigureOut">
              <a:rPr lang="en-US" smtClean="0"/>
              <a:t>3/29/2026</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5"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7"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48"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1048649" name="Footer Placeholder 5"/>
          <p:cNvSpPr>
            <a:spLocks noGrp="1"/>
          </p:cNvSpPr>
          <p:nvPr>
            <p:ph type="ftr" sz="quarter" idx="11"/>
          </p:nvPr>
        </p:nvSpPr>
        <p:spPr/>
        <p:txBody>
          <a:bodyPr/>
          <a:lstStyle/>
          <a:p>
            <a:endParaRPr lang="en-US"/>
          </a:p>
        </p:txBody>
      </p:sp>
      <p:sp>
        <p:nvSpPr>
          <p:cNvPr id="1048650"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15"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16"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17"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18"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1048619" name="Footer Placeholder 5"/>
          <p:cNvSpPr>
            <a:spLocks noGrp="1"/>
          </p:cNvSpPr>
          <p:nvPr>
            <p:ph type="ftr" sz="quarter" idx="11"/>
          </p:nvPr>
        </p:nvSpPr>
        <p:spPr/>
        <p:txBody>
          <a:bodyPr/>
          <a:lstStyle/>
          <a:p>
            <a:endParaRPr lang="en-US"/>
          </a:p>
        </p:txBody>
      </p:sp>
      <p:sp>
        <p:nvSpPr>
          <p:cNvPr id="1048620"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lang="en-US"/>
              <a:t>Click to edit Master title style</a:t>
            </a:r>
          </a:p>
        </p:txBody>
      </p:sp>
      <p:sp>
        <p:nvSpPr>
          <p:cNvPr id="104862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3"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1048624" name="Footer Placeholder 4"/>
          <p:cNvSpPr>
            <a:spLocks noGrp="1"/>
          </p:cNvSpPr>
          <p:nvPr>
            <p:ph type="ftr" sz="quarter" idx="11"/>
          </p:nvPr>
        </p:nvSpPr>
        <p:spPr/>
        <p:txBody>
          <a:bodyPr/>
          <a:lstStyle/>
          <a:p>
            <a:endParaRPr lang="en-US"/>
          </a:p>
        </p:txBody>
      </p:sp>
      <p:sp>
        <p:nvSpPr>
          <p:cNvPr id="1048625"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05"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06"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7"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1048608" name="Footer Placeholder 4"/>
          <p:cNvSpPr>
            <a:spLocks noGrp="1"/>
          </p:cNvSpPr>
          <p:nvPr>
            <p:ph type="ftr" sz="quarter" idx="11"/>
          </p:nvPr>
        </p:nvSpPr>
        <p:spPr/>
        <p:txBody>
          <a:bodyPr/>
          <a:lstStyle/>
          <a:p>
            <a:endParaRPr lang="en-US"/>
          </a:p>
        </p:txBody>
      </p:sp>
      <p:sp>
        <p:nvSpPr>
          <p:cNvPr id="1048609"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3/29/2026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tinkercad.com/things/iuOcLm2ZnuI-group-26"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1" descr="page_1.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sp>
        <p:nvSpPr>
          <p:cNvPr id="1048584" name="Text Box 3"/>
          <p:cNvSpPr txBox="1"/>
          <p:nvPr/>
        </p:nvSpPr>
        <p:spPr>
          <a:xfrm>
            <a:off x="3215004" y="1325054"/>
            <a:ext cx="5457190" cy="352372"/>
          </a:xfrm>
          <a:prstGeom prst="rect">
            <a:avLst/>
          </a:prstGeom>
          <a:noFill/>
          <a:ln>
            <a:solidFill>
              <a:srgbClr val="B4B4B4"/>
            </a:solidFill>
          </a:ln>
        </p:spPr>
        <p:txBody>
          <a:bodyPr wrap="square" rtlCol="0">
            <a:noAutofit/>
          </a:bodyPr>
          <a:lstStyle/>
          <a:p>
            <a:pPr algn="ctr">
              <a:spcAft>
                <a:spcPts val="600"/>
              </a:spcAft>
            </a:pPr>
            <a:r>
              <a:rPr lang="en-US" sz="2400" b="1">
                <a:ln>
                  <a:solidFill>
                    <a:srgbClr val="00B050"/>
                  </a:solidFill>
                </a:ln>
                <a:latin typeface="Aptos Display"/>
              </a:rPr>
              <a:t>GROUP 26-MEMBERS  </a:t>
            </a:r>
            <a:br>
              <a:rPr lang="en-US" sz="2000" b="1">
                <a:ln>
                  <a:solidFill>
                    <a:srgbClr val="00B050"/>
                  </a:solidFill>
                </a:ln>
              </a:rPr>
            </a:br>
            <a:endParaRPr lang="en-US" sz="2000" b="1">
              <a:ln>
                <a:solidFill>
                  <a:srgbClr val="00B050"/>
                </a:solidFill>
              </a:ln>
            </a:endParaRPr>
          </a:p>
        </p:txBody>
      </p:sp>
      <p:sp>
        <p:nvSpPr>
          <p:cNvPr id="1048585" name="Text Box 4"/>
          <p:cNvSpPr txBox="1"/>
          <p:nvPr/>
        </p:nvSpPr>
        <p:spPr>
          <a:xfrm>
            <a:off x="3215004" y="1677426"/>
            <a:ext cx="5629910" cy="3127375"/>
          </a:xfrm>
          <a:prstGeom prst="rect">
            <a:avLst/>
          </a:prstGeom>
          <a:noFill/>
          <a:ln>
            <a:solidFill>
              <a:srgbClr val="B4B4B4"/>
            </a:solidFill>
          </a:ln>
        </p:spPr>
        <p:txBody>
          <a:bodyPr wrap="square" rtlCol="0">
            <a:noAutofit/>
          </a:bodyPr>
          <a:lstStyle/>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PERCY KOGME SOYERE - 7336123</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KIMOKSUA GILBERT TAMIRKA-1854522</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EUGENE NTIM- 7330723</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DOROTHY NKUM- 7330423</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MINTAH JAPHET FOSU- 7329523</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DUBIK NAANGBONG- 7130221</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AYINE-TORA ANDY- 1849022</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sz="1800"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SAEED SANI MUJAHID- 7335223</a:t>
            </a: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a:p>
            <a:pPr indent="0" algn="l">
              <a:spcAft>
                <a:spcPts val="600"/>
              </a:spcAft>
              <a:buNone/>
            </a:pPr>
            <a:r>
              <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rPr>
              <a:t>REUBEN MWINZIE NINNONI- 3007220</a:t>
            </a:r>
          </a:p>
          <a:p>
            <a:pPr indent="0" algn="l">
              <a:spcAft>
                <a:spcPts val="600"/>
              </a:spcAft>
              <a:buNone/>
            </a:pPr>
            <a:endParaRPr lang="en-US" b="1">
              <a:ln>
                <a:noFill/>
              </a:ln>
              <a:effectLst>
                <a:outerShdw blurRad="38100" dist="38100" dir="2700000" algn="tl">
                  <a:srgbClr val="000000">
                    <a:alpha val="43137"/>
                  </a:srgbClr>
                </a:outerShdw>
              </a:effectLst>
              <a:latin typeface="Microsoft JhengHei UI" panose="020B0604030504040204" charset="-120"/>
              <a:ea typeface="Microsoft JhengHei UI" panose="020B0604030504040204" charset="-120"/>
            </a:endParaRPr>
          </a:p>
        </p:txBody>
      </p:sp>
      <p:sp>
        <p:nvSpPr>
          <p:cNvPr id="1048586" name="Text Box 3"/>
          <p:cNvSpPr txBox="1"/>
          <p:nvPr/>
        </p:nvSpPr>
        <p:spPr>
          <a:xfrm>
            <a:off x="3215003" y="698599"/>
            <a:ext cx="5725854" cy="802640"/>
          </a:xfrm>
          <a:prstGeom prst="rect">
            <a:avLst/>
          </a:prstGeom>
          <a:noFill/>
        </p:spPr>
        <p:txBody>
          <a:bodyPr wrap="square" rtlCol="0">
            <a:spAutoFit/>
          </a:bodyPr>
          <a:lstStyle/>
          <a:p>
            <a:r>
              <a:rPr lang="en-US" sz="2400" b="1">
                <a:ln>
                  <a:solidFill>
                    <a:srgbClr val="92D050"/>
                  </a:solidFill>
                </a:ln>
                <a:effectLst>
                  <a:outerShdw blurRad="38100" dist="38100" dir="2700000" algn="tl">
                    <a:srgbClr val="000000">
                      <a:alpha val="43137"/>
                    </a:srgbClr>
                  </a:outerShdw>
                </a:effectLst>
              </a:rPr>
              <a:t>SMART DOOR LOCK SECURITY </a:t>
            </a:r>
            <a:r>
              <a:rPr lang="en-US" altLang="en-GB" sz="2400" b="1">
                <a:ln>
                  <a:solidFill>
                    <a:srgbClr val="92D050"/>
                  </a:solidFill>
                </a:ln>
                <a:effectLst>
                  <a:outerShdw blurRad="38100" dist="38100" dir="2700000" algn="tl">
                    <a:srgbClr val="000000">
                      <a:alpha val="43137"/>
                    </a:srgbClr>
                  </a:outerShdw>
                </a:effectLst>
              </a:rPr>
              <a:t> </a:t>
            </a:r>
            <a:r>
              <a:rPr lang="en-US" sz="2400" b="1">
                <a:ln>
                  <a:solidFill>
                    <a:srgbClr val="92D050"/>
                  </a:solidFill>
                </a:ln>
                <a:effectLst>
                  <a:outerShdw blurRad="38100" dist="38100" dir="2700000" algn="tl">
                    <a:srgbClr val="000000">
                      <a:alpha val="43137"/>
                    </a:srgbClr>
                  </a:outerShdw>
                </a:effectLst>
              </a:rPr>
              <a:t>SYSTEM</a:t>
            </a:r>
            <a:r>
              <a:rPr lang="en-US" altLang="en-GB" sz="2400" b="1">
                <a:ln>
                  <a:solidFill>
                    <a:srgbClr val="92D050"/>
                  </a:solidFill>
                </a:ln>
                <a:effectLst>
                  <a:outerShdw blurRad="38100" dist="38100" dir="2700000" algn="tl">
                    <a:srgbClr val="000000">
                      <a:alpha val="43137"/>
                    </a:srgbClr>
                  </a:outerShdw>
                </a:effectLst>
              </a:rPr>
              <a:t>  </a:t>
            </a:r>
            <a:endParaRPr lang="en-US" sz="2400" b="1">
              <a:ln>
                <a:solidFill>
                  <a:srgbClr val="92D050"/>
                </a:solidFill>
              </a:ln>
              <a:effectLst>
                <a:outerShdw blurRad="38100" dist="38100" dir="2700000" algn="tl">
                  <a:srgbClr val="000000">
                    <a:alpha val="43137"/>
                  </a:srgbClr>
                </a:outerShdw>
              </a:effectLst>
            </a:endParaRPr>
          </a:p>
          <a:p>
            <a:endParaRPr lang="en-US" sz="2400" b="1">
              <a:ln>
                <a:solidFill>
                  <a:srgbClr val="92D050"/>
                </a:solidFill>
              </a:ln>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1" descr="page_2.png"/>
          <p:cNvPicPr>
            <a:picLocks noChangeAspect="1"/>
          </p:cNvPicPr>
          <p:nvPr/>
        </p:nvPicPr>
        <p:blipFill>
          <a:blip r:embed="rId2"/>
          <a:stretch>
            <a:fillRect/>
          </a:stretch>
        </p:blipFill>
        <p:spPr>
          <a:xfrm>
            <a:off x="0" y="-212725"/>
            <a:ext cx="9144000" cy="5142857"/>
          </a:xfrm>
          <a:prstGeom prst="rect">
            <a:avLst/>
          </a:prstGeom>
          <a:ln>
            <a:solidFill>
              <a:srgbClr val="B4B4B4"/>
            </a:solidFill>
          </a:ln>
        </p:spPr>
      </p:pic>
      <p:sp>
        <p:nvSpPr>
          <p:cNvPr id="1048587" name="Text Box 2"/>
          <p:cNvSpPr txBox="1"/>
          <p:nvPr/>
        </p:nvSpPr>
        <p:spPr>
          <a:xfrm>
            <a:off x="585470" y="266065"/>
            <a:ext cx="7924800" cy="447040"/>
          </a:xfrm>
          <a:prstGeom prst="rect">
            <a:avLst/>
          </a:prstGeom>
          <a:noFill/>
          <a:ln>
            <a:solidFill>
              <a:srgbClr val="B4B4B4"/>
            </a:solidFill>
          </a:ln>
        </p:spPr>
        <p:txBody>
          <a:bodyPr wrap="square" rtlCol="0">
            <a:spAutoFit/>
          </a:bodyPr>
          <a:lstStyle/>
          <a:p>
            <a:pPr algn="ctr">
              <a:spcAft>
                <a:spcPts val="600"/>
              </a:spcAft>
            </a:pPr>
            <a:r>
              <a:rPr lang="en-US" sz="2400" b="1">
                <a:ln>
                  <a:solidFill>
                    <a:srgbClr val="00B050"/>
                  </a:solidFill>
                </a:ln>
                <a:latin typeface="Aptos Display"/>
              </a:rPr>
              <a:t>TABLE OF CONTENTS</a:t>
            </a:r>
            <a:endParaRPr lang="en-US" sz="2000" b="1">
              <a:ln>
                <a:solidFill>
                  <a:srgbClr val="00B050"/>
                </a:solidFill>
              </a:ln>
            </a:endParaRPr>
          </a:p>
        </p:txBody>
      </p:sp>
      <p:sp>
        <p:nvSpPr>
          <p:cNvPr id="1048588" name="Text Box 3"/>
          <p:cNvSpPr txBox="1"/>
          <p:nvPr/>
        </p:nvSpPr>
        <p:spPr>
          <a:xfrm>
            <a:off x="564515" y="638810"/>
            <a:ext cx="7945755" cy="3604260"/>
          </a:xfrm>
          <a:prstGeom prst="rect">
            <a:avLst/>
          </a:prstGeom>
          <a:noFill/>
          <a:ln>
            <a:solidFill>
              <a:srgbClr val="B4B4B4"/>
            </a:solidFill>
          </a:ln>
        </p:spPr>
        <p:txBody>
          <a:bodyPr wrap="square" rtlCol="0">
            <a:noAutofit/>
          </a:bodyPr>
          <a:lstStyle/>
          <a:p>
            <a:pPr marL="285750" indent="-285750" algn="l">
              <a:spcAft>
                <a:spcPts val="600"/>
              </a:spcAft>
              <a:buFont typeface="Arial" panose="020B0604020202020204" pitchFamily="34" charset="0"/>
              <a:buChar char="•"/>
            </a:pPr>
            <a:r>
              <a:rPr lang="en-US" sz="1800" b="1">
                <a:latin typeface="Aptos"/>
              </a:rPr>
              <a:t>PROBLEM STATEMENT</a:t>
            </a: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r>
              <a:rPr lang="en-US" sz="1800" b="1">
                <a:latin typeface="Aptos"/>
              </a:rPr>
              <a:t>METHODOLOGY</a:t>
            </a: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r>
              <a:rPr lang="en-US" sz="1800" b="1">
                <a:latin typeface="Aptos"/>
              </a:rPr>
              <a:t>DEMONSTRATION/SIMULATION</a:t>
            </a: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endParaRPr lang="en-US" b="1"/>
          </a:p>
          <a:p>
            <a:pPr marL="285750" indent="-285750" algn="l">
              <a:spcAft>
                <a:spcPts val="600"/>
              </a:spcAft>
              <a:buFont typeface="Arial" panose="020B0604020202020204" pitchFamily="34" charset="0"/>
              <a:buChar char="•"/>
            </a:pPr>
            <a:r>
              <a:rPr lang="en-US" sz="1800" b="1">
                <a:latin typeface="Aptos"/>
              </a:rPr>
              <a:t>SUMMARY AND CONCLUSION</a:t>
            </a:r>
            <a:endParaRPr 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1" descr="page_2.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sp>
        <p:nvSpPr>
          <p:cNvPr id="1048589" name="Text Box 2"/>
          <p:cNvSpPr txBox="1"/>
          <p:nvPr/>
        </p:nvSpPr>
        <p:spPr>
          <a:xfrm>
            <a:off x="772795" y="590550"/>
            <a:ext cx="7708265" cy="447040"/>
          </a:xfrm>
          <a:prstGeom prst="rect">
            <a:avLst/>
          </a:prstGeom>
          <a:noFill/>
          <a:ln>
            <a:solidFill>
              <a:srgbClr val="B4B4B4"/>
            </a:solidFill>
          </a:ln>
        </p:spPr>
        <p:txBody>
          <a:bodyPr wrap="square" rtlCol="0">
            <a:spAutoFit/>
          </a:bodyPr>
          <a:lstStyle/>
          <a:p>
            <a:pPr algn="ctr">
              <a:spcAft>
                <a:spcPts val="600"/>
              </a:spcAft>
            </a:pPr>
            <a:r>
              <a:rPr lang="en-US" sz="2400" b="1">
                <a:ln>
                  <a:solidFill>
                    <a:srgbClr val="00B050"/>
                  </a:solidFill>
                </a:ln>
                <a:latin typeface="Aptos Display"/>
              </a:rPr>
              <a:t>PROBLEM STATEMENT</a:t>
            </a:r>
            <a:endParaRPr lang="en-US" sz="2000" b="1">
              <a:ln>
                <a:solidFill>
                  <a:srgbClr val="00B050"/>
                </a:solidFill>
              </a:ln>
            </a:endParaRPr>
          </a:p>
        </p:txBody>
      </p:sp>
      <p:sp>
        <p:nvSpPr>
          <p:cNvPr id="1048590" name="Text Box 4"/>
          <p:cNvSpPr txBox="1"/>
          <p:nvPr/>
        </p:nvSpPr>
        <p:spPr>
          <a:xfrm>
            <a:off x="633095" y="1014095"/>
            <a:ext cx="7847965" cy="3316605"/>
          </a:xfrm>
          <a:prstGeom prst="rect">
            <a:avLst/>
          </a:prstGeom>
          <a:noFill/>
          <a:ln>
            <a:solidFill>
              <a:srgbClr val="B4B4B4"/>
            </a:solidFill>
          </a:ln>
        </p:spPr>
        <p:txBody>
          <a:bodyPr wrap="square" rtlCol="0">
            <a:noAutofit/>
          </a:bodyPr>
          <a:lstStyle/>
          <a:p>
            <a:pPr marL="285750" indent="-285750" algn="l">
              <a:spcAft>
                <a:spcPts val="600"/>
              </a:spcAft>
              <a:buFont typeface="Arial" panose="020B0604020202020204" pitchFamily="34" charset="0"/>
              <a:buChar char="•"/>
            </a:pPr>
            <a:r>
              <a:rPr lang="en-US" altLang="en-US" sz="1800">
                <a:latin typeface="Aptos"/>
              </a:rPr>
              <a:t>Many offices use manual locks and basic security methods that are easy to bypass. Physical keys can be lost, stolen, duplicated, or used by unauthorized persons.</a:t>
            </a:r>
            <a:endParaRPr lang="en-US" altLang="en-US"/>
          </a:p>
          <a:p>
            <a:pPr marL="285750" indent="-285750" algn="l">
              <a:spcAft>
                <a:spcPts val="600"/>
              </a:spcAft>
              <a:buFont typeface="Arial" panose="020B0604020202020204" pitchFamily="34" charset="0"/>
              <a:buChar char="•"/>
            </a:pPr>
            <a:r>
              <a:rPr lang="en-US" altLang="en-US" sz="1800">
                <a:latin typeface="Aptos"/>
              </a:rPr>
              <a:t> In some offices, there is no smart verification systems to control who has access. Traditional locking systems do not provide interactive access control such as password authentication, alarm system when an incorrect access attempt is made, and this creates a security risk for office equipment, important files, and confidential information. </a:t>
            </a:r>
            <a:endParaRPr lang="en-US" altLang="en-US"/>
          </a:p>
          <a:p>
            <a:pPr marL="285750" indent="-285750" algn="l">
              <a:spcAft>
                <a:spcPts val="600"/>
              </a:spcAft>
              <a:buFont typeface="Arial" panose="020B0604020202020204" pitchFamily="34" charset="0"/>
              <a:buChar char="•"/>
            </a:pPr>
            <a:r>
              <a:rPr lang="en-US" altLang="en-US" sz="1800">
                <a:latin typeface="Aptos"/>
              </a:rPr>
              <a:t>As such, it becomes important to build a microprocessor based password controlled office security system that can improve access control and provide alert functions all to improve protection in offices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5" name="Picture 1" descr="page_2.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sp>
        <p:nvSpPr>
          <p:cNvPr id="1048591" name="Text Box 2"/>
          <p:cNvSpPr txBox="1"/>
          <p:nvPr/>
        </p:nvSpPr>
        <p:spPr>
          <a:xfrm>
            <a:off x="1087755" y="579755"/>
            <a:ext cx="6968490" cy="447040"/>
          </a:xfrm>
          <a:prstGeom prst="rect">
            <a:avLst/>
          </a:prstGeom>
          <a:noFill/>
          <a:ln>
            <a:solidFill>
              <a:srgbClr val="B4B4B4"/>
            </a:solidFill>
          </a:ln>
        </p:spPr>
        <p:txBody>
          <a:bodyPr wrap="square" rtlCol="0">
            <a:spAutoFit/>
          </a:bodyPr>
          <a:lstStyle/>
          <a:p>
            <a:pPr algn="ctr">
              <a:spcAft>
                <a:spcPts val="600"/>
              </a:spcAft>
            </a:pPr>
            <a:r>
              <a:rPr lang="en-US" sz="2400" b="1">
                <a:ln>
                  <a:solidFill>
                    <a:srgbClr val="00B050"/>
                  </a:solidFill>
                </a:ln>
                <a:latin typeface="Aptos Display"/>
              </a:rPr>
              <a:t>METHODOLOGY</a:t>
            </a:r>
            <a:endParaRPr lang="en-US" sz="2000" b="1">
              <a:ln>
                <a:solidFill>
                  <a:srgbClr val="00B050"/>
                </a:solidFill>
              </a:ln>
            </a:endParaRPr>
          </a:p>
        </p:txBody>
      </p:sp>
      <p:sp>
        <p:nvSpPr>
          <p:cNvPr id="1048592" name="Text Box 3"/>
          <p:cNvSpPr txBox="1"/>
          <p:nvPr/>
        </p:nvSpPr>
        <p:spPr>
          <a:xfrm>
            <a:off x="655955" y="978535"/>
            <a:ext cx="7779385" cy="3384550"/>
          </a:xfrm>
          <a:prstGeom prst="rect">
            <a:avLst/>
          </a:prstGeom>
          <a:noFill/>
          <a:ln>
            <a:solidFill>
              <a:srgbClr val="B4B4B4"/>
            </a:solidFill>
          </a:ln>
        </p:spPr>
        <p:txBody>
          <a:bodyPr wrap="square" rtlCol="0">
            <a:noAutofit/>
          </a:bodyPr>
          <a:lstStyle/>
          <a:p>
            <a:pPr marL="285750" indent="-285750" algn="l">
              <a:spcAft>
                <a:spcPts val="600"/>
              </a:spcAft>
              <a:buFont typeface="Arial" panose="020B0604020202020204" pitchFamily="34" charset="0"/>
              <a:buChar char="•"/>
            </a:pPr>
            <a:r>
              <a:rPr lang="en-US" sz="1800" b="1">
                <a:latin typeface="Aptos"/>
              </a:rPr>
              <a:t>Problem identification: </a:t>
            </a:r>
            <a:r>
              <a:rPr lang="en-US" sz="1800">
                <a:latin typeface="Aptos"/>
              </a:rPr>
              <a:t>Evaluated the weakness of traditional manual lock systems in offices.</a:t>
            </a:r>
            <a:endParaRPr lang="en-US"/>
          </a:p>
          <a:p>
            <a:pPr marL="285750" indent="-285750" algn="l">
              <a:spcAft>
                <a:spcPts val="600"/>
              </a:spcAft>
              <a:buFont typeface="Arial" panose="020B0604020202020204" pitchFamily="34" charset="0"/>
              <a:buChar char="•"/>
            </a:pPr>
            <a:r>
              <a:rPr lang="en-US" sz="1800" b="1">
                <a:latin typeface="Aptos"/>
              </a:rPr>
              <a:t>System design: </a:t>
            </a:r>
            <a:r>
              <a:rPr lang="en-US" sz="1800">
                <a:latin typeface="Aptos"/>
              </a:rPr>
              <a:t>Designed a password based office security system</a:t>
            </a:r>
            <a:endParaRPr lang="en-US"/>
          </a:p>
          <a:p>
            <a:pPr marL="285750" indent="-285750" algn="l">
              <a:spcAft>
                <a:spcPts val="600"/>
              </a:spcAft>
              <a:buFont typeface="Arial" panose="020B0604020202020204" pitchFamily="34" charset="0"/>
              <a:buChar char="•"/>
            </a:pPr>
            <a:r>
              <a:rPr lang="en-US" sz="1800" b="1">
                <a:latin typeface="Aptos"/>
              </a:rPr>
              <a:t>Component selection: </a:t>
            </a:r>
            <a:r>
              <a:rPr lang="en-US" sz="1800">
                <a:latin typeface="Aptos"/>
              </a:rPr>
              <a:t>Arduino Uno,keypad,LCD,servo motor,and a buzzer</a:t>
            </a:r>
            <a:endParaRPr lang="en-US"/>
          </a:p>
          <a:p>
            <a:pPr marL="285750" indent="-285750" algn="l">
              <a:spcAft>
                <a:spcPts val="600"/>
              </a:spcAft>
              <a:buFont typeface="Arial" panose="020B0604020202020204" pitchFamily="34" charset="0"/>
              <a:buChar char="•"/>
            </a:pPr>
            <a:r>
              <a:rPr lang="en-US" sz="1800" b="1">
                <a:latin typeface="Aptos"/>
              </a:rPr>
              <a:t>Circuit Design</a:t>
            </a:r>
            <a:r>
              <a:rPr lang="en-US" sz="1800">
                <a:latin typeface="Aptos"/>
              </a:rPr>
              <a:t>: Designed and connected all the circuit components as shown the schematic(figure   ) </a:t>
            </a:r>
            <a:endParaRPr lang="en-US"/>
          </a:p>
          <a:p>
            <a:pPr marL="285750" indent="-285750" algn="l">
              <a:spcAft>
                <a:spcPts val="600"/>
              </a:spcAft>
              <a:buFont typeface="Arial" panose="020B0604020202020204" pitchFamily="34" charset="0"/>
              <a:buChar char="•"/>
            </a:pPr>
            <a:r>
              <a:rPr lang="en-US" sz="1800" b="1">
                <a:latin typeface="Aptos"/>
              </a:rPr>
              <a:t>Programming</a:t>
            </a:r>
            <a:r>
              <a:rPr lang="en-US" sz="1800" b="1" i="1">
                <a:latin typeface="Aptos"/>
              </a:rPr>
              <a:t>: </a:t>
            </a:r>
            <a:r>
              <a:rPr lang="en-US" sz="1800">
                <a:latin typeface="Aptos"/>
              </a:rPr>
              <a:t> The arduino was programmed to check the password entered as shown in the code provided</a:t>
            </a:r>
            <a:endParaRPr lang="en-US"/>
          </a:p>
          <a:p>
            <a:pPr marL="285750" indent="-285750" algn="l">
              <a:spcAft>
                <a:spcPts val="600"/>
              </a:spcAft>
              <a:buFont typeface="Arial" panose="020B0604020202020204" pitchFamily="34" charset="0"/>
              <a:buChar char="•"/>
            </a:pPr>
            <a:r>
              <a:rPr lang="en-US" sz="1800" b="1">
                <a:latin typeface="Aptos"/>
              </a:rPr>
              <a:t>Testing:</a:t>
            </a:r>
            <a:r>
              <a:rPr lang="en-US" sz="1800">
                <a:latin typeface="Aptos"/>
              </a:rPr>
              <a:t> Tested the system to verify that it operates well under conditions of both wrong and write passwords.</a:t>
            </a:r>
            <a:endParaRPr lang="en-US"/>
          </a:p>
          <a:p>
            <a:pPr indent="0" algn="l">
              <a:spcAft>
                <a:spcPts val="600"/>
              </a:spcAft>
              <a:buFont typeface="Arial" panose="020B0604020202020204" pitchFamily="34" charset="0"/>
              <a:buNone/>
            </a:pPr>
            <a:endParaRPr lang="en-US" i="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6" name="Picture 1" descr="page_2.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pic>
        <p:nvPicPr>
          <p:cNvPr id="2097157" name="Picture 2" descr="Screenshot_20260326_135315_Samsung Notes"/>
          <p:cNvPicPr>
            <a:picLocks noChangeAspect="1"/>
          </p:cNvPicPr>
          <p:nvPr/>
        </p:nvPicPr>
        <p:blipFill>
          <a:blip r:embed="rId3"/>
          <a:stretch>
            <a:fillRect/>
          </a:stretch>
        </p:blipFill>
        <p:spPr>
          <a:xfrm>
            <a:off x="509905" y="393065"/>
            <a:ext cx="8124190" cy="4175125"/>
          </a:xfrm>
          <a:prstGeom prst="rect">
            <a:avLst/>
          </a:prstGeom>
          <a:ln>
            <a:solidFill>
              <a:srgbClr val="B4B4B4"/>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Picture 1" descr="page_2.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pic>
        <p:nvPicPr>
          <p:cNvPr id="2097159" name="Picture 2"/>
          <p:cNvPicPr>
            <a:picLocks noChangeAspect="1"/>
          </p:cNvPicPr>
          <p:nvPr/>
        </p:nvPicPr>
        <p:blipFill>
          <a:blip r:embed="rId3"/>
          <a:stretch>
            <a:fillRect/>
          </a:stretch>
        </p:blipFill>
        <p:spPr>
          <a:xfrm>
            <a:off x="437476" y="503694"/>
            <a:ext cx="8264822" cy="41132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0" name="Picture 1" descr="Screenshot 2026-03-28 170337"/>
          <p:cNvPicPr>
            <a:picLocks noChangeAspect="1"/>
          </p:cNvPicPr>
          <p:nvPr/>
        </p:nvPicPr>
        <p:blipFill>
          <a:blip r:embed="rId2"/>
          <a:stretch>
            <a:fillRect/>
          </a:stretch>
        </p:blipFill>
        <p:spPr>
          <a:xfrm>
            <a:off x="309245" y="74930"/>
            <a:ext cx="8524875" cy="4991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1" name="Picture 1" descr="Screenshot 2026-03-28 170352"/>
          <p:cNvPicPr>
            <a:picLocks noChangeAspect="1"/>
          </p:cNvPicPr>
          <p:nvPr/>
        </p:nvPicPr>
        <p:blipFill>
          <a:blip r:embed="rId2"/>
          <a:stretch>
            <a:fillRect/>
          </a:stretch>
        </p:blipFill>
        <p:spPr>
          <a:xfrm>
            <a:off x="337820" y="108585"/>
            <a:ext cx="8467725" cy="4924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2" name="Picture 1" descr="Screenshot 2026-03-28 170408"/>
          <p:cNvPicPr>
            <a:picLocks noChangeAspect="1"/>
          </p:cNvPicPr>
          <p:nvPr/>
        </p:nvPicPr>
        <p:blipFill>
          <a:blip r:embed="rId2"/>
          <a:stretch>
            <a:fillRect/>
          </a:stretch>
        </p:blipFill>
        <p:spPr>
          <a:xfrm>
            <a:off x="337820" y="141605"/>
            <a:ext cx="8467725" cy="4857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3" name="Picture 1" descr="page_2.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sp>
        <p:nvSpPr>
          <p:cNvPr id="1048593" name="Text Box 2"/>
          <p:cNvSpPr txBox="1"/>
          <p:nvPr/>
        </p:nvSpPr>
        <p:spPr>
          <a:xfrm>
            <a:off x="609600" y="607695"/>
            <a:ext cx="7934960" cy="461665"/>
          </a:xfrm>
          <a:prstGeom prst="rect">
            <a:avLst/>
          </a:prstGeom>
          <a:noFill/>
          <a:ln>
            <a:solidFill>
              <a:srgbClr val="B4B4B4"/>
            </a:solidFill>
          </a:ln>
        </p:spPr>
        <p:txBody>
          <a:bodyPr wrap="square" rtlCol="0">
            <a:spAutoFit/>
          </a:bodyPr>
          <a:lstStyle/>
          <a:p>
            <a:pPr algn="ctr">
              <a:spcAft>
                <a:spcPts val="600"/>
              </a:spcAft>
            </a:pPr>
            <a:r>
              <a:rPr lang="en-US" sz="2400" b="1" dirty="0">
                <a:ln>
                  <a:solidFill>
                    <a:srgbClr val="92D050"/>
                  </a:solidFill>
                </a:ln>
                <a:latin typeface="Aptos Display"/>
              </a:rPr>
              <a:t>DEMONSTATION/SIMULATION</a:t>
            </a:r>
            <a:endParaRPr lang="en-US" sz="2000" b="1" dirty="0">
              <a:ln>
                <a:solidFill>
                  <a:srgbClr val="92D050"/>
                </a:solidFill>
              </a:ln>
            </a:endParaRPr>
          </a:p>
        </p:txBody>
      </p:sp>
      <p:sp>
        <p:nvSpPr>
          <p:cNvPr id="1048594" name="Text Box 3"/>
          <p:cNvSpPr txBox="1"/>
          <p:nvPr/>
        </p:nvSpPr>
        <p:spPr>
          <a:xfrm>
            <a:off x="296082" y="796930"/>
            <a:ext cx="7954010" cy="3323590"/>
          </a:xfrm>
          <a:prstGeom prst="rect">
            <a:avLst/>
          </a:prstGeom>
          <a:noFill/>
          <a:ln>
            <a:solidFill>
              <a:srgbClr val="B4B4B4"/>
            </a:solidFill>
          </a:ln>
        </p:spPr>
        <p:txBody>
          <a:bodyPr wrap="square" rtlCol="0">
            <a:noAutofit/>
          </a:bodyPr>
          <a:lstStyle/>
          <a:p>
            <a:pPr algn="l">
              <a:spcAft>
                <a:spcPts val="600"/>
              </a:spcAft>
            </a:pPr>
            <a:endParaRPr lang="en-US" dirty="0"/>
          </a:p>
          <a:p>
            <a:pPr algn="l">
              <a:spcAft>
                <a:spcPts val="600"/>
              </a:spcAft>
            </a:pPr>
            <a:r>
              <a:rPr lang="en-US" dirty="0">
                <a:hlinkClick r:id="rId3"/>
              </a:rPr>
              <a:t>   CLICK HERE</a:t>
            </a:r>
            <a:endParaRPr lang="en-US" dirty="0"/>
          </a:p>
        </p:txBody>
      </p:sp>
      <p:pic>
        <p:nvPicPr>
          <p:cNvPr id="2" name="Picture 1">
            <a:extLst>
              <a:ext uri="{FF2B5EF4-FFF2-40B4-BE49-F238E27FC236}">
                <a16:creationId xmlns:a16="http://schemas.microsoft.com/office/drawing/2014/main" id="{8490BC66-24EF-2702-E896-AA39164D1155}"/>
              </a:ext>
            </a:extLst>
          </p:cNvPr>
          <p:cNvPicPr>
            <a:picLocks noChangeAspect="1"/>
          </p:cNvPicPr>
          <p:nvPr/>
        </p:nvPicPr>
        <p:blipFill>
          <a:blip r:embed="rId4"/>
          <a:stretch>
            <a:fillRect/>
          </a:stretch>
        </p:blipFill>
        <p:spPr>
          <a:xfrm>
            <a:off x="1117255" y="1520659"/>
            <a:ext cx="6909489" cy="31708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4" name="Picture 1" descr="page_8.png"/>
          <p:cNvPicPr>
            <a:picLocks noChangeAspect="1"/>
          </p:cNvPicPr>
          <p:nvPr/>
        </p:nvPicPr>
        <p:blipFill>
          <a:blip/>
          <a:stretch>
            <a:fillRect/>
          </a:stretch>
        </p:blipFill>
        <p:spPr>
          <a:xfrm>
            <a:off x="0" y="0"/>
            <a:ext cx="9144000" cy="5142857"/>
          </a:xfrm>
          <a:prstGeom prst="rect">
            <a:avLst/>
          </a:prstGeom>
          <a:ln>
            <a:solidFill>
              <a:srgbClr val="B4B4B4"/>
            </a:solidFill>
          </a:ln>
        </p:spPr>
      </p:pic>
      <p:sp>
        <p:nvSpPr>
          <p:cNvPr id="1048595" name="TextBox 2"/>
          <p:cNvSpPr txBox="1"/>
          <p:nvPr/>
        </p:nvSpPr>
        <p:spPr>
          <a:xfrm rot="14403">
            <a:off x="260589" y="600763"/>
            <a:ext cx="8267406" cy="3583939"/>
          </a:xfrm>
          <a:prstGeom prst="rect">
            <a:avLst/>
          </a:prstGeom>
          <a:noFill/>
          <a:ln>
            <a:solidFill>
              <a:srgbClr val="B4B4B4"/>
            </a:solidFill>
          </a:ln>
        </p:spPr>
        <p:txBody>
          <a:bodyPr wrap="square">
            <a:spAutoFit/>
          </a:bodyPr>
          <a:lstStyle/>
          <a:p>
            <a:pPr algn="l">
              <a:spcAft>
                <a:spcPts val="600"/>
              </a:spcAft>
            </a:pPr>
            <a:r>
              <a:rPr sz="2400" b="1">
                <a:latin typeface="Aptos"/>
              </a:rPr>
              <a:t>Summary</a:t>
            </a:r>
          </a:p>
          <a:p>
            <a:pPr algn="l">
              <a:spcAft>
                <a:spcPts val="600"/>
              </a:spcAft>
            </a:pPr>
            <a:r>
              <a:rPr sz="1800">
                <a:latin typeface="Aptos"/>
              </a:rPr>
              <a:t>• This project developed a microprocessor-based office security system using Arduino Uno, keypad, LCD, servo motor, and buzzer.</a:t>
            </a:r>
          </a:p>
          <a:p>
            <a:pPr algn="l">
              <a:spcAft>
                <a:spcPts val="600"/>
              </a:spcAft>
            </a:pPr>
            <a:r>
              <a:rPr sz="1800">
                <a:latin typeface="Aptos"/>
              </a:rPr>
              <a:t>• The system authenticates users through password entry, displays system messages, unlocks for authorized access, and activates an alert for repeated wrong attempts.</a:t>
            </a:r>
          </a:p>
          <a:p>
            <a:pPr algn="l">
              <a:spcAft>
                <a:spcPts val="600"/>
              </a:spcAft>
            </a:pPr>
            <a:r>
              <a:rPr sz="2400" b="1">
                <a:latin typeface="Aptos"/>
              </a:rPr>
              <a:t>Conclusion</a:t>
            </a:r>
          </a:p>
          <a:p>
            <a:pPr algn="l">
              <a:spcAft>
                <a:spcPts val="600"/>
              </a:spcAft>
            </a:pPr>
            <a:r>
              <a:rPr sz="1800">
                <a:latin typeface="Aptos"/>
              </a:rPr>
              <a:t>• The project provides a simple but effective improvement over traditional office locking systems.</a:t>
            </a:r>
          </a:p>
          <a:p>
            <a:pPr algn="l">
              <a:spcAft>
                <a:spcPts val="600"/>
              </a:spcAft>
            </a:pPr>
            <a:r>
              <a:rPr sz="1800">
                <a:latin typeface="Aptos"/>
              </a:rPr>
              <a:t>• It enhances office security through controlled access, better monitoring, and alarm response.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5" name="Picture 1" descr="page_8.png"/>
          <p:cNvPicPr>
            <a:picLocks noChangeAspect="1"/>
          </p:cNvPicPr>
          <p:nvPr/>
        </p:nvPicPr>
        <p:blipFill>
          <a:blip r:embed="rId2"/>
          <a:stretch>
            <a:fillRect/>
          </a:stretch>
        </p:blipFill>
        <p:spPr>
          <a:xfrm>
            <a:off x="0" y="0"/>
            <a:ext cx="9144000" cy="5142857"/>
          </a:xfrm>
          <a:prstGeom prst="rect">
            <a:avLst/>
          </a:prstGeom>
          <a:ln>
            <a:solidFill>
              <a:srgbClr val="B4B4B4"/>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358</Words>
  <Application>Microsoft Office PowerPoint</Application>
  <PresentationFormat>Custom</PresentationFormat>
  <Paragraphs>42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Microsoft JhengHei UI</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SM-A065F</dc:creator>
  <cp:lastModifiedBy>HP</cp:lastModifiedBy>
  <cp:revision>1</cp:revision>
  <dcterms:created xsi:type="dcterms:W3CDTF">2013-01-27T09:14:00Z</dcterms:created>
  <dcterms:modified xsi:type="dcterms:W3CDTF">2026-03-29T22:09:15Z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43ae1cc91d844f3f80fc4d87bb668002</vt:lpwstr>
  </property>
  <property fmtid="{D5CDD505-2E9C-101B-9397-08002B2CF9AE}" pid="3" name="KSOProductBuildVer">
    <vt:lpwstr>1033-12.2.0.23196</vt:lpwstr>
  </property>
</Properties>
</file>